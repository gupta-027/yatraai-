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6858000"/>
          </a:xfrm>
          <a:prstGeom prst="rect">
            <a:avLst/>
          </a:prstGeom>
          <a:solidFill>
            <a:srgbClr val="0E13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0" y="0"/>
            <a:ext cx="109728" cy="6858000"/>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960120"/>
            <a:ext cx="9144000" cy="274320"/>
          </a:xfrm>
          <a:prstGeom prst="rect">
            <a:avLst/>
          </a:prstGeom>
          <a:noFill/>
        </p:spPr>
        <p:txBody>
          <a:bodyPr wrap="square" lIns="0" rIns="0" tIns="0" bIns="0" anchor="t">
            <a:spAutoFit/>
          </a:bodyPr>
          <a:lstStyle/>
          <a:p>
            <a:pPr algn="l">
              <a:lnSpc>
                <a:spcPct val="100000"/>
              </a:lnSpc>
              <a:spcAft>
                <a:spcPts val="0"/>
              </a:spcAft>
            </a:pPr>
            <a:r>
              <a:rPr sz="1000" b="1">
                <a:solidFill>
                  <a:srgbClr val="E07A3F"/>
                </a:solidFill>
                <a:latin typeface="Segoe UI"/>
              </a:rPr>
              <a:t>ENGINEERING CASE STUDY  ·  APPLIED ML &amp; OPTIMISATION</a:t>
            </a:r>
          </a:p>
        </p:txBody>
      </p:sp>
      <p:sp>
        <p:nvSpPr>
          <p:cNvPr id="6" name="TextBox 5"/>
          <p:cNvSpPr txBox="1"/>
          <p:nvPr/>
        </p:nvSpPr>
        <p:spPr>
          <a:xfrm>
            <a:off x="777240" y="1417320"/>
            <a:ext cx="10515600" cy="914400"/>
          </a:xfrm>
          <a:prstGeom prst="rect">
            <a:avLst/>
          </a:prstGeom>
          <a:noFill/>
        </p:spPr>
        <p:txBody>
          <a:bodyPr wrap="square" lIns="0" rIns="0" tIns="0" bIns="0" anchor="t">
            <a:spAutoFit/>
          </a:bodyPr>
          <a:lstStyle/>
          <a:p>
            <a:pPr algn="l">
              <a:lnSpc>
                <a:spcPct val="100000"/>
              </a:lnSpc>
              <a:spcAft>
                <a:spcPts val="0"/>
              </a:spcAft>
            </a:pPr>
            <a:r>
              <a:rPr sz="5200" b="1">
                <a:solidFill>
                  <a:srgbClr val="FFFFFF"/>
                </a:solidFill>
                <a:latin typeface="Segoe UI"/>
              </a:rPr>
              <a:t>YatraAI</a:t>
            </a:r>
          </a:p>
        </p:txBody>
      </p:sp>
      <p:sp>
        <p:nvSpPr>
          <p:cNvPr id="7" name="TextBox 6"/>
          <p:cNvSpPr txBox="1"/>
          <p:nvPr/>
        </p:nvSpPr>
        <p:spPr>
          <a:xfrm>
            <a:off x="777240" y="2331720"/>
            <a:ext cx="10515600" cy="457200"/>
          </a:xfrm>
          <a:prstGeom prst="rect">
            <a:avLst/>
          </a:prstGeom>
          <a:noFill/>
        </p:spPr>
        <p:txBody>
          <a:bodyPr wrap="square" lIns="0" rIns="0" tIns="0" bIns="0" anchor="t">
            <a:spAutoFit/>
          </a:bodyPr>
          <a:lstStyle/>
          <a:p>
            <a:pPr algn="l">
              <a:lnSpc>
                <a:spcPct val="100000"/>
              </a:lnSpc>
              <a:spcAft>
                <a:spcPts val="0"/>
              </a:spcAft>
            </a:pPr>
            <a:r>
              <a:rPr sz="2200" b="1">
                <a:solidFill>
                  <a:srgbClr val="7C8FD6"/>
                </a:solidFill>
                <a:latin typeface="Segoe UI"/>
              </a:rPr>
              <a:t>Context-Aware Group Travel Intelligence</a:t>
            </a:r>
          </a:p>
        </p:txBody>
      </p:sp>
      <p:sp>
        <p:nvSpPr>
          <p:cNvPr id="8" name="Rectangle 7"/>
          <p:cNvSpPr/>
          <p:nvPr/>
        </p:nvSpPr>
        <p:spPr>
          <a:xfrm>
            <a:off x="777240" y="2926080"/>
            <a:ext cx="1371600" cy="36576"/>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3200400"/>
            <a:ext cx="8778240" cy="822960"/>
          </a:xfrm>
          <a:prstGeom prst="rect">
            <a:avLst/>
          </a:prstGeom>
          <a:noFill/>
        </p:spPr>
        <p:txBody>
          <a:bodyPr wrap="square" lIns="0" rIns="0" tIns="0" bIns="0" anchor="t">
            <a:spAutoFit/>
          </a:bodyPr>
          <a:lstStyle/>
          <a:p>
            <a:pPr algn="l">
              <a:lnSpc>
                <a:spcPct val="135000"/>
              </a:lnSpc>
              <a:spcAft>
                <a:spcPts val="0"/>
              </a:spcAft>
            </a:pPr>
            <a:r>
              <a:rPr sz="1200" b="0">
                <a:solidFill>
                  <a:srgbClr val="C5CBDE"/>
                </a:solidFill>
                <a:latin typeface="Segoe UI"/>
              </a:rPr>
              <a:t>A group itinerary planner where a constraint solver — not a language model —</a:t>
            </a:r>
          </a:p>
          <a:p>
            <a:pPr algn="l">
              <a:lnSpc>
                <a:spcPct val="135000"/>
              </a:lnSpc>
              <a:spcAft>
                <a:spcPts val="0"/>
              </a:spcAft>
            </a:pPr>
            <a:r>
              <a:rPr sz="1200" b="0">
                <a:solidFill>
                  <a:srgbClr val="C5CBDE"/>
                </a:solidFill>
                <a:latin typeface="Segoe UI"/>
              </a:rPr>
              <a:t>decides what you do and when. The model runs last, writes prose, and changes nothing.</a:t>
            </a:r>
          </a:p>
        </p:txBody>
      </p:sp>
      <p:sp>
        <p:nvSpPr>
          <p:cNvPr id="10" name="Rectangle 9"/>
          <p:cNvSpPr/>
          <p:nvPr/>
        </p:nvSpPr>
        <p:spPr>
          <a:xfrm>
            <a:off x="777240" y="4343400"/>
            <a:ext cx="2018995" cy="41148"/>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77240" y="4384548"/>
            <a:ext cx="2018995" cy="658368"/>
          </a:xfrm>
          <a:prstGeom prst="rect">
            <a:avLst/>
          </a:prstGeom>
          <a:solidFill>
            <a:srgbClr val="141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4462272"/>
            <a:ext cx="1836115" cy="182880"/>
          </a:xfrm>
          <a:prstGeom prst="rect">
            <a:avLst/>
          </a:prstGeom>
          <a:noFill/>
        </p:spPr>
        <p:txBody>
          <a:bodyPr wrap="square" lIns="0" rIns="0" tIns="0" bIns="0" anchor="t">
            <a:spAutoFit/>
          </a:bodyPr>
          <a:lstStyle/>
          <a:p>
            <a:pPr algn="l">
              <a:lnSpc>
                <a:spcPct val="100000"/>
              </a:lnSpc>
              <a:spcAft>
                <a:spcPts val="0"/>
              </a:spcAft>
            </a:pPr>
            <a:r>
              <a:rPr sz="900" b="1">
                <a:solidFill>
                  <a:srgbClr val="E07A3F"/>
                </a:solidFill>
                <a:latin typeface="Segoe UI"/>
              </a:rPr>
              <a:t>01</a:t>
            </a:r>
          </a:p>
        </p:txBody>
      </p:sp>
      <p:sp>
        <p:nvSpPr>
          <p:cNvPr id="13" name="TextBox 12"/>
          <p:cNvSpPr txBox="1"/>
          <p:nvPr/>
        </p:nvSpPr>
        <p:spPr>
          <a:xfrm>
            <a:off x="868680" y="4654296"/>
            <a:ext cx="1836115" cy="347472"/>
          </a:xfrm>
          <a:prstGeom prst="rect">
            <a:avLst/>
          </a:prstGeom>
          <a:noFill/>
        </p:spPr>
        <p:txBody>
          <a:bodyPr wrap="square" lIns="0" rIns="0" tIns="0" bIns="0" anchor="t">
            <a:spAutoFit/>
          </a:bodyPr>
          <a:lstStyle/>
          <a:p>
            <a:pPr algn="l">
              <a:lnSpc>
                <a:spcPct val="100000"/>
              </a:lnSpc>
              <a:spcAft>
                <a:spcPts val="0"/>
              </a:spcAft>
            </a:pPr>
            <a:r>
              <a:rPr sz="780" b="1">
                <a:solidFill>
                  <a:srgbClr val="FFFFFF"/>
                </a:solidFill>
                <a:latin typeface="Segoe UI"/>
              </a:rPr>
              <a:t>PROBLEM &amp;</a:t>
            </a:r>
          </a:p>
          <a:p>
            <a:pPr algn="l">
              <a:lnSpc>
                <a:spcPct val="100000"/>
              </a:lnSpc>
              <a:spcAft>
                <a:spcPts val="0"/>
              </a:spcAft>
            </a:pPr>
            <a:r>
              <a:rPr sz="780" b="1">
                <a:solidFill>
                  <a:srgbClr val="FFFFFF"/>
                </a:solidFill>
                <a:latin typeface="Segoe UI"/>
              </a:rPr>
              <a:t>ARCHITECTURE</a:t>
            </a:r>
          </a:p>
        </p:txBody>
      </p:sp>
      <p:sp>
        <p:nvSpPr>
          <p:cNvPr id="14" name="Rectangle 13"/>
          <p:cNvSpPr/>
          <p:nvPr/>
        </p:nvSpPr>
        <p:spPr>
          <a:xfrm>
            <a:off x="2924251" y="4343400"/>
            <a:ext cx="2018995" cy="41148"/>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24251" y="4384548"/>
            <a:ext cx="2018995" cy="658368"/>
          </a:xfrm>
          <a:prstGeom prst="rect">
            <a:avLst/>
          </a:prstGeom>
          <a:solidFill>
            <a:srgbClr val="141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015691" y="4462272"/>
            <a:ext cx="1836115" cy="182880"/>
          </a:xfrm>
          <a:prstGeom prst="rect">
            <a:avLst/>
          </a:prstGeom>
          <a:noFill/>
        </p:spPr>
        <p:txBody>
          <a:bodyPr wrap="square" lIns="0" rIns="0" tIns="0" bIns="0" anchor="t">
            <a:spAutoFit/>
          </a:bodyPr>
          <a:lstStyle/>
          <a:p>
            <a:pPr algn="l">
              <a:lnSpc>
                <a:spcPct val="100000"/>
              </a:lnSpc>
              <a:spcAft>
                <a:spcPts val="0"/>
              </a:spcAft>
            </a:pPr>
            <a:r>
              <a:rPr sz="900" b="1">
                <a:solidFill>
                  <a:srgbClr val="E07A3F"/>
                </a:solidFill>
                <a:latin typeface="Segoe UI"/>
              </a:rPr>
              <a:t>02</a:t>
            </a:r>
          </a:p>
        </p:txBody>
      </p:sp>
      <p:sp>
        <p:nvSpPr>
          <p:cNvPr id="17" name="TextBox 16"/>
          <p:cNvSpPr txBox="1"/>
          <p:nvPr/>
        </p:nvSpPr>
        <p:spPr>
          <a:xfrm>
            <a:off x="3015691" y="4654296"/>
            <a:ext cx="1836115" cy="347472"/>
          </a:xfrm>
          <a:prstGeom prst="rect">
            <a:avLst/>
          </a:prstGeom>
          <a:noFill/>
        </p:spPr>
        <p:txBody>
          <a:bodyPr wrap="square" lIns="0" rIns="0" tIns="0" bIns="0" anchor="t">
            <a:spAutoFit/>
          </a:bodyPr>
          <a:lstStyle/>
          <a:p>
            <a:pPr algn="l">
              <a:lnSpc>
                <a:spcPct val="100000"/>
              </a:lnSpc>
              <a:spcAft>
                <a:spcPts val="0"/>
              </a:spcAft>
            </a:pPr>
            <a:r>
              <a:rPr sz="780" b="1">
                <a:solidFill>
                  <a:srgbClr val="FFFFFF"/>
                </a:solidFill>
                <a:latin typeface="Segoe UI"/>
              </a:rPr>
              <a:t>DATA</a:t>
            </a:r>
          </a:p>
          <a:p>
            <a:pPr algn="l">
              <a:lnSpc>
                <a:spcPct val="100000"/>
              </a:lnSpc>
              <a:spcAft>
                <a:spcPts val="0"/>
              </a:spcAft>
            </a:pPr>
            <a:r>
              <a:rPr sz="780" b="1">
                <a:solidFill>
                  <a:srgbClr val="FFFFFF"/>
                </a:solidFill>
                <a:latin typeface="Segoe UI"/>
              </a:rPr>
              <a:t>FOUNDATION</a:t>
            </a:r>
          </a:p>
        </p:txBody>
      </p:sp>
      <p:sp>
        <p:nvSpPr>
          <p:cNvPr id="18" name="Rectangle 17"/>
          <p:cNvSpPr/>
          <p:nvPr/>
        </p:nvSpPr>
        <p:spPr>
          <a:xfrm>
            <a:off x="5071262" y="4343400"/>
            <a:ext cx="2018995" cy="41148"/>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071262" y="4384548"/>
            <a:ext cx="2018995" cy="658368"/>
          </a:xfrm>
          <a:prstGeom prst="rect">
            <a:avLst/>
          </a:prstGeom>
          <a:solidFill>
            <a:srgbClr val="141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162702" y="4462272"/>
            <a:ext cx="1836115" cy="182880"/>
          </a:xfrm>
          <a:prstGeom prst="rect">
            <a:avLst/>
          </a:prstGeom>
          <a:noFill/>
        </p:spPr>
        <p:txBody>
          <a:bodyPr wrap="square" lIns="0" rIns="0" tIns="0" bIns="0" anchor="t">
            <a:spAutoFit/>
          </a:bodyPr>
          <a:lstStyle/>
          <a:p>
            <a:pPr algn="l">
              <a:lnSpc>
                <a:spcPct val="100000"/>
              </a:lnSpc>
              <a:spcAft>
                <a:spcPts val="0"/>
              </a:spcAft>
            </a:pPr>
            <a:r>
              <a:rPr sz="900" b="1">
                <a:solidFill>
                  <a:srgbClr val="E07A3F"/>
                </a:solidFill>
                <a:latin typeface="Segoe UI"/>
              </a:rPr>
              <a:t>03</a:t>
            </a:r>
          </a:p>
        </p:txBody>
      </p:sp>
      <p:sp>
        <p:nvSpPr>
          <p:cNvPr id="21" name="TextBox 20"/>
          <p:cNvSpPr txBox="1"/>
          <p:nvPr/>
        </p:nvSpPr>
        <p:spPr>
          <a:xfrm>
            <a:off x="5162702" y="4654296"/>
            <a:ext cx="1836115" cy="347472"/>
          </a:xfrm>
          <a:prstGeom prst="rect">
            <a:avLst/>
          </a:prstGeom>
          <a:noFill/>
        </p:spPr>
        <p:txBody>
          <a:bodyPr wrap="square" lIns="0" rIns="0" tIns="0" bIns="0" anchor="t">
            <a:spAutoFit/>
          </a:bodyPr>
          <a:lstStyle/>
          <a:p>
            <a:pPr algn="l">
              <a:lnSpc>
                <a:spcPct val="100000"/>
              </a:lnSpc>
              <a:spcAft>
                <a:spcPts val="0"/>
              </a:spcAft>
            </a:pPr>
            <a:r>
              <a:rPr sz="780" b="1">
                <a:solidFill>
                  <a:srgbClr val="FFFFFF"/>
                </a:solidFill>
                <a:latin typeface="Segoe UI"/>
              </a:rPr>
              <a:t>RANKING &amp;</a:t>
            </a:r>
          </a:p>
          <a:p>
            <a:pPr algn="l">
              <a:lnSpc>
                <a:spcPct val="100000"/>
              </a:lnSpc>
              <a:spcAft>
                <a:spcPts val="0"/>
              </a:spcAft>
            </a:pPr>
            <a:r>
              <a:rPr sz="780" b="1">
                <a:solidFill>
                  <a:srgbClr val="FFFFFF"/>
                </a:solidFill>
                <a:latin typeface="Segoe UI"/>
              </a:rPr>
              <a:t>FAIRNESS</a:t>
            </a:r>
          </a:p>
        </p:txBody>
      </p:sp>
      <p:sp>
        <p:nvSpPr>
          <p:cNvPr id="22" name="Rectangle 21"/>
          <p:cNvSpPr/>
          <p:nvPr/>
        </p:nvSpPr>
        <p:spPr>
          <a:xfrm>
            <a:off x="7218273" y="4343400"/>
            <a:ext cx="2018995" cy="41148"/>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218273" y="4384548"/>
            <a:ext cx="2018995" cy="658368"/>
          </a:xfrm>
          <a:prstGeom prst="rect">
            <a:avLst/>
          </a:prstGeom>
          <a:solidFill>
            <a:srgbClr val="141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309713" y="4462272"/>
            <a:ext cx="1836115" cy="182880"/>
          </a:xfrm>
          <a:prstGeom prst="rect">
            <a:avLst/>
          </a:prstGeom>
          <a:noFill/>
        </p:spPr>
        <p:txBody>
          <a:bodyPr wrap="square" lIns="0" rIns="0" tIns="0" bIns="0" anchor="t">
            <a:spAutoFit/>
          </a:bodyPr>
          <a:lstStyle/>
          <a:p>
            <a:pPr algn="l">
              <a:lnSpc>
                <a:spcPct val="100000"/>
              </a:lnSpc>
              <a:spcAft>
                <a:spcPts val="0"/>
              </a:spcAft>
            </a:pPr>
            <a:r>
              <a:rPr sz="900" b="1">
                <a:solidFill>
                  <a:srgbClr val="E07A3F"/>
                </a:solidFill>
                <a:latin typeface="Segoe UI"/>
              </a:rPr>
              <a:t>04</a:t>
            </a:r>
          </a:p>
        </p:txBody>
      </p:sp>
      <p:sp>
        <p:nvSpPr>
          <p:cNvPr id="25" name="TextBox 24"/>
          <p:cNvSpPr txBox="1"/>
          <p:nvPr/>
        </p:nvSpPr>
        <p:spPr>
          <a:xfrm>
            <a:off x="7309713" y="4654296"/>
            <a:ext cx="1836115" cy="347472"/>
          </a:xfrm>
          <a:prstGeom prst="rect">
            <a:avLst/>
          </a:prstGeom>
          <a:noFill/>
        </p:spPr>
        <p:txBody>
          <a:bodyPr wrap="square" lIns="0" rIns="0" tIns="0" bIns="0" anchor="t">
            <a:spAutoFit/>
          </a:bodyPr>
          <a:lstStyle/>
          <a:p>
            <a:pPr algn="l">
              <a:lnSpc>
                <a:spcPct val="100000"/>
              </a:lnSpc>
              <a:spcAft>
                <a:spcPts val="0"/>
              </a:spcAft>
            </a:pPr>
            <a:r>
              <a:rPr sz="780" b="1">
                <a:solidFill>
                  <a:srgbClr val="FFFFFF"/>
                </a:solidFill>
                <a:latin typeface="Segoe UI"/>
              </a:rPr>
              <a:t>OPTIMISATION</a:t>
            </a:r>
          </a:p>
          <a:p>
            <a:pPr algn="l">
              <a:lnSpc>
                <a:spcPct val="100000"/>
              </a:lnSpc>
              <a:spcAft>
                <a:spcPts val="0"/>
              </a:spcAft>
            </a:pPr>
            <a:r>
              <a:rPr sz="780" b="1">
                <a:solidFill>
                  <a:srgbClr val="FFFFFF"/>
                </a:solidFill>
                <a:latin typeface="Segoe UI"/>
              </a:rPr>
              <a:t>&amp; VALIDATION</a:t>
            </a:r>
          </a:p>
        </p:txBody>
      </p:sp>
      <p:sp>
        <p:nvSpPr>
          <p:cNvPr id="26" name="Rectangle 25"/>
          <p:cNvSpPr/>
          <p:nvPr/>
        </p:nvSpPr>
        <p:spPr>
          <a:xfrm>
            <a:off x="9365284" y="4343400"/>
            <a:ext cx="2018995" cy="41148"/>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365284" y="4384548"/>
            <a:ext cx="2018995" cy="658368"/>
          </a:xfrm>
          <a:prstGeom prst="rect">
            <a:avLst/>
          </a:prstGeom>
          <a:solidFill>
            <a:srgbClr val="141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456724" y="4462272"/>
            <a:ext cx="1836115" cy="182880"/>
          </a:xfrm>
          <a:prstGeom prst="rect">
            <a:avLst/>
          </a:prstGeom>
          <a:noFill/>
        </p:spPr>
        <p:txBody>
          <a:bodyPr wrap="square" lIns="0" rIns="0" tIns="0" bIns="0" anchor="t">
            <a:spAutoFit/>
          </a:bodyPr>
          <a:lstStyle/>
          <a:p>
            <a:pPr algn="l">
              <a:lnSpc>
                <a:spcPct val="100000"/>
              </a:lnSpc>
              <a:spcAft>
                <a:spcPts val="0"/>
              </a:spcAft>
            </a:pPr>
            <a:r>
              <a:rPr sz="900" b="1">
                <a:solidFill>
                  <a:srgbClr val="E07A3F"/>
                </a:solidFill>
                <a:latin typeface="Segoe UI"/>
              </a:rPr>
              <a:t>05</a:t>
            </a:r>
          </a:p>
        </p:txBody>
      </p:sp>
      <p:sp>
        <p:nvSpPr>
          <p:cNvPr id="29" name="TextBox 28"/>
          <p:cNvSpPr txBox="1"/>
          <p:nvPr/>
        </p:nvSpPr>
        <p:spPr>
          <a:xfrm>
            <a:off x="9456724" y="4654296"/>
            <a:ext cx="1836115" cy="347472"/>
          </a:xfrm>
          <a:prstGeom prst="rect">
            <a:avLst/>
          </a:prstGeom>
          <a:noFill/>
        </p:spPr>
        <p:txBody>
          <a:bodyPr wrap="square" lIns="0" rIns="0" tIns="0" bIns="0" anchor="t">
            <a:spAutoFit/>
          </a:bodyPr>
          <a:lstStyle/>
          <a:p>
            <a:pPr algn="l">
              <a:lnSpc>
                <a:spcPct val="100000"/>
              </a:lnSpc>
              <a:spcAft>
                <a:spcPts val="0"/>
              </a:spcAft>
            </a:pPr>
            <a:r>
              <a:rPr sz="780" b="1">
                <a:solidFill>
                  <a:srgbClr val="FFFFFF"/>
                </a:solidFill>
                <a:latin typeface="Segoe UI"/>
              </a:rPr>
              <a:t>RETRIEVAL,</a:t>
            </a:r>
          </a:p>
          <a:p>
            <a:pPr algn="l">
              <a:lnSpc>
                <a:spcPct val="100000"/>
              </a:lnSpc>
              <a:spcAft>
                <a:spcPts val="0"/>
              </a:spcAft>
            </a:pPr>
            <a:r>
              <a:rPr sz="780" b="1">
                <a:solidFill>
                  <a:srgbClr val="FFFFFF"/>
                </a:solidFill>
                <a:latin typeface="Segoe UI"/>
              </a:rPr>
              <a:t>TRUST &amp; RESULTS</a:t>
            </a:r>
          </a:p>
        </p:txBody>
      </p:sp>
      <p:sp>
        <p:nvSpPr>
          <p:cNvPr id="30" name="TextBox 29"/>
          <p:cNvSpPr txBox="1"/>
          <p:nvPr/>
        </p:nvSpPr>
        <p:spPr>
          <a:xfrm>
            <a:off x="777240" y="5440680"/>
            <a:ext cx="1938527" cy="365760"/>
          </a:xfrm>
          <a:prstGeom prst="rect">
            <a:avLst/>
          </a:prstGeom>
          <a:noFill/>
        </p:spPr>
        <p:txBody>
          <a:bodyPr wrap="square" lIns="0" rIns="0" tIns="0" bIns="0" anchor="t">
            <a:spAutoFit/>
          </a:bodyPr>
          <a:lstStyle/>
          <a:p>
            <a:pPr algn="l">
              <a:lnSpc>
                <a:spcPct val="100000"/>
              </a:lnSpc>
              <a:spcAft>
                <a:spcPts val="0"/>
              </a:spcAft>
            </a:pPr>
            <a:r>
              <a:rPr sz="2600" b="1">
                <a:solidFill>
                  <a:srgbClr val="E07A3F"/>
                </a:solidFill>
                <a:latin typeface="Segoe UI"/>
              </a:rPr>
              <a:t>338</a:t>
            </a:r>
          </a:p>
        </p:txBody>
      </p:sp>
      <p:sp>
        <p:nvSpPr>
          <p:cNvPr id="31" name="TextBox 30"/>
          <p:cNvSpPr txBox="1"/>
          <p:nvPr/>
        </p:nvSpPr>
        <p:spPr>
          <a:xfrm>
            <a:off x="777240" y="5897880"/>
            <a:ext cx="1938527" cy="457200"/>
          </a:xfrm>
          <a:prstGeom prst="rect">
            <a:avLst/>
          </a:prstGeom>
          <a:noFill/>
        </p:spPr>
        <p:txBody>
          <a:bodyPr wrap="square" lIns="0" rIns="0" tIns="0" bIns="0" anchor="t">
            <a:spAutoFit/>
          </a:bodyPr>
          <a:lstStyle/>
          <a:p>
            <a:pPr algn="l">
              <a:lnSpc>
                <a:spcPct val="115000"/>
              </a:lnSpc>
              <a:spcAft>
                <a:spcPts val="0"/>
              </a:spcAft>
            </a:pPr>
            <a:r>
              <a:rPr sz="800" b="0">
                <a:solidFill>
                  <a:srgbClr val="9AA2BC"/>
                </a:solidFill>
                <a:latin typeface="Segoe UI"/>
              </a:rPr>
              <a:t>automated tests</a:t>
            </a:r>
          </a:p>
          <a:p>
            <a:pPr algn="l">
              <a:lnSpc>
                <a:spcPct val="115000"/>
              </a:lnSpc>
              <a:spcAft>
                <a:spcPts val="0"/>
              </a:spcAft>
            </a:pPr>
            <a:r>
              <a:rPr sz="800" b="0">
                <a:solidFill>
                  <a:srgbClr val="9AA2BC"/>
                </a:solidFill>
                <a:latin typeface="Segoe UI"/>
              </a:rPr>
              <a:t>passing</a:t>
            </a:r>
          </a:p>
        </p:txBody>
      </p:sp>
      <p:sp>
        <p:nvSpPr>
          <p:cNvPr id="32" name="TextBox 31"/>
          <p:cNvSpPr txBox="1"/>
          <p:nvPr/>
        </p:nvSpPr>
        <p:spPr>
          <a:xfrm>
            <a:off x="2898648" y="5440680"/>
            <a:ext cx="1938527" cy="365760"/>
          </a:xfrm>
          <a:prstGeom prst="rect">
            <a:avLst/>
          </a:prstGeom>
          <a:noFill/>
        </p:spPr>
        <p:txBody>
          <a:bodyPr wrap="square" lIns="0" rIns="0" tIns="0" bIns="0" anchor="t">
            <a:spAutoFit/>
          </a:bodyPr>
          <a:lstStyle/>
          <a:p>
            <a:pPr algn="l">
              <a:lnSpc>
                <a:spcPct val="100000"/>
              </a:lnSpc>
              <a:spcAft>
                <a:spcPts val="0"/>
              </a:spcAft>
            </a:pPr>
            <a:r>
              <a:rPr sz="2600" b="1">
                <a:solidFill>
                  <a:srgbClr val="E07A3F"/>
                </a:solidFill>
                <a:latin typeface="Segoe UI"/>
              </a:rPr>
              <a:t>130</a:t>
            </a:r>
          </a:p>
        </p:txBody>
      </p:sp>
      <p:sp>
        <p:nvSpPr>
          <p:cNvPr id="33" name="TextBox 32"/>
          <p:cNvSpPr txBox="1"/>
          <p:nvPr/>
        </p:nvSpPr>
        <p:spPr>
          <a:xfrm>
            <a:off x="2898648" y="5897880"/>
            <a:ext cx="1938527" cy="457200"/>
          </a:xfrm>
          <a:prstGeom prst="rect">
            <a:avLst/>
          </a:prstGeom>
          <a:noFill/>
        </p:spPr>
        <p:txBody>
          <a:bodyPr wrap="square" lIns="0" rIns="0" tIns="0" bIns="0" anchor="t">
            <a:spAutoFit/>
          </a:bodyPr>
          <a:lstStyle/>
          <a:p>
            <a:pPr algn="l">
              <a:lnSpc>
                <a:spcPct val="115000"/>
              </a:lnSpc>
              <a:spcAft>
                <a:spcPts val="0"/>
              </a:spcAft>
            </a:pPr>
            <a:r>
              <a:rPr sz="800" b="0">
                <a:solidFill>
                  <a:srgbClr val="9AA2BC"/>
                </a:solidFill>
                <a:latin typeface="Segoe UI"/>
              </a:rPr>
              <a:t>curated places</a:t>
            </a:r>
          </a:p>
          <a:p>
            <a:pPr algn="l">
              <a:lnSpc>
                <a:spcPct val="115000"/>
              </a:lnSpc>
              <a:spcAft>
                <a:spcPts val="0"/>
              </a:spcAft>
            </a:pPr>
            <a:r>
              <a:rPr sz="800" b="0">
                <a:solidFill>
                  <a:srgbClr val="9AA2BC"/>
                </a:solidFill>
                <a:latin typeface="Segoe UI"/>
              </a:rPr>
              <a:t>10 destinations</a:t>
            </a:r>
          </a:p>
        </p:txBody>
      </p:sp>
      <p:sp>
        <p:nvSpPr>
          <p:cNvPr id="34" name="TextBox 33"/>
          <p:cNvSpPr txBox="1"/>
          <p:nvPr/>
        </p:nvSpPr>
        <p:spPr>
          <a:xfrm>
            <a:off x="5020055" y="5440680"/>
            <a:ext cx="1938527" cy="365760"/>
          </a:xfrm>
          <a:prstGeom prst="rect">
            <a:avLst/>
          </a:prstGeom>
          <a:noFill/>
        </p:spPr>
        <p:txBody>
          <a:bodyPr wrap="square" lIns="0" rIns="0" tIns="0" bIns="0" anchor="t">
            <a:spAutoFit/>
          </a:bodyPr>
          <a:lstStyle/>
          <a:p>
            <a:pPr algn="l">
              <a:lnSpc>
                <a:spcPct val="100000"/>
              </a:lnSpc>
              <a:spcAft>
                <a:spcPts val="0"/>
              </a:spcAft>
            </a:pPr>
            <a:r>
              <a:rPr sz="2600" b="1">
                <a:solidFill>
                  <a:srgbClr val="E07A3F"/>
                </a:solidFill>
                <a:latin typeface="Segoe UI"/>
              </a:rPr>
              <a:t>−57%</a:t>
            </a:r>
          </a:p>
        </p:txBody>
      </p:sp>
      <p:sp>
        <p:nvSpPr>
          <p:cNvPr id="35" name="TextBox 34"/>
          <p:cNvSpPr txBox="1"/>
          <p:nvPr/>
        </p:nvSpPr>
        <p:spPr>
          <a:xfrm>
            <a:off x="5020055" y="5897880"/>
            <a:ext cx="1938527" cy="457200"/>
          </a:xfrm>
          <a:prstGeom prst="rect">
            <a:avLst/>
          </a:prstGeom>
          <a:noFill/>
        </p:spPr>
        <p:txBody>
          <a:bodyPr wrap="square" lIns="0" rIns="0" tIns="0" bIns="0" anchor="t">
            <a:spAutoFit/>
          </a:bodyPr>
          <a:lstStyle/>
          <a:p>
            <a:pPr algn="l">
              <a:lnSpc>
                <a:spcPct val="115000"/>
              </a:lnSpc>
              <a:spcAft>
                <a:spcPts val="0"/>
              </a:spcAft>
            </a:pPr>
            <a:r>
              <a:rPr sz="800" b="0">
                <a:solidFill>
                  <a:srgbClr val="9AA2BC"/>
                </a:solidFill>
                <a:latin typeface="Segoe UI"/>
              </a:rPr>
              <a:t>travel vs a greedy</a:t>
            </a:r>
          </a:p>
          <a:p>
            <a:pPr algn="l">
              <a:lnSpc>
                <a:spcPct val="115000"/>
              </a:lnSpc>
              <a:spcAft>
                <a:spcPts val="0"/>
              </a:spcAft>
            </a:pPr>
            <a:r>
              <a:rPr sz="800" b="0">
                <a:solidFill>
                  <a:srgbClr val="9AA2BC"/>
                </a:solidFill>
                <a:latin typeface="Segoe UI"/>
              </a:rPr>
              <a:t>planner (measured)</a:t>
            </a:r>
          </a:p>
        </p:txBody>
      </p:sp>
      <p:sp>
        <p:nvSpPr>
          <p:cNvPr id="36" name="TextBox 35"/>
          <p:cNvSpPr txBox="1"/>
          <p:nvPr/>
        </p:nvSpPr>
        <p:spPr>
          <a:xfrm>
            <a:off x="7141463" y="5440680"/>
            <a:ext cx="1938527" cy="365760"/>
          </a:xfrm>
          <a:prstGeom prst="rect">
            <a:avLst/>
          </a:prstGeom>
          <a:noFill/>
        </p:spPr>
        <p:txBody>
          <a:bodyPr wrap="square" lIns="0" rIns="0" tIns="0" bIns="0" anchor="t">
            <a:spAutoFit/>
          </a:bodyPr>
          <a:lstStyle/>
          <a:p>
            <a:pPr algn="l">
              <a:lnSpc>
                <a:spcPct val="100000"/>
              </a:lnSpc>
              <a:spcAft>
                <a:spcPts val="0"/>
              </a:spcAft>
            </a:pPr>
            <a:r>
              <a:rPr sz="2600" b="1">
                <a:solidFill>
                  <a:srgbClr val="E07A3F"/>
                </a:solidFill>
                <a:latin typeface="Segoe UI"/>
              </a:rPr>
              <a:t>1.00</a:t>
            </a:r>
          </a:p>
        </p:txBody>
      </p:sp>
      <p:sp>
        <p:nvSpPr>
          <p:cNvPr id="37" name="TextBox 36"/>
          <p:cNvSpPr txBox="1"/>
          <p:nvPr/>
        </p:nvSpPr>
        <p:spPr>
          <a:xfrm>
            <a:off x="7141463" y="5897880"/>
            <a:ext cx="1938527" cy="457200"/>
          </a:xfrm>
          <a:prstGeom prst="rect">
            <a:avLst/>
          </a:prstGeom>
          <a:noFill/>
        </p:spPr>
        <p:txBody>
          <a:bodyPr wrap="square" lIns="0" rIns="0" tIns="0" bIns="0" anchor="t">
            <a:spAutoFit/>
          </a:bodyPr>
          <a:lstStyle/>
          <a:p>
            <a:pPr algn="l">
              <a:lnSpc>
                <a:spcPct val="115000"/>
              </a:lnSpc>
              <a:spcAft>
                <a:spcPts val="0"/>
              </a:spcAft>
            </a:pPr>
            <a:r>
              <a:rPr sz="800" b="0">
                <a:solidFill>
                  <a:srgbClr val="9AA2BC"/>
                </a:solidFill>
                <a:latin typeface="Segoe UI"/>
              </a:rPr>
              <a:t>RAG abstention</a:t>
            </a:r>
          </a:p>
          <a:p>
            <a:pPr algn="l">
              <a:lnSpc>
                <a:spcPct val="115000"/>
              </a:lnSpc>
              <a:spcAft>
                <a:spcPts val="0"/>
              </a:spcAft>
            </a:pPr>
            <a:r>
              <a:rPr sz="800" b="0">
                <a:solidFill>
                  <a:srgbClr val="9AA2BC"/>
                </a:solidFill>
                <a:latin typeface="Segoe UI"/>
              </a:rPr>
              <a:t>accuracy</a:t>
            </a:r>
          </a:p>
        </p:txBody>
      </p:sp>
      <p:sp>
        <p:nvSpPr>
          <p:cNvPr id="38" name="TextBox 37"/>
          <p:cNvSpPr txBox="1"/>
          <p:nvPr/>
        </p:nvSpPr>
        <p:spPr>
          <a:xfrm>
            <a:off x="9262872" y="5440680"/>
            <a:ext cx="1938527" cy="365760"/>
          </a:xfrm>
          <a:prstGeom prst="rect">
            <a:avLst/>
          </a:prstGeom>
          <a:noFill/>
        </p:spPr>
        <p:txBody>
          <a:bodyPr wrap="square" lIns="0" rIns="0" tIns="0" bIns="0" anchor="t">
            <a:spAutoFit/>
          </a:bodyPr>
          <a:lstStyle/>
          <a:p>
            <a:pPr algn="l">
              <a:lnSpc>
                <a:spcPct val="100000"/>
              </a:lnSpc>
              <a:spcAft>
                <a:spcPts val="0"/>
              </a:spcAft>
            </a:pPr>
            <a:r>
              <a:rPr sz="2600" b="1">
                <a:solidFill>
                  <a:srgbClr val="E07A3F"/>
                </a:solidFill>
                <a:latin typeface="Segoe UI"/>
              </a:rPr>
              <a:t>0</a:t>
            </a:r>
          </a:p>
        </p:txBody>
      </p:sp>
      <p:sp>
        <p:nvSpPr>
          <p:cNvPr id="39" name="TextBox 38"/>
          <p:cNvSpPr txBox="1"/>
          <p:nvPr/>
        </p:nvSpPr>
        <p:spPr>
          <a:xfrm>
            <a:off x="9262872" y="5897880"/>
            <a:ext cx="1938527" cy="457200"/>
          </a:xfrm>
          <a:prstGeom prst="rect">
            <a:avLst/>
          </a:prstGeom>
          <a:noFill/>
        </p:spPr>
        <p:txBody>
          <a:bodyPr wrap="square" lIns="0" rIns="0" tIns="0" bIns="0" anchor="t">
            <a:spAutoFit/>
          </a:bodyPr>
          <a:lstStyle/>
          <a:p>
            <a:pPr algn="l">
              <a:lnSpc>
                <a:spcPct val="115000"/>
              </a:lnSpc>
              <a:spcAft>
                <a:spcPts val="0"/>
              </a:spcAft>
            </a:pPr>
            <a:r>
              <a:rPr sz="800" b="0">
                <a:solidFill>
                  <a:srgbClr val="9AA2BC"/>
                </a:solidFill>
                <a:latin typeface="Segoe UI"/>
              </a:rPr>
              <a:t>LLM calls needed</a:t>
            </a:r>
          </a:p>
          <a:p>
            <a:pPr algn="l">
              <a:lnSpc>
                <a:spcPct val="115000"/>
              </a:lnSpc>
              <a:spcAft>
                <a:spcPts val="0"/>
              </a:spcAft>
            </a:pPr>
            <a:r>
              <a:rPr sz="800" b="0">
                <a:solidFill>
                  <a:srgbClr val="9AA2BC"/>
                </a:solidFill>
                <a:latin typeface="Segoe UI"/>
              </a:rPr>
              <a:t>to produce a plan</a:t>
            </a:r>
          </a:p>
        </p:txBody>
      </p:sp>
      <p:sp>
        <p:nvSpPr>
          <p:cNvPr id="40" name="TextBox 39"/>
          <p:cNvSpPr txBox="1"/>
          <p:nvPr/>
        </p:nvSpPr>
        <p:spPr>
          <a:xfrm>
            <a:off x="777240" y="6419088"/>
            <a:ext cx="10607040" cy="274320"/>
          </a:xfrm>
          <a:prstGeom prst="rect">
            <a:avLst/>
          </a:prstGeom>
          <a:noFill/>
        </p:spPr>
        <p:txBody>
          <a:bodyPr wrap="square" lIns="0" rIns="0" tIns="0" bIns="0" anchor="t">
            <a:spAutoFit/>
          </a:bodyPr>
          <a:lstStyle/>
          <a:p>
            <a:pPr algn="l">
              <a:lnSpc>
                <a:spcPct val="100000"/>
              </a:lnSpc>
              <a:spcAft>
                <a:spcPts val="0"/>
              </a:spcAft>
            </a:pPr>
            <a:r>
              <a:rPr sz="750" b="0">
                <a:solidFill>
                  <a:srgbClr val="6B7492"/>
                </a:solidFill>
                <a:latin typeface="Segoe UI"/>
              </a:rPr>
              <a:t>Every figure in this deck is reproduced by a script in the repository. Assumptions and limitations are labelled as such.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29184" y="237744"/>
            <a:ext cx="2262774" cy="420624"/>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29184"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FFFFFF"/>
                </a:solidFill>
                <a:latin typeface="Segoe UI"/>
              </a:rPr>
              <a:t>PROBLEM &amp;</a:t>
            </a:r>
          </a:p>
          <a:p>
            <a:pPr algn="ctr">
              <a:lnSpc>
                <a:spcPct val="95000"/>
              </a:lnSpc>
              <a:spcAft>
                <a:spcPts val="0"/>
              </a:spcAft>
            </a:pPr>
            <a:r>
              <a:rPr sz="750" b="1">
                <a:solidFill>
                  <a:srgbClr val="FFFFFF"/>
                </a:solidFill>
                <a:latin typeface="Segoe UI"/>
              </a:rPr>
              <a:t>ARCHITECTURE</a:t>
            </a:r>
          </a:p>
        </p:txBody>
      </p:sp>
      <p:sp>
        <p:nvSpPr>
          <p:cNvPr id="5" name="Rectangle 4"/>
          <p:cNvSpPr/>
          <p:nvPr/>
        </p:nvSpPr>
        <p:spPr>
          <a:xfrm>
            <a:off x="2646822"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646822"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DATA</a:t>
            </a:r>
          </a:p>
          <a:p>
            <a:pPr algn="ctr">
              <a:lnSpc>
                <a:spcPct val="95000"/>
              </a:lnSpc>
              <a:spcAft>
                <a:spcPts val="0"/>
              </a:spcAft>
            </a:pPr>
            <a:r>
              <a:rPr sz="750" b="1">
                <a:solidFill>
                  <a:srgbClr val="A44C1F"/>
                </a:solidFill>
                <a:latin typeface="Segoe UI"/>
              </a:rPr>
              <a:t>FOUNDATION</a:t>
            </a:r>
          </a:p>
        </p:txBody>
      </p:sp>
      <p:sp>
        <p:nvSpPr>
          <p:cNvPr id="7" name="Rectangle 6"/>
          <p:cNvSpPr/>
          <p:nvPr/>
        </p:nvSpPr>
        <p:spPr>
          <a:xfrm>
            <a:off x="4964460"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964460"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RANKING &amp;</a:t>
            </a:r>
          </a:p>
          <a:p>
            <a:pPr algn="ctr">
              <a:lnSpc>
                <a:spcPct val="95000"/>
              </a:lnSpc>
              <a:spcAft>
                <a:spcPts val="0"/>
              </a:spcAft>
            </a:pPr>
            <a:r>
              <a:rPr sz="750" b="1">
                <a:solidFill>
                  <a:srgbClr val="A44C1F"/>
                </a:solidFill>
                <a:latin typeface="Segoe UI"/>
              </a:rPr>
              <a:t>FAIRNESS</a:t>
            </a:r>
          </a:p>
        </p:txBody>
      </p:sp>
      <p:sp>
        <p:nvSpPr>
          <p:cNvPr id="9" name="Rectangle 8"/>
          <p:cNvSpPr/>
          <p:nvPr/>
        </p:nvSpPr>
        <p:spPr>
          <a:xfrm>
            <a:off x="7282098"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82098"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OPTIMISATION</a:t>
            </a:r>
          </a:p>
          <a:p>
            <a:pPr algn="ctr">
              <a:lnSpc>
                <a:spcPct val="95000"/>
              </a:lnSpc>
              <a:spcAft>
                <a:spcPts val="0"/>
              </a:spcAft>
            </a:pPr>
            <a:r>
              <a:rPr sz="750" b="1">
                <a:solidFill>
                  <a:srgbClr val="A44C1F"/>
                </a:solidFill>
                <a:latin typeface="Segoe UI"/>
              </a:rPr>
              <a:t>&amp; VALIDATION</a:t>
            </a:r>
          </a:p>
        </p:txBody>
      </p:sp>
      <p:sp>
        <p:nvSpPr>
          <p:cNvPr id="11" name="Rectangle 10"/>
          <p:cNvSpPr/>
          <p:nvPr/>
        </p:nvSpPr>
        <p:spPr>
          <a:xfrm>
            <a:off x="9599736"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99736"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RETRIEVAL,</a:t>
            </a:r>
          </a:p>
          <a:p>
            <a:pPr algn="ctr">
              <a:lnSpc>
                <a:spcPct val="95000"/>
              </a:lnSpc>
              <a:spcAft>
                <a:spcPts val="0"/>
              </a:spcAft>
            </a:pPr>
            <a:r>
              <a:rPr sz="750" b="1">
                <a:solidFill>
                  <a:srgbClr val="A44C1F"/>
                </a:solidFill>
                <a:latin typeface="Segoe UI"/>
              </a:rPr>
              <a:t>TRUST &amp; RESULTS</a:t>
            </a:r>
          </a:p>
        </p:txBody>
      </p:sp>
      <p:sp>
        <p:nvSpPr>
          <p:cNvPr id="13" name="TextBox 12"/>
          <p:cNvSpPr txBox="1"/>
          <p:nvPr/>
        </p:nvSpPr>
        <p:spPr>
          <a:xfrm>
            <a:off x="329184" y="804672"/>
            <a:ext cx="11533327" cy="292608"/>
          </a:xfrm>
          <a:prstGeom prst="rect">
            <a:avLst/>
          </a:prstGeom>
          <a:noFill/>
        </p:spPr>
        <p:txBody>
          <a:bodyPr wrap="square" lIns="0" rIns="0" tIns="0" bIns="0" anchor="t">
            <a:spAutoFit/>
          </a:bodyPr>
          <a:lstStyle/>
          <a:p>
            <a:pPr algn="l">
              <a:lnSpc>
                <a:spcPct val="100000"/>
              </a:lnSpc>
              <a:spcAft>
                <a:spcPts val="0"/>
              </a:spcAft>
            </a:pPr>
            <a:r>
              <a:rPr sz="1700" b="1">
                <a:solidFill>
                  <a:srgbClr val="23306B"/>
                </a:solidFill>
                <a:latin typeface="Segoe UI"/>
              </a:rPr>
              <a:t>THE PROBLEM — AND THE ONE DESIGN DECISION EVERYTHING FOLLOWS FROM</a:t>
            </a:r>
          </a:p>
        </p:txBody>
      </p:sp>
      <p:sp>
        <p:nvSpPr>
          <p:cNvPr id="14" name="Rectangle 13"/>
          <p:cNvSpPr/>
          <p:nvPr/>
        </p:nvSpPr>
        <p:spPr>
          <a:xfrm>
            <a:off x="329184" y="1133856"/>
            <a:ext cx="11533327" cy="20116"/>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29184" y="1298448"/>
            <a:ext cx="4572000" cy="274320"/>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20623" y="1348739"/>
            <a:ext cx="4389120"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WHAT THE PRODUCT SOLVES</a:t>
            </a:r>
          </a:p>
        </p:txBody>
      </p:sp>
      <p:sp>
        <p:nvSpPr>
          <p:cNvPr id="17" name="Rectangle 16"/>
          <p:cNvSpPr/>
          <p:nvPr/>
        </p:nvSpPr>
        <p:spPr>
          <a:xfrm>
            <a:off x="329184" y="1572768"/>
            <a:ext cx="4572000" cy="2212848"/>
          </a:xfrm>
          <a:prstGeom prst="rect">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57200" y="1700784"/>
            <a:ext cx="4315968" cy="2011680"/>
          </a:xfrm>
          <a:prstGeom prst="rect">
            <a:avLst/>
          </a:prstGeom>
          <a:noFill/>
        </p:spPr>
        <p:txBody>
          <a:bodyPr wrap="square" lIns="0" rIns="0" tIns="0" bIns="0" anchor="t">
            <a:spAutoFit/>
          </a:bodyPr>
          <a:lstStyle/>
          <a:p>
            <a:pPr algn="l">
              <a:lnSpc>
                <a:spcPct val="124000"/>
              </a:lnSpc>
              <a:spcAft>
                <a:spcPts val="0"/>
              </a:spcAft>
            </a:pPr>
            <a:r>
              <a:rPr sz="880" b="1">
                <a:solidFill>
                  <a:srgbClr val="23306B"/>
                </a:solidFill>
                <a:latin typeface="Segoe UI"/>
              </a:rPr>
              <a:t>Business problem.  </a:t>
            </a:r>
            <a:r>
              <a:rPr sz="880" b="0">
                <a:solidFill>
                  <a:srgbClr val="5B6178"/>
                </a:solidFill>
                <a:latin typeface="Segoe UI"/>
              </a:rPr>
              <a:t>Group trips fail on coordination, not inspiration. Four people want four different things; one always gets ignored; the plan ignores opening hours, travel time and weather, and collapses on day one.</a:t>
            </a:r>
          </a:p>
          <a:p>
            <a:pPr algn="l">
              <a:lnSpc>
                <a:spcPct val="124000"/>
              </a:lnSpc>
              <a:spcAft>
                <a:spcPts val="0"/>
              </a:spcAft>
            </a:pPr>
            <a:r>
              <a:rPr sz="880" b="0">
                <a:solidFill>
                  <a:srgbClr val="5B6178"/>
                </a:solidFill>
                <a:latin typeface="Segoe UI"/>
              </a:rPr>
              <a:t/>
            </a:r>
          </a:p>
          <a:p>
            <a:pPr algn="l">
              <a:lnSpc>
                <a:spcPct val="124000"/>
              </a:lnSpc>
              <a:spcAft>
                <a:spcPts val="0"/>
              </a:spcAft>
            </a:pPr>
            <a:r>
              <a:rPr sz="880" b="1">
                <a:solidFill>
                  <a:srgbClr val="23306B"/>
                </a:solidFill>
                <a:latin typeface="Segoe UI"/>
              </a:rPr>
              <a:t>Technical problem.  </a:t>
            </a:r>
            <a:r>
              <a:rPr sz="880" b="0">
                <a:solidFill>
                  <a:srgbClr val="5B6178"/>
                </a:solidFill>
                <a:latin typeface="Segoe UI"/>
              </a:rPr>
              <a:t>Produce a fair, explainable and physically feasible group itinerary under weather, time windows, budget, distance, opening hours, individual preferences and accessibility — without letting a language model invent the facts.</a:t>
            </a:r>
          </a:p>
        </p:txBody>
      </p:sp>
      <p:sp>
        <p:nvSpPr>
          <p:cNvPr id="19" name="Rectangle 18"/>
          <p:cNvSpPr/>
          <p:nvPr/>
        </p:nvSpPr>
        <p:spPr>
          <a:xfrm>
            <a:off x="329184" y="3913632"/>
            <a:ext cx="4572000" cy="274320"/>
          </a:xfrm>
          <a:prstGeom prst="rect">
            <a:avLst/>
          </a:prstGeom>
          <a:solidFill>
            <a:srgbClr val="A9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20623" y="3963924"/>
            <a:ext cx="4389120"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WHY AN LLM CANNOT OWN THIS</a:t>
            </a:r>
          </a:p>
        </p:txBody>
      </p:sp>
      <p:sp>
        <p:nvSpPr>
          <p:cNvPr id="21" name="Rectangle 20"/>
          <p:cNvSpPr/>
          <p:nvPr/>
        </p:nvSpPr>
        <p:spPr>
          <a:xfrm>
            <a:off x="329184" y="4187952"/>
            <a:ext cx="4572000" cy="1481328"/>
          </a:xfrm>
          <a:prstGeom prst="rect">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57200" y="4315968"/>
            <a:ext cx="4315968" cy="1280160"/>
          </a:xfrm>
          <a:prstGeom prst="rect">
            <a:avLst/>
          </a:prstGeom>
          <a:noFill/>
        </p:spPr>
        <p:txBody>
          <a:bodyPr wrap="square" lIns="0" rIns="0" tIns="0" bIns="0" anchor="t">
            <a:spAutoFit/>
          </a:bodyPr>
          <a:lstStyle/>
          <a:p>
            <a:pPr algn="l">
              <a:lnSpc>
                <a:spcPct val="122000"/>
              </a:lnSpc>
              <a:spcAft>
                <a:spcPts val="0"/>
              </a:spcAft>
            </a:pPr>
            <a:r>
              <a:rPr sz="860" b="0">
                <a:solidFill>
                  <a:srgbClr val="5B6178"/>
                </a:solidFill>
                <a:latin typeface="Segoe UI"/>
              </a:rPr>
              <a:t>Ask any LLM to "plan three days in Agra" and it will confidently:</a:t>
            </a:r>
          </a:p>
          <a:p>
            <a:pPr algn="l">
              <a:lnSpc>
                <a:spcPct val="122000"/>
              </a:lnSpc>
              <a:spcAft>
                <a:spcPts val="0"/>
              </a:spcAft>
            </a:pPr>
            <a:r>
              <a:rPr sz="860" b="0">
                <a:solidFill>
                  <a:srgbClr val="5B6178"/>
                </a:solidFill>
                <a:latin typeface="Segoe UI"/>
              </a:rPr>
              <a:t>•  schedule the Taj Mahal on a Friday — it is closed to tourists</a:t>
            </a:r>
          </a:p>
          <a:p>
            <a:pPr algn="l">
              <a:lnSpc>
                <a:spcPct val="122000"/>
              </a:lnSpc>
              <a:spcAft>
                <a:spcPts val="0"/>
              </a:spcAft>
            </a:pPr>
            <a:r>
              <a:rPr sz="860" b="0">
                <a:solidFill>
                  <a:srgbClr val="5B6178"/>
                </a:solidFill>
                <a:latin typeface="Segoe UI"/>
              </a:rPr>
              <a:t>•  allow 20 minutes to cross Delhi in traffic</a:t>
            </a:r>
          </a:p>
          <a:p>
            <a:pPr algn="l">
              <a:lnSpc>
                <a:spcPct val="122000"/>
              </a:lnSpc>
              <a:spcAft>
                <a:spcPts val="0"/>
              </a:spcAft>
            </a:pPr>
            <a:r>
              <a:rPr sz="860" b="0">
                <a:solidFill>
                  <a:srgbClr val="5B6178"/>
                </a:solidFill>
                <a:latin typeface="Segoe UI"/>
              </a:rPr>
              <a:t>•  quote a ticket price it invented</a:t>
            </a:r>
          </a:p>
          <a:p>
            <a:pPr algn="l">
              <a:lnSpc>
                <a:spcPct val="122000"/>
              </a:lnSpc>
              <a:spcAft>
                <a:spcPts val="0"/>
              </a:spcAft>
            </a:pPr>
            <a:r>
              <a:rPr sz="860" b="0">
                <a:solidFill>
                  <a:srgbClr val="5B6178"/>
                </a:solidFill>
                <a:latin typeface="Segoe UI"/>
              </a:rPr>
              <a:t/>
            </a:r>
          </a:p>
          <a:p>
            <a:pPr algn="l">
              <a:lnSpc>
                <a:spcPct val="122000"/>
              </a:lnSpc>
              <a:spcAft>
                <a:spcPts val="0"/>
              </a:spcAft>
            </a:pPr>
            <a:r>
              <a:rPr sz="860" b="1">
                <a:solidFill>
                  <a:srgbClr val="A94545"/>
                </a:solidFill>
                <a:latin typeface="Segoe UI"/>
              </a:rPr>
              <a:t>Each failure is a constraint violation, not a wording problem.</a:t>
            </a:r>
          </a:p>
        </p:txBody>
      </p:sp>
      <p:sp>
        <p:nvSpPr>
          <p:cNvPr id="23" name="Rectangle 22"/>
          <p:cNvSpPr/>
          <p:nvPr/>
        </p:nvSpPr>
        <p:spPr>
          <a:xfrm>
            <a:off x="5138928" y="1298448"/>
            <a:ext cx="6723583" cy="274320"/>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230368" y="1348739"/>
            <a:ext cx="6540703"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RESPONSIBILITY SEPARATION — WHO IS ALLOWED TO INVENT ANYTHING</a:t>
            </a:r>
          </a:p>
        </p:txBody>
      </p:sp>
      <p:graphicFrame>
        <p:nvGraphicFramePr>
          <p:cNvPr id="25" name="Table 24"/>
          <p:cNvGraphicFramePr>
            <a:graphicFrameLocks noGrp="1"/>
          </p:cNvGraphicFramePr>
          <p:nvPr/>
        </p:nvGraphicFramePr>
        <p:xfrm>
          <a:off x="5138928" y="1627632"/>
          <a:ext cx="6723582" cy="2048256"/>
        </p:xfrm>
        <a:graphic>
          <a:graphicData uri="http://schemas.openxmlformats.org/drawingml/2006/table">
            <a:tbl>
              <a:tblPr>
                <a:tableStyleId>{5C22544A-7EE6-4342-B048-85BDC9FD1C3A}</a:tableStyleId>
              </a:tblPr>
              <a:tblGrid>
                <a:gridCol w="634300"/>
                <a:gridCol w="3298361"/>
                <a:gridCol w="2790921"/>
              </a:tblGrid>
              <a:tr h="256032">
                <a:tc>
                  <a:txBody>
                    <a:bodyPr wrap="square"/>
                    <a:lstStyle/>
                    <a:p>
                      <a:pPr algn="l"/>
                      <a:r>
                        <a:rPr sz="740" b="1">
                          <a:solidFill>
                            <a:srgbClr val="FFFFFF"/>
                          </a:solidFill>
                          <a:latin typeface="Segoe UI"/>
                        </a:rPr>
                        <a:t>STAGE</a:t>
                      </a:r>
                    </a:p>
                  </a:txBody>
                  <a:tcPr marL="54864" marR="54864" marT="18288" marB="18288" anchor="ctr">
                    <a:solidFill>
                      <a:srgbClr val="23306B"/>
                    </a:solidFill>
                  </a:tcPr>
                </a:tc>
                <a:tc>
                  <a:txBody>
                    <a:bodyPr wrap="square"/>
                    <a:lstStyle/>
                    <a:p>
                      <a:pPr algn="l"/>
                      <a:r>
                        <a:rPr sz="740" b="1">
                          <a:solidFill>
                            <a:srgbClr val="FFFFFF"/>
                          </a:solidFill>
                          <a:latin typeface="Segoe UI"/>
                        </a:rPr>
                        <a:t>OWNER</a:t>
                      </a:r>
                    </a:p>
                  </a:txBody>
                  <a:tcPr marL="54864" marR="54864" marT="18288" marB="18288" anchor="ctr">
                    <a:solidFill>
                      <a:srgbClr val="23306B"/>
                    </a:solidFill>
                  </a:tcPr>
                </a:tc>
                <a:tc>
                  <a:txBody>
                    <a:bodyPr wrap="square"/>
                    <a:lstStyle/>
                    <a:p>
                      <a:pPr algn="l"/>
                      <a:r>
                        <a:rPr sz="740" b="1">
                          <a:solidFill>
                            <a:srgbClr val="FFFFFF"/>
                          </a:solidFill>
                          <a:latin typeface="Segoe UI"/>
                        </a:rPr>
                        <a:t>CAN IT INVENT FACTS?</a:t>
                      </a:r>
                    </a:p>
                  </a:txBody>
                  <a:tcPr marL="54864" marR="54864" marT="18288" marB="18288" anchor="ctr">
                    <a:solidFill>
                      <a:srgbClr val="23306B"/>
                    </a:solidFill>
                  </a:tcPr>
                </a:tc>
              </a:tr>
              <a:tr h="224028">
                <a:tc>
                  <a:txBody>
                    <a:bodyPr wrap="square"/>
                    <a:lstStyle/>
                    <a:p>
                      <a:pPr algn="l"/>
                      <a:r>
                        <a:rPr sz="760" b="1">
                          <a:solidFill>
                            <a:srgbClr val="1A1D2E"/>
                          </a:solidFill>
                          <a:latin typeface="Segoe UI"/>
                        </a:rPr>
                        <a:t>1</a:t>
                      </a:r>
                    </a:p>
                  </a:txBody>
                  <a:tcPr marL="54864" marR="54864" marT="18288" marB="18288" anchor="ctr">
                    <a:solidFill>
                      <a:srgbClr val="FFFFFF"/>
                    </a:solidFill>
                  </a:tcPr>
                </a:tc>
                <a:tc>
                  <a:txBody>
                    <a:bodyPr wrap="square"/>
                    <a:lstStyle/>
                    <a:p>
                      <a:pPr algn="l"/>
                      <a:r>
                        <a:rPr sz="760" b="0">
                          <a:solidFill>
                            <a:srgbClr val="1A1D2E"/>
                          </a:solidFill>
                          <a:latin typeface="Segoe UI"/>
                        </a:rPr>
                        <a:t>Curated catalogue + provenance</a:t>
                      </a:r>
                    </a:p>
                  </a:txBody>
                  <a:tcPr marL="54864" marR="54864" marT="18288" marB="18288" anchor="ctr">
                    <a:solidFill>
                      <a:srgbClr val="FFFFFF"/>
                    </a:solidFill>
                  </a:tcPr>
                </a:tc>
                <a:tc>
                  <a:txBody>
                    <a:bodyPr wrap="square"/>
                    <a:lstStyle/>
                    <a:p>
                      <a:pPr algn="l"/>
                      <a:r>
                        <a:rPr sz="760" b="0">
                          <a:solidFill>
                            <a:srgbClr val="0F7B6C"/>
                          </a:solidFill>
                          <a:latin typeface="Segoe UI"/>
                        </a:rPr>
                        <a:t>No — every field cites a source</a:t>
                      </a:r>
                    </a:p>
                  </a:txBody>
                  <a:tcPr marL="54864" marR="54864" marT="18288" marB="18288" anchor="ctr">
                    <a:solidFill>
                      <a:srgbClr val="FFFFFF"/>
                    </a:solidFill>
                  </a:tcPr>
                </a:tc>
              </a:tr>
              <a:tr h="224028">
                <a:tc>
                  <a:txBody>
                    <a:bodyPr wrap="square"/>
                    <a:lstStyle/>
                    <a:p>
                      <a:pPr algn="l"/>
                      <a:r>
                        <a:rPr sz="760" b="1">
                          <a:solidFill>
                            <a:srgbClr val="1A1D2E"/>
                          </a:solidFill>
                          <a:latin typeface="Segoe UI"/>
                        </a:rPr>
                        <a:t>2</a:t>
                      </a:r>
                    </a:p>
                  </a:txBody>
                  <a:tcPr marL="54864" marR="54864" marT="18288" marB="18288" anchor="ctr">
                    <a:solidFill>
                      <a:srgbClr val="FDFBF7"/>
                    </a:solidFill>
                  </a:tcPr>
                </a:tc>
                <a:tc>
                  <a:txBody>
                    <a:bodyPr wrap="square"/>
                    <a:lstStyle/>
                    <a:p>
                      <a:pPr algn="l"/>
                      <a:r>
                        <a:rPr sz="760" b="0">
                          <a:solidFill>
                            <a:srgbClr val="1A1D2E"/>
                          </a:solidFill>
                          <a:latin typeface="Segoe UI"/>
                        </a:rPr>
                        <a:t>Hard eligibility filters</a:t>
                      </a:r>
                    </a:p>
                  </a:txBody>
                  <a:tcPr marL="54864" marR="54864" marT="18288" marB="18288" anchor="ctr">
                    <a:solidFill>
                      <a:srgbClr val="FDFBF7"/>
                    </a:solidFill>
                  </a:tcPr>
                </a:tc>
                <a:tc>
                  <a:txBody>
                    <a:bodyPr wrap="square"/>
                    <a:lstStyle/>
                    <a:p>
                      <a:pPr algn="l"/>
                      <a:r>
                        <a:rPr sz="760" b="0">
                          <a:solidFill>
                            <a:srgbClr val="0F7B6C"/>
                          </a:solidFill>
                          <a:latin typeface="Segoe UI"/>
                        </a:rPr>
                        <a:t>No — infeasible options removed</a:t>
                      </a:r>
                    </a:p>
                  </a:txBody>
                  <a:tcPr marL="54864" marR="54864" marT="18288" marB="18288" anchor="ctr">
                    <a:solidFill>
                      <a:srgbClr val="FDFBF7"/>
                    </a:solidFill>
                  </a:tcPr>
                </a:tc>
              </a:tr>
              <a:tr h="224028">
                <a:tc>
                  <a:txBody>
                    <a:bodyPr wrap="square"/>
                    <a:lstStyle/>
                    <a:p>
                      <a:pPr algn="l"/>
                      <a:r>
                        <a:rPr sz="760" b="1">
                          <a:solidFill>
                            <a:srgbClr val="1A1D2E"/>
                          </a:solidFill>
                          <a:latin typeface="Segoe UI"/>
                        </a:rPr>
                        <a:t>3</a:t>
                      </a:r>
                    </a:p>
                  </a:txBody>
                  <a:tcPr marL="54864" marR="54864" marT="18288" marB="18288" anchor="ctr">
                    <a:solidFill>
                      <a:srgbClr val="FFFFFF"/>
                    </a:solidFill>
                  </a:tcPr>
                </a:tc>
                <a:tc>
                  <a:txBody>
                    <a:bodyPr wrap="square"/>
                    <a:lstStyle/>
                    <a:p>
                      <a:pPr algn="l"/>
                      <a:r>
                        <a:rPr sz="760" b="0">
                          <a:solidFill>
                            <a:srgbClr val="1A1D2E"/>
                          </a:solidFill>
                          <a:latin typeface="Segoe UI"/>
                        </a:rPr>
                        <a:t>Fairness-aware ranking (9 features)</a:t>
                      </a:r>
                    </a:p>
                  </a:txBody>
                  <a:tcPr marL="54864" marR="54864" marT="18288" marB="18288" anchor="ctr">
                    <a:solidFill>
                      <a:srgbClr val="FFFFFF"/>
                    </a:solidFill>
                  </a:tcPr>
                </a:tc>
                <a:tc>
                  <a:txBody>
                    <a:bodyPr wrap="square"/>
                    <a:lstStyle/>
                    <a:p>
                      <a:pPr algn="l"/>
                      <a:r>
                        <a:rPr sz="760" b="0">
                          <a:solidFill>
                            <a:srgbClr val="0F7B6C"/>
                          </a:solidFill>
                          <a:latin typeface="Segoe UI"/>
                        </a:rPr>
                        <a:t>No — deterministic</a:t>
                      </a:r>
                    </a:p>
                  </a:txBody>
                  <a:tcPr marL="54864" marR="54864" marT="18288" marB="18288" anchor="ctr">
                    <a:solidFill>
                      <a:srgbClr val="FFFFFF"/>
                    </a:solidFill>
                  </a:tcPr>
                </a:tc>
              </a:tr>
              <a:tr h="224028">
                <a:tc>
                  <a:txBody>
                    <a:bodyPr wrap="square"/>
                    <a:lstStyle/>
                    <a:p>
                      <a:pPr algn="l"/>
                      <a:r>
                        <a:rPr sz="760" b="1">
                          <a:solidFill>
                            <a:srgbClr val="1A1D2E"/>
                          </a:solidFill>
                          <a:latin typeface="Segoe UI"/>
                        </a:rPr>
                        <a:t>4</a:t>
                      </a:r>
                    </a:p>
                  </a:txBody>
                  <a:tcPr marL="54864" marR="54864" marT="18288" marB="18288" anchor="ctr">
                    <a:solidFill>
                      <a:srgbClr val="FDFBF7"/>
                    </a:solidFill>
                  </a:tcPr>
                </a:tc>
                <a:tc>
                  <a:txBody>
                    <a:bodyPr wrap="square"/>
                    <a:lstStyle/>
                    <a:p>
                      <a:pPr algn="l"/>
                      <a:r>
                        <a:rPr sz="760" b="0">
                          <a:solidFill>
                            <a:srgbClr val="1A1D2E"/>
                          </a:solidFill>
                          <a:latin typeface="Segoe UI"/>
                        </a:rPr>
                        <a:t>Balanced k-means day clustering</a:t>
                      </a:r>
                    </a:p>
                  </a:txBody>
                  <a:tcPr marL="54864" marR="54864" marT="18288" marB="18288" anchor="ctr">
                    <a:solidFill>
                      <a:srgbClr val="FDFBF7"/>
                    </a:solidFill>
                  </a:tcPr>
                </a:tc>
                <a:tc>
                  <a:txBody>
                    <a:bodyPr wrap="square"/>
                    <a:lstStyle/>
                    <a:p>
                      <a:pPr algn="l"/>
                      <a:r>
                        <a:rPr sz="760" b="0">
                          <a:solidFill>
                            <a:srgbClr val="0F7B6C"/>
                          </a:solidFill>
                          <a:latin typeface="Segoe UI"/>
                        </a:rPr>
                        <a:t>No</a:t>
                      </a:r>
                    </a:p>
                  </a:txBody>
                  <a:tcPr marL="54864" marR="54864" marT="18288" marB="18288" anchor="ctr">
                    <a:solidFill>
                      <a:srgbClr val="FDFBF7"/>
                    </a:solidFill>
                  </a:tcPr>
                </a:tc>
              </a:tr>
              <a:tr h="224028">
                <a:tc>
                  <a:txBody>
                    <a:bodyPr wrap="square"/>
                    <a:lstStyle/>
                    <a:p>
                      <a:pPr algn="l"/>
                      <a:r>
                        <a:rPr sz="760" b="1">
                          <a:solidFill>
                            <a:srgbClr val="1A1D2E"/>
                          </a:solidFill>
                          <a:latin typeface="Segoe UI"/>
                        </a:rPr>
                        <a:t>5</a:t>
                      </a:r>
                    </a:p>
                  </a:txBody>
                  <a:tcPr marL="54864" marR="54864" marT="18288" marB="18288" anchor="ctr">
                    <a:solidFill>
                      <a:srgbClr val="FFFFFF"/>
                    </a:solidFill>
                  </a:tcPr>
                </a:tc>
                <a:tc>
                  <a:txBody>
                    <a:bodyPr wrap="square"/>
                    <a:lstStyle/>
                    <a:p>
                      <a:pPr algn="l"/>
                      <a:r>
                        <a:rPr sz="760" b="0">
                          <a:solidFill>
                            <a:srgbClr val="1A1D2E"/>
                          </a:solidFill>
                          <a:latin typeface="Segoe UI"/>
                        </a:rPr>
                        <a:t>OSRM → haversine travel matrix</a:t>
                      </a:r>
                    </a:p>
                  </a:txBody>
                  <a:tcPr marL="54864" marR="54864" marT="18288" marB="18288" anchor="ctr">
                    <a:solidFill>
                      <a:srgbClr val="FFFFFF"/>
                    </a:solidFill>
                  </a:tcPr>
                </a:tc>
                <a:tc>
                  <a:txBody>
                    <a:bodyPr wrap="square"/>
                    <a:lstStyle/>
                    <a:p>
                      <a:pPr algn="l"/>
                      <a:r>
                        <a:rPr sz="760" b="0">
                          <a:solidFill>
                            <a:srgbClr val="0F7B6C"/>
                          </a:solidFill>
                          <a:latin typeface="Segoe UI"/>
                        </a:rPr>
                        <a:t>No</a:t>
                      </a:r>
                    </a:p>
                  </a:txBody>
                  <a:tcPr marL="54864" marR="54864" marT="18288" marB="18288" anchor="ctr">
                    <a:solidFill>
                      <a:srgbClr val="FFFFFF"/>
                    </a:solidFill>
                  </a:tcPr>
                </a:tc>
              </a:tr>
              <a:tr h="224028">
                <a:tc>
                  <a:txBody>
                    <a:bodyPr wrap="square"/>
                    <a:lstStyle/>
                    <a:p>
                      <a:pPr algn="l"/>
                      <a:r>
                        <a:rPr sz="760" b="1">
                          <a:solidFill>
                            <a:srgbClr val="1A1D2E"/>
                          </a:solidFill>
                          <a:latin typeface="Segoe UI"/>
                        </a:rPr>
                        <a:t>6</a:t>
                      </a:r>
                    </a:p>
                  </a:txBody>
                  <a:tcPr marL="54864" marR="54864" marT="18288" marB="18288" anchor="ctr">
                    <a:solidFill>
                      <a:srgbClr val="FDFBF7"/>
                    </a:solidFill>
                  </a:tcPr>
                </a:tc>
                <a:tc>
                  <a:txBody>
                    <a:bodyPr wrap="square"/>
                    <a:lstStyle/>
                    <a:p>
                      <a:pPr algn="l"/>
                      <a:r>
                        <a:rPr sz="760" b="0">
                          <a:solidFill>
                            <a:srgbClr val="1A1D2E"/>
                          </a:solidFill>
                          <a:latin typeface="Segoe UI"/>
                        </a:rPr>
                        <a:t>OR-Tools CP-SAT scheduler</a:t>
                      </a:r>
                    </a:p>
                  </a:txBody>
                  <a:tcPr marL="54864" marR="54864" marT="18288" marB="18288" anchor="ctr">
                    <a:solidFill>
                      <a:srgbClr val="FDFBF7"/>
                    </a:solidFill>
                  </a:tcPr>
                </a:tc>
                <a:tc>
                  <a:txBody>
                    <a:bodyPr wrap="square"/>
                    <a:lstStyle/>
                    <a:p>
                      <a:pPr algn="l"/>
                      <a:r>
                        <a:rPr sz="760" b="0">
                          <a:solidFill>
                            <a:srgbClr val="0F7B6C"/>
                          </a:solidFill>
                          <a:latin typeface="Segoe UI"/>
                        </a:rPr>
                        <a:t>No — solves a stated model</a:t>
                      </a:r>
                    </a:p>
                  </a:txBody>
                  <a:tcPr marL="54864" marR="54864" marT="18288" marB="18288" anchor="ctr">
                    <a:solidFill>
                      <a:srgbClr val="FDFBF7"/>
                    </a:solidFill>
                  </a:tcPr>
                </a:tc>
              </a:tr>
              <a:tr h="224028">
                <a:tc>
                  <a:txBody>
                    <a:bodyPr wrap="square"/>
                    <a:lstStyle/>
                    <a:p>
                      <a:pPr algn="l"/>
                      <a:r>
                        <a:rPr sz="760" b="1">
                          <a:solidFill>
                            <a:srgbClr val="1A1D2E"/>
                          </a:solidFill>
                          <a:latin typeface="Segoe UI"/>
                        </a:rPr>
                        <a:t>7</a:t>
                      </a:r>
                    </a:p>
                  </a:txBody>
                  <a:tcPr marL="54864" marR="54864" marT="18288" marB="18288" anchor="ctr">
                    <a:solidFill>
                      <a:srgbClr val="FFFFFF"/>
                    </a:solidFill>
                  </a:tcPr>
                </a:tc>
                <a:tc>
                  <a:txBody>
                    <a:bodyPr wrap="square"/>
                    <a:lstStyle/>
                    <a:p>
                      <a:pPr algn="l"/>
                      <a:r>
                        <a:rPr sz="760" b="0">
                          <a:solidFill>
                            <a:srgbClr val="1A1D2E"/>
                          </a:solidFill>
                          <a:latin typeface="Segoe UI"/>
                        </a:rPr>
                        <a:t>15-check constraint validator</a:t>
                      </a:r>
                    </a:p>
                  </a:txBody>
                  <a:tcPr marL="54864" marR="54864" marT="18288" marB="18288" anchor="ctr">
                    <a:solidFill>
                      <a:srgbClr val="FFFFFF"/>
                    </a:solidFill>
                  </a:tcPr>
                </a:tc>
                <a:tc>
                  <a:txBody>
                    <a:bodyPr wrap="square"/>
                    <a:lstStyle/>
                    <a:p>
                      <a:pPr algn="l"/>
                      <a:r>
                        <a:rPr sz="760" b="0">
                          <a:solidFill>
                            <a:srgbClr val="0F7B6C"/>
                          </a:solidFill>
                          <a:latin typeface="Segoe UI"/>
                        </a:rPr>
                        <a:t>No — errors block display</a:t>
                      </a:r>
                    </a:p>
                  </a:txBody>
                  <a:tcPr marL="54864" marR="54864" marT="18288" marB="18288" anchor="ctr">
                    <a:solidFill>
                      <a:srgbClr val="FFFFFF"/>
                    </a:solidFill>
                  </a:tcPr>
                </a:tc>
              </a:tr>
              <a:tr h="224028">
                <a:tc>
                  <a:txBody>
                    <a:bodyPr wrap="square"/>
                    <a:lstStyle/>
                    <a:p>
                      <a:pPr algn="l"/>
                      <a:r>
                        <a:rPr sz="760" b="1">
                          <a:solidFill>
                            <a:srgbClr val="1A1D2E"/>
                          </a:solidFill>
                          <a:latin typeface="Segoe UI"/>
                        </a:rPr>
                        <a:t>8</a:t>
                      </a:r>
                    </a:p>
                  </a:txBody>
                  <a:tcPr marL="54864" marR="54864" marT="18288" marB="18288" anchor="ctr">
                    <a:solidFill>
                      <a:srgbClr val="FDFBF7"/>
                    </a:solidFill>
                  </a:tcPr>
                </a:tc>
                <a:tc>
                  <a:txBody>
                    <a:bodyPr wrap="square"/>
                    <a:lstStyle/>
                    <a:p>
                      <a:pPr algn="l"/>
                      <a:r>
                        <a:rPr sz="760" b="0">
                          <a:solidFill>
                            <a:srgbClr val="1A1D2E"/>
                          </a:solidFill>
                          <a:latin typeface="Segoe UI"/>
                        </a:rPr>
                        <a:t>LLM (optional)</a:t>
                      </a:r>
                    </a:p>
                  </a:txBody>
                  <a:tcPr marL="54864" marR="54864" marT="18288" marB="18288" anchor="ctr">
                    <a:solidFill>
                      <a:srgbClr val="FDFBF7"/>
                    </a:solidFill>
                  </a:tcPr>
                </a:tc>
                <a:tc>
                  <a:txBody>
                    <a:bodyPr wrap="square"/>
                    <a:lstStyle/>
                    <a:p>
                      <a:pPr algn="l"/>
                      <a:r>
                        <a:rPr sz="760" b="1">
                          <a:solidFill>
                            <a:srgbClr val="A94545"/>
                          </a:solidFill>
                          <a:latin typeface="Segoe UI"/>
                        </a:rPr>
                        <a:t>YES — which is why it runs last</a:t>
                      </a:r>
                    </a:p>
                  </a:txBody>
                  <a:tcPr marL="54864" marR="54864" marT="18288" marB="18288" anchor="ctr">
                    <a:solidFill>
                      <a:srgbClr val="FDFBF7"/>
                    </a:solidFill>
                  </a:tcPr>
                </a:tc>
              </a:tr>
            </a:tbl>
          </a:graphicData>
        </a:graphic>
      </p:graphicFrame>
      <p:sp>
        <p:nvSpPr>
          <p:cNvPr id="26" name="Rectangle 25"/>
          <p:cNvSpPr/>
          <p:nvPr/>
        </p:nvSpPr>
        <p:spPr>
          <a:xfrm>
            <a:off x="5138928" y="3712463"/>
            <a:ext cx="6723583" cy="1956816"/>
          </a:xfrm>
          <a:prstGeom prst="rect">
            <a:avLst/>
          </a:prstGeom>
          <a:solidFill>
            <a:srgbClr val="EEF1FA"/>
          </a:solidFill>
          <a:ln w="9525">
            <a:solidFill>
              <a:srgbClr val="D6DC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266944" y="3840480"/>
            <a:ext cx="6467551" cy="1737360"/>
          </a:xfrm>
          <a:prstGeom prst="rect">
            <a:avLst/>
          </a:prstGeom>
          <a:noFill/>
        </p:spPr>
        <p:txBody>
          <a:bodyPr wrap="square" lIns="0" rIns="0" tIns="0" bIns="0" anchor="t">
            <a:spAutoFit/>
          </a:bodyPr>
          <a:lstStyle/>
          <a:p>
            <a:pPr algn="l">
              <a:lnSpc>
                <a:spcPct val="126000"/>
              </a:lnSpc>
              <a:spcAft>
                <a:spcPts val="0"/>
              </a:spcAft>
            </a:pPr>
            <a:r>
              <a:rPr sz="880" b="1">
                <a:solidFill>
                  <a:srgbClr val="23306B"/>
                </a:solidFill>
                <a:latin typeface="Segoe UI"/>
              </a:rPr>
              <a:t>The load-bearing claim.  </a:t>
            </a:r>
            <a:r>
              <a:rPr sz="880" b="0">
                <a:solidFill>
                  <a:srgbClr val="5B6178"/>
                </a:solidFill>
                <a:latin typeface="Segoe UI"/>
              </a:rPr>
              <a:t>The LLM sits at stage 8. By then the itinerary is chosen, scheduled and validated. Its output is prose printed beside the timeline — it cannot add, remove or reorder a stop.</a:t>
            </a:r>
          </a:p>
          <a:p>
            <a:pPr algn="l">
              <a:lnSpc>
                <a:spcPct val="126000"/>
              </a:lnSpc>
              <a:spcAft>
                <a:spcPts val="0"/>
              </a:spcAft>
            </a:pPr>
            <a:r>
              <a:rPr sz="880" b="0">
                <a:solidFill>
                  <a:srgbClr val="5B6178"/>
                </a:solidFill>
                <a:latin typeface="Segoe UI"/>
              </a:rPr>
              <a:t/>
            </a:r>
          </a:p>
          <a:p>
            <a:pPr algn="l">
              <a:lnSpc>
                <a:spcPct val="126000"/>
              </a:lnSpc>
              <a:spcAft>
                <a:spcPts val="0"/>
              </a:spcAft>
            </a:pPr>
            <a:r>
              <a:rPr sz="880" b="1">
                <a:solidFill>
                  <a:srgbClr val="23306B"/>
                </a:solidFill>
                <a:latin typeface="Segoe UI"/>
              </a:rPr>
              <a:t>Proof, not assertion.  </a:t>
            </a:r>
            <a:r>
              <a:rPr sz="880" b="0">
                <a:solidFill>
                  <a:srgbClr val="5B6178"/>
                </a:solidFill>
                <a:latin typeface="Segoe UI"/>
              </a:rPr>
              <a:t>The default provider is </a:t>
            </a:r>
            <a:r>
              <a:rPr sz="880" b="0">
                <a:solidFill>
                  <a:srgbClr val="5B6178"/>
                </a:solidFill>
                <a:latin typeface="Consolas"/>
              </a:rPr>
              <a:t>mock</a:t>
            </a:r>
            <a:r>
              <a:rPr sz="880" b="0">
                <a:solidFill>
                  <a:srgbClr val="5B6178"/>
                </a:solidFill>
                <a:latin typeface="Segoe UI"/>
              </a:rPr>
              <a:t>. Live telemetry at </a:t>
            </a:r>
            <a:r>
              <a:rPr sz="880" b="0">
                <a:solidFill>
                  <a:srgbClr val="5B6178"/>
                </a:solidFill>
                <a:latin typeface="Consolas"/>
              </a:rPr>
              <a:t>/api/v1/metrics</a:t>
            </a:r>
            <a:r>
              <a:rPr sz="880" b="0">
                <a:solidFill>
                  <a:srgbClr val="5B6178"/>
                </a:solidFill>
                <a:latin typeface="Segoe UI"/>
              </a:rPr>
              <a:t> reports </a:t>
            </a:r>
            <a:r>
              <a:rPr sz="880" b="1">
                <a:solidFill>
                  <a:srgbClr val="A94545"/>
                </a:solidFill>
                <a:latin typeface="Consolas"/>
              </a:rPr>
              <a:t>llm.calls = 0</a:t>
            </a:r>
            <a:r>
              <a:rPr sz="880" b="0">
                <a:solidFill>
                  <a:srgbClr val="5B6178"/>
                </a:solidFill>
                <a:latin typeface="Segoe UI"/>
              </a:rPr>
              <a:t>. Every itinerary in this deck was produced with no model call. Switch a real provider on and the plan is byte-identical — only the paragraph changes.</a:t>
            </a:r>
          </a:p>
        </p:txBody>
      </p:sp>
      <p:sp>
        <p:nvSpPr>
          <p:cNvPr id="28" name="Rectangle 27"/>
          <p:cNvSpPr/>
          <p:nvPr/>
        </p:nvSpPr>
        <p:spPr>
          <a:xfrm>
            <a:off x="329184" y="5815584"/>
            <a:ext cx="11533327" cy="420624"/>
          </a:xfrm>
          <a:prstGeom prst="rect">
            <a:avLst/>
          </a:prstGeom>
          <a:solidFill>
            <a:srgbClr val="141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57200" y="5897880"/>
            <a:ext cx="11277295" cy="274320"/>
          </a:xfrm>
          <a:prstGeom prst="rect">
            <a:avLst/>
          </a:prstGeom>
          <a:noFill/>
        </p:spPr>
        <p:txBody>
          <a:bodyPr wrap="square" lIns="0" rIns="0" tIns="0" bIns="0" anchor="t">
            <a:spAutoFit/>
          </a:bodyPr>
          <a:lstStyle/>
          <a:p>
            <a:pPr algn="l">
              <a:lnSpc>
                <a:spcPct val="115000"/>
              </a:lnSpc>
              <a:spcAft>
                <a:spcPts val="0"/>
              </a:spcAft>
            </a:pPr>
            <a:r>
              <a:rPr sz="860" b="1">
                <a:solidFill>
                  <a:srgbClr val="E07A3F"/>
                </a:solidFill>
                <a:latin typeface="Segoe UI"/>
              </a:rPr>
              <a:t>SO WHAT?  </a:t>
            </a:r>
            <a:r>
              <a:rPr sz="860" b="0">
                <a:solidFill>
                  <a:srgbClr val="FFFFFF"/>
                </a:solidFill>
                <a:latin typeface="Segoe UI"/>
              </a:rPr>
              <a:t>Correctness is delegated to systems that can be tested; fluency is delegated to a model that cannot break correctness. That split is the whole architecture.</a:t>
            </a:r>
          </a:p>
        </p:txBody>
      </p:sp>
      <p:sp>
        <p:nvSpPr>
          <p:cNvPr id="30" name="Rectangle 29"/>
          <p:cNvSpPr/>
          <p:nvPr/>
        </p:nvSpPr>
        <p:spPr>
          <a:xfrm>
            <a:off x="329184" y="6382512"/>
            <a:ext cx="11533327" cy="10972"/>
          </a:xfrm>
          <a:prstGeom prst="rect">
            <a:avLst/>
          </a:prstGeom>
          <a:solidFill>
            <a:srgbClr val="E6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29184" y="6473952"/>
            <a:ext cx="10893247" cy="256032"/>
          </a:xfrm>
          <a:prstGeom prst="rect">
            <a:avLst/>
          </a:prstGeom>
          <a:noFill/>
        </p:spPr>
        <p:txBody>
          <a:bodyPr wrap="square" lIns="0" rIns="0" tIns="0" bIns="0" anchor="t">
            <a:spAutoFit/>
          </a:bodyPr>
          <a:lstStyle/>
          <a:p>
            <a:pPr algn="l">
              <a:lnSpc>
                <a:spcPct val="100000"/>
              </a:lnSpc>
              <a:spcAft>
                <a:spcPts val="0"/>
              </a:spcAft>
            </a:pPr>
            <a:r>
              <a:rPr sz="680" b="0">
                <a:solidFill>
                  <a:srgbClr val="8A90A6"/>
                </a:solidFill>
                <a:latin typeface="Segoe UI"/>
              </a:rPr>
              <a:t>Sources: repository README; live /api/v1/metrics telemetry; docs/architecture.md.</a:t>
            </a:r>
          </a:p>
        </p:txBody>
      </p:sp>
      <p:sp>
        <p:nvSpPr>
          <p:cNvPr id="32" name="TextBox 31"/>
          <p:cNvSpPr txBox="1"/>
          <p:nvPr/>
        </p:nvSpPr>
        <p:spPr>
          <a:xfrm>
            <a:off x="11313871" y="6455664"/>
            <a:ext cx="548640" cy="274320"/>
          </a:xfrm>
          <a:prstGeom prst="rect">
            <a:avLst/>
          </a:prstGeom>
          <a:noFill/>
        </p:spPr>
        <p:txBody>
          <a:bodyPr wrap="square" lIns="0" rIns="0" tIns="0" bIns="0" anchor="t">
            <a:spAutoFit/>
          </a:bodyPr>
          <a:lstStyle/>
          <a:p>
            <a:pPr algn="r">
              <a:lnSpc>
                <a:spcPct val="100000"/>
              </a:lnSpc>
              <a:spcAft>
                <a:spcPts val="0"/>
              </a:spcAft>
            </a:pPr>
            <a:r>
              <a:rPr sz="1100" b="1">
                <a:solidFill>
                  <a:srgbClr val="42569F"/>
                </a:solidFill>
                <a:latin typeface="Segoe U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29184" y="237744"/>
            <a:ext cx="2262774" cy="420624"/>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29184"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FFFFFF"/>
                </a:solidFill>
                <a:latin typeface="Segoe UI"/>
              </a:rPr>
              <a:t>PROBLEM &amp;</a:t>
            </a:r>
          </a:p>
          <a:p>
            <a:pPr algn="ctr">
              <a:lnSpc>
                <a:spcPct val="95000"/>
              </a:lnSpc>
              <a:spcAft>
                <a:spcPts val="0"/>
              </a:spcAft>
            </a:pPr>
            <a:r>
              <a:rPr sz="750" b="1">
                <a:solidFill>
                  <a:srgbClr val="FFFFFF"/>
                </a:solidFill>
                <a:latin typeface="Segoe UI"/>
              </a:rPr>
              <a:t>ARCHITECTURE</a:t>
            </a:r>
          </a:p>
        </p:txBody>
      </p:sp>
      <p:sp>
        <p:nvSpPr>
          <p:cNvPr id="5" name="Rectangle 4"/>
          <p:cNvSpPr/>
          <p:nvPr/>
        </p:nvSpPr>
        <p:spPr>
          <a:xfrm>
            <a:off x="2646822"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646822"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DATA</a:t>
            </a:r>
          </a:p>
          <a:p>
            <a:pPr algn="ctr">
              <a:lnSpc>
                <a:spcPct val="95000"/>
              </a:lnSpc>
              <a:spcAft>
                <a:spcPts val="0"/>
              </a:spcAft>
            </a:pPr>
            <a:r>
              <a:rPr sz="750" b="1">
                <a:solidFill>
                  <a:srgbClr val="A44C1F"/>
                </a:solidFill>
                <a:latin typeface="Segoe UI"/>
              </a:rPr>
              <a:t>FOUNDATION</a:t>
            </a:r>
          </a:p>
        </p:txBody>
      </p:sp>
      <p:sp>
        <p:nvSpPr>
          <p:cNvPr id="7" name="Rectangle 6"/>
          <p:cNvSpPr/>
          <p:nvPr/>
        </p:nvSpPr>
        <p:spPr>
          <a:xfrm>
            <a:off x="4964460"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964460"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RANKING &amp;</a:t>
            </a:r>
          </a:p>
          <a:p>
            <a:pPr algn="ctr">
              <a:lnSpc>
                <a:spcPct val="95000"/>
              </a:lnSpc>
              <a:spcAft>
                <a:spcPts val="0"/>
              </a:spcAft>
            </a:pPr>
            <a:r>
              <a:rPr sz="750" b="1">
                <a:solidFill>
                  <a:srgbClr val="A44C1F"/>
                </a:solidFill>
                <a:latin typeface="Segoe UI"/>
              </a:rPr>
              <a:t>FAIRNESS</a:t>
            </a:r>
          </a:p>
        </p:txBody>
      </p:sp>
      <p:sp>
        <p:nvSpPr>
          <p:cNvPr id="9" name="Rectangle 8"/>
          <p:cNvSpPr/>
          <p:nvPr/>
        </p:nvSpPr>
        <p:spPr>
          <a:xfrm>
            <a:off x="7282098"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82098"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OPTIMISATION</a:t>
            </a:r>
          </a:p>
          <a:p>
            <a:pPr algn="ctr">
              <a:lnSpc>
                <a:spcPct val="95000"/>
              </a:lnSpc>
              <a:spcAft>
                <a:spcPts val="0"/>
              </a:spcAft>
            </a:pPr>
            <a:r>
              <a:rPr sz="750" b="1">
                <a:solidFill>
                  <a:srgbClr val="A44C1F"/>
                </a:solidFill>
                <a:latin typeface="Segoe UI"/>
              </a:rPr>
              <a:t>&amp; VALIDATION</a:t>
            </a:r>
          </a:p>
        </p:txBody>
      </p:sp>
      <p:sp>
        <p:nvSpPr>
          <p:cNvPr id="11" name="Rectangle 10"/>
          <p:cNvSpPr/>
          <p:nvPr/>
        </p:nvSpPr>
        <p:spPr>
          <a:xfrm>
            <a:off x="9599736"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99736"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RETRIEVAL,</a:t>
            </a:r>
          </a:p>
          <a:p>
            <a:pPr algn="ctr">
              <a:lnSpc>
                <a:spcPct val="95000"/>
              </a:lnSpc>
              <a:spcAft>
                <a:spcPts val="0"/>
              </a:spcAft>
            </a:pPr>
            <a:r>
              <a:rPr sz="750" b="1">
                <a:solidFill>
                  <a:srgbClr val="A44C1F"/>
                </a:solidFill>
                <a:latin typeface="Segoe UI"/>
              </a:rPr>
              <a:t>TRUST &amp; RESULTS</a:t>
            </a:r>
          </a:p>
        </p:txBody>
      </p:sp>
      <p:sp>
        <p:nvSpPr>
          <p:cNvPr id="13" name="TextBox 12"/>
          <p:cNvSpPr txBox="1"/>
          <p:nvPr/>
        </p:nvSpPr>
        <p:spPr>
          <a:xfrm>
            <a:off x="329184" y="804672"/>
            <a:ext cx="11533327" cy="292608"/>
          </a:xfrm>
          <a:prstGeom prst="rect">
            <a:avLst/>
          </a:prstGeom>
          <a:noFill/>
        </p:spPr>
        <p:txBody>
          <a:bodyPr wrap="square" lIns="0" rIns="0" tIns="0" bIns="0" anchor="t">
            <a:spAutoFit/>
          </a:bodyPr>
          <a:lstStyle/>
          <a:p>
            <a:pPr algn="l">
              <a:lnSpc>
                <a:spcPct val="100000"/>
              </a:lnSpc>
              <a:spcAft>
                <a:spcPts val="0"/>
              </a:spcAft>
            </a:pPr>
            <a:r>
              <a:rPr sz="1700" b="1">
                <a:solidFill>
                  <a:srgbClr val="23306B"/>
                </a:solidFill>
                <a:latin typeface="Segoe UI"/>
              </a:rPr>
              <a:t>SYSTEM ARCHITECTURE &amp; TECHNOLOGY STACK</a:t>
            </a:r>
          </a:p>
        </p:txBody>
      </p:sp>
      <p:sp>
        <p:nvSpPr>
          <p:cNvPr id="14" name="Rectangle 13"/>
          <p:cNvSpPr/>
          <p:nvPr/>
        </p:nvSpPr>
        <p:spPr>
          <a:xfrm>
            <a:off x="329184" y="1133856"/>
            <a:ext cx="11533327" cy="20116"/>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29184" y="1298448"/>
            <a:ext cx="5577840" cy="274320"/>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20623" y="1348739"/>
            <a:ext cx="5394959"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REQUEST PATH — GENERATE AN ITINERARY</a:t>
            </a:r>
          </a:p>
        </p:txBody>
      </p:sp>
      <p:sp>
        <p:nvSpPr>
          <p:cNvPr id="17" name="Rectangle 16"/>
          <p:cNvSpPr/>
          <p:nvPr/>
        </p:nvSpPr>
        <p:spPr>
          <a:xfrm>
            <a:off x="329184" y="1572768"/>
            <a:ext cx="5577840" cy="2286000"/>
          </a:xfrm>
          <a:prstGeom prst="rect">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38912" y="1682496"/>
            <a:ext cx="256032" cy="256032"/>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38912" y="1723644"/>
            <a:ext cx="256032" cy="182880"/>
          </a:xfrm>
          <a:prstGeom prst="rect">
            <a:avLst/>
          </a:prstGeom>
          <a:noFill/>
        </p:spPr>
        <p:txBody>
          <a:bodyPr wrap="square" lIns="0" rIns="0" tIns="0" bIns="0" anchor="t">
            <a:spAutoFit/>
          </a:bodyPr>
          <a:lstStyle/>
          <a:p>
            <a:pPr algn="ctr">
              <a:lnSpc>
                <a:spcPct val="100000"/>
              </a:lnSpc>
              <a:spcAft>
                <a:spcPts val="0"/>
              </a:spcAft>
            </a:pPr>
            <a:r>
              <a:rPr sz="900" b="1">
                <a:solidFill>
                  <a:srgbClr val="FFFFFF"/>
                </a:solidFill>
                <a:latin typeface="Segoe UI"/>
              </a:rPr>
              <a:t>1</a:t>
            </a:r>
          </a:p>
        </p:txBody>
      </p:sp>
      <p:sp>
        <p:nvSpPr>
          <p:cNvPr id="20" name="TextBox 19"/>
          <p:cNvSpPr txBox="1"/>
          <p:nvPr/>
        </p:nvSpPr>
        <p:spPr>
          <a:xfrm>
            <a:off x="786384" y="1673352"/>
            <a:ext cx="5029200" cy="182880"/>
          </a:xfrm>
          <a:prstGeom prst="rect">
            <a:avLst/>
          </a:prstGeom>
          <a:noFill/>
        </p:spPr>
        <p:txBody>
          <a:bodyPr wrap="square" lIns="0" rIns="0" tIns="0" bIns="0" anchor="t">
            <a:spAutoFit/>
          </a:bodyPr>
          <a:lstStyle/>
          <a:p>
            <a:pPr algn="l">
              <a:lnSpc>
                <a:spcPct val="100000"/>
              </a:lnSpc>
              <a:spcAft>
                <a:spcPts val="0"/>
              </a:spcAft>
            </a:pPr>
            <a:r>
              <a:rPr sz="900" b="1">
                <a:solidFill>
                  <a:srgbClr val="1A1D2E"/>
                </a:solidFill>
                <a:latin typeface="Segoe UI"/>
              </a:rPr>
              <a:t>Next.js 14 client</a:t>
            </a:r>
          </a:p>
        </p:txBody>
      </p:sp>
      <p:sp>
        <p:nvSpPr>
          <p:cNvPr id="21" name="TextBox 20"/>
          <p:cNvSpPr txBox="1"/>
          <p:nvPr/>
        </p:nvSpPr>
        <p:spPr>
          <a:xfrm>
            <a:off x="786384" y="1837944"/>
            <a:ext cx="5029200" cy="182880"/>
          </a:xfrm>
          <a:prstGeom prst="rect">
            <a:avLst/>
          </a:prstGeom>
          <a:noFill/>
        </p:spPr>
        <p:txBody>
          <a:bodyPr wrap="square" lIns="0" rIns="0" tIns="0" bIns="0" anchor="t">
            <a:spAutoFit/>
          </a:bodyPr>
          <a:lstStyle/>
          <a:p>
            <a:pPr algn="l">
              <a:lnSpc>
                <a:spcPct val="100000"/>
              </a:lnSpc>
              <a:spcAft>
                <a:spcPts val="0"/>
              </a:spcAft>
            </a:pPr>
            <a:r>
              <a:rPr sz="760" b="0">
                <a:solidFill>
                  <a:srgbClr val="8A90A6"/>
                </a:solidFill>
                <a:latin typeface="Segoe UI"/>
              </a:rPr>
              <a:t>typed API client, TanStack Query cache</a:t>
            </a:r>
          </a:p>
        </p:txBody>
      </p:sp>
      <p:sp>
        <p:nvSpPr>
          <p:cNvPr id="22" name="Rectangle 21"/>
          <p:cNvSpPr/>
          <p:nvPr/>
        </p:nvSpPr>
        <p:spPr>
          <a:xfrm>
            <a:off x="562356" y="1938528"/>
            <a:ext cx="10972" cy="173736"/>
          </a:xfrm>
          <a:prstGeom prst="rect">
            <a:avLst/>
          </a:prstGeom>
          <a:solidFill>
            <a:srgbClr val="E6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38912" y="2112264"/>
            <a:ext cx="256032" cy="256032"/>
          </a:xfrm>
          <a:prstGeom prst="rect">
            <a:avLst/>
          </a:prstGeom>
          <a:solidFill>
            <a:srgbClr val="4256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38912" y="2153412"/>
            <a:ext cx="256032" cy="182880"/>
          </a:xfrm>
          <a:prstGeom prst="rect">
            <a:avLst/>
          </a:prstGeom>
          <a:noFill/>
        </p:spPr>
        <p:txBody>
          <a:bodyPr wrap="square" lIns="0" rIns="0" tIns="0" bIns="0" anchor="t">
            <a:spAutoFit/>
          </a:bodyPr>
          <a:lstStyle/>
          <a:p>
            <a:pPr algn="ctr">
              <a:lnSpc>
                <a:spcPct val="100000"/>
              </a:lnSpc>
              <a:spcAft>
                <a:spcPts val="0"/>
              </a:spcAft>
            </a:pPr>
            <a:r>
              <a:rPr sz="900" b="1">
                <a:solidFill>
                  <a:srgbClr val="FFFFFF"/>
                </a:solidFill>
                <a:latin typeface="Segoe UI"/>
              </a:rPr>
              <a:t>2</a:t>
            </a:r>
          </a:p>
        </p:txBody>
      </p:sp>
      <p:sp>
        <p:nvSpPr>
          <p:cNvPr id="25" name="TextBox 24"/>
          <p:cNvSpPr txBox="1"/>
          <p:nvPr/>
        </p:nvSpPr>
        <p:spPr>
          <a:xfrm>
            <a:off x="786384" y="2103120"/>
            <a:ext cx="5029200" cy="182880"/>
          </a:xfrm>
          <a:prstGeom prst="rect">
            <a:avLst/>
          </a:prstGeom>
          <a:noFill/>
        </p:spPr>
        <p:txBody>
          <a:bodyPr wrap="square" lIns="0" rIns="0" tIns="0" bIns="0" anchor="t">
            <a:spAutoFit/>
          </a:bodyPr>
          <a:lstStyle/>
          <a:p>
            <a:pPr algn="l">
              <a:lnSpc>
                <a:spcPct val="100000"/>
              </a:lnSpc>
              <a:spcAft>
                <a:spcPts val="0"/>
              </a:spcAft>
            </a:pPr>
            <a:r>
              <a:rPr sz="900" b="1">
                <a:solidFill>
                  <a:srgbClr val="1A1D2E"/>
                </a:solidFill>
                <a:latin typeface="Segoe UI"/>
              </a:rPr>
              <a:t>FastAPI route</a:t>
            </a:r>
          </a:p>
        </p:txBody>
      </p:sp>
      <p:sp>
        <p:nvSpPr>
          <p:cNvPr id="26" name="TextBox 25"/>
          <p:cNvSpPr txBox="1"/>
          <p:nvPr/>
        </p:nvSpPr>
        <p:spPr>
          <a:xfrm>
            <a:off x="786384" y="2267712"/>
            <a:ext cx="5029200" cy="182880"/>
          </a:xfrm>
          <a:prstGeom prst="rect">
            <a:avLst/>
          </a:prstGeom>
          <a:noFill/>
        </p:spPr>
        <p:txBody>
          <a:bodyPr wrap="square" lIns="0" rIns="0" tIns="0" bIns="0" anchor="t">
            <a:spAutoFit/>
          </a:bodyPr>
          <a:lstStyle/>
          <a:p>
            <a:pPr algn="l">
              <a:lnSpc>
                <a:spcPct val="100000"/>
              </a:lnSpc>
              <a:spcAft>
                <a:spcPts val="0"/>
              </a:spcAft>
            </a:pPr>
            <a:r>
              <a:rPr sz="760" b="0">
                <a:solidFill>
                  <a:srgbClr val="8A90A6"/>
                </a:solidFill>
                <a:latin typeface="Segoe UI"/>
              </a:rPr>
              <a:t>Pydantic validation · JWT · rate limit tier</a:t>
            </a:r>
          </a:p>
        </p:txBody>
      </p:sp>
      <p:sp>
        <p:nvSpPr>
          <p:cNvPr id="27" name="Rectangle 26"/>
          <p:cNvSpPr/>
          <p:nvPr/>
        </p:nvSpPr>
        <p:spPr>
          <a:xfrm>
            <a:off x="562356" y="2368296"/>
            <a:ext cx="10972" cy="173736"/>
          </a:xfrm>
          <a:prstGeom prst="rect">
            <a:avLst/>
          </a:prstGeom>
          <a:solidFill>
            <a:srgbClr val="E6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38912" y="2542032"/>
            <a:ext cx="256032" cy="256032"/>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38912" y="2583180"/>
            <a:ext cx="256032" cy="182880"/>
          </a:xfrm>
          <a:prstGeom prst="rect">
            <a:avLst/>
          </a:prstGeom>
          <a:noFill/>
        </p:spPr>
        <p:txBody>
          <a:bodyPr wrap="square" lIns="0" rIns="0" tIns="0" bIns="0" anchor="t">
            <a:spAutoFit/>
          </a:bodyPr>
          <a:lstStyle/>
          <a:p>
            <a:pPr algn="ctr">
              <a:lnSpc>
                <a:spcPct val="100000"/>
              </a:lnSpc>
              <a:spcAft>
                <a:spcPts val="0"/>
              </a:spcAft>
            </a:pPr>
            <a:r>
              <a:rPr sz="900" b="1">
                <a:solidFill>
                  <a:srgbClr val="FFFFFF"/>
                </a:solidFill>
                <a:latin typeface="Segoe UI"/>
              </a:rPr>
              <a:t>3</a:t>
            </a:r>
          </a:p>
        </p:txBody>
      </p:sp>
      <p:sp>
        <p:nvSpPr>
          <p:cNvPr id="30" name="TextBox 29"/>
          <p:cNvSpPr txBox="1"/>
          <p:nvPr/>
        </p:nvSpPr>
        <p:spPr>
          <a:xfrm>
            <a:off x="786384" y="2532888"/>
            <a:ext cx="5029200" cy="182880"/>
          </a:xfrm>
          <a:prstGeom prst="rect">
            <a:avLst/>
          </a:prstGeom>
          <a:noFill/>
        </p:spPr>
        <p:txBody>
          <a:bodyPr wrap="square" lIns="0" rIns="0" tIns="0" bIns="0" anchor="t">
            <a:spAutoFit/>
          </a:bodyPr>
          <a:lstStyle/>
          <a:p>
            <a:pPr algn="l">
              <a:lnSpc>
                <a:spcPct val="100000"/>
              </a:lnSpc>
              <a:spcAft>
                <a:spcPts val="0"/>
              </a:spcAft>
            </a:pPr>
            <a:r>
              <a:rPr sz="900" b="1">
                <a:solidFill>
                  <a:srgbClr val="1A1D2E"/>
                </a:solidFill>
                <a:latin typeface="Segoe UI"/>
              </a:rPr>
              <a:t>Planner pipeline</a:t>
            </a:r>
          </a:p>
        </p:txBody>
      </p:sp>
      <p:sp>
        <p:nvSpPr>
          <p:cNvPr id="31" name="TextBox 30"/>
          <p:cNvSpPr txBox="1"/>
          <p:nvPr/>
        </p:nvSpPr>
        <p:spPr>
          <a:xfrm>
            <a:off x="786384" y="2697480"/>
            <a:ext cx="5029200" cy="182880"/>
          </a:xfrm>
          <a:prstGeom prst="rect">
            <a:avLst/>
          </a:prstGeom>
          <a:noFill/>
        </p:spPr>
        <p:txBody>
          <a:bodyPr wrap="square" lIns="0" rIns="0" tIns="0" bIns="0" anchor="t">
            <a:spAutoFit/>
          </a:bodyPr>
          <a:lstStyle/>
          <a:p>
            <a:pPr algn="l">
              <a:lnSpc>
                <a:spcPct val="100000"/>
              </a:lnSpc>
              <a:spcAft>
                <a:spcPts val="0"/>
              </a:spcAft>
            </a:pPr>
            <a:r>
              <a:rPr sz="760" b="0">
                <a:solidFill>
                  <a:srgbClr val="8A90A6"/>
                </a:solidFill>
                <a:latin typeface="Segoe UI"/>
              </a:rPr>
              <a:t>8 stages, pure-Python domain objects</a:t>
            </a:r>
          </a:p>
        </p:txBody>
      </p:sp>
      <p:sp>
        <p:nvSpPr>
          <p:cNvPr id="32" name="Rectangle 31"/>
          <p:cNvSpPr/>
          <p:nvPr/>
        </p:nvSpPr>
        <p:spPr>
          <a:xfrm>
            <a:off x="562356" y="2798064"/>
            <a:ext cx="10972" cy="173736"/>
          </a:xfrm>
          <a:prstGeom prst="rect">
            <a:avLst/>
          </a:prstGeom>
          <a:solidFill>
            <a:srgbClr val="E6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38912" y="2971800"/>
            <a:ext cx="256032" cy="256032"/>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438912" y="3012948"/>
            <a:ext cx="256032" cy="182880"/>
          </a:xfrm>
          <a:prstGeom prst="rect">
            <a:avLst/>
          </a:prstGeom>
          <a:noFill/>
        </p:spPr>
        <p:txBody>
          <a:bodyPr wrap="square" lIns="0" rIns="0" tIns="0" bIns="0" anchor="t">
            <a:spAutoFit/>
          </a:bodyPr>
          <a:lstStyle/>
          <a:p>
            <a:pPr algn="ctr">
              <a:lnSpc>
                <a:spcPct val="100000"/>
              </a:lnSpc>
              <a:spcAft>
                <a:spcPts val="0"/>
              </a:spcAft>
            </a:pPr>
            <a:r>
              <a:rPr sz="900" b="1">
                <a:solidFill>
                  <a:srgbClr val="FFFFFF"/>
                </a:solidFill>
                <a:latin typeface="Segoe UI"/>
              </a:rPr>
              <a:t>4</a:t>
            </a:r>
          </a:p>
        </p:txBody>
      </p:sp>
      <p:sp>
        <p:nvSpPr>
          <p:cNvPr id="35" name="TextBox 34"/>
          <p:cNvSpPr txBox="1"/>
          <p:nvPr/>
        </p:nvSpPr>
        <p:spPr>
          <a:xfrm>
            <a:off x="786384" y="2962656"/>
            <a:ext cx="5029200" cy="182880"/>
          </a:xfrm>
          <a:prstGeom prst="rect">
            <a:avLst/>
          </a:prstGeom>
          <a:noFill/>
        </p:spPr>
        <p:txBody>
          <a:bodyPr wrap="square" lIns="0" rIns="0" tIns="0" bIns="0" anchor="t">
            <a:spAutoFit/>
          </a:bodyPr>
          <a:lstStyle/>
          <a:p>
            <a:pPr algn="l">
              <a:lnSpc>
                <a:spcPct val="100000"/>
              </a:lnSpc>
              <a:spcAft>
                <a:spcPts val="0"/>
              </a:spcAft>
            </a:pPr>
            <a:r>
              <a:rPr sz="900" b="1">
                <a:solidFill>
                  <a:srgbClr val="1A1D2E"/>
                </a:solidFill>
                <a:latin typeface="Segoe UI"/>
              </a:rPr>
              <a:t>OR-Tools CP-SAT</a:t>
            </a:r>
          </a:p>
        </p:txBody>
      </p:sp>
      <p:sp>
        <p:nvSpPr>
          <p:cNvPr id="36" name="TextBox 35"/>
          <p:cNvSpPr txBox="1"/>
          <p:nvPr/>
        </p:nvSpPr>
        <p:spPr>
          <a:xfrm>
            <a:off x="786384" y="3127248"/>
            <a:ext cx="5029200" cy="182880"/>
          </a:xfrm>
          <a:prstGeom prst="rect">
            <a:avLst/>
          </a:prstGeom>
          <a:noFill/>
        </p:spPr>
        <p:txBody>
          <a:bodyPr wrap="square" lIns="0" rIns="0" tIns="0" bIns="0" anchor="t">
            <a:spAutoFit/>
          </a:bodyPr>
          <a:lstStyle/>
          <a:p>
            <a:pPr algn="l">
              <a:lnSpc>
                <a:spcPct val="100000"/>
              </a:lnSpc>
              <a:spcAft>
                <a:spcPts val="0"/>
              </a:spcAft>
            </a:pPr>
            <a:r>
              <a:rPr sz="760" b="0">
                <a:solidFill>
                  <a:srgbClr val="8A90A6"/>
                </a:solidFill>
                <a:latin typeface="Segoe UI"/>
              </a:rPr>
              <a:t>one model per day, deterministic</a:t>
            </a:r>
          </a:p>
        </p:txBody>
      </p:sp>
      <p:sp>
        <p:nvSpPr>
          <p:cNvPr id="37" name="Rectangle 36"/>
          <p:cNvSpPr/>
          <p:nvPr/>
        </p:nvSpPr>
        <p:spPr>
          <a:xfrm>
            <a:off x="562356" y="3227832"/>
            <a:ext cx="10972" cy="173736"/>
          </a:xfrm>
          <a:prstGeom prst="rect">
            <a:avLst/>
          </a:prstGeom>
          <a:solidFill>
            <a:srgbClr val="E6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438912" y="3401568"/>
            <a:ext cx="256032" cy="256032"/>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38912" y="3442715"/>
            <a:ext cx="256032" cy="182880"/>
          </a:xfrm>
          <a:prstGeom prst="rect">
            <a:avLst/>
          </a:prstGeom>
          <a:noFill/>
        </p:spPr>
        <p:txBody>
          <a:bodyPr wrap="square" lIns="0" rIns="0" tIns="0" bIns="0" anchor="t">
            <a:spAutoFit/>
          </a:bodyPr>
          <a:lstStyle/>
          <a:p>
            <a:pPr algn="ctr">
              <a:lnSpc>
                <a:spcPct val="100000"/>
              </a:lnSpc>
              <a:spcAft>
                <a:spcPts val="0"/>
              </a:spcAft>
            </a:pPr>
            <a:r>
              <a:rPr sz="900" b="1">
                <a:solidFill>
                  <a:srgbClr val="FFFFFF"/>
                </a:solidFill>
                <a:latin typeface="Segoe UI"/>
              </a:rPr>
              <a:t>5</a:t>
            </a:r>
          </a:p>
        </p:txBody>
      </p:sp>
      <p:sp>
        <p:nvSpPr>
          <p:cNvPr id="40" name="TextBox 39"/>
          <p:cNvSpPr txBox="1"/>
          <p:nvPr/>
        </p:nvSpPr>
        <p:spPr>
          <a:xfrm>
            <a:off x="786384" y="3392424"/>
            <a:ext cx="5029200" cy="182880"/>
          </a:xfrm>
          <a:prstGeom prst="rect">
            <a:avLst/>
          </a:prstGeom>
          <a:noFill/>
        </p:spPr>
        <p:txBody>
          <a:bodyPr wrap="square" lIns="0" rIns="0" tIns="0" bIns="0" anchor="t">
            <a:spAutoFit/>
          </a:bodyPr>
          <a:lstStyle/>
          <a:p>
            <a:pPr algn="l">
              <a:lnSpc>
                <a:spcPct val="100000"/>
              </a:lnSpc>
              <a:spcAft>
                <a:spcPts val="0"/>
              </a:spcAft>
            </a:pPr>
            <a:r>
              <a:rPr sz="900" b="1">
                <a:solidFill>
                  <a:srgbClr val="1A1D2E"/>
                </a:solidFill>
                <a:latin typeface="Segoe UI"/>
              </a:rPr>
              <a:t>Validator + persist</a:t>
            </a:r>
          </a:p>
        </p:txBody>
      </p:sp>
      <p:sp>
        <p:nvSpPr>
          <p:cNvPr id="41" name="TextBox 40"/>
          <p:cNvSpPr txBox="1"/>
          <p:nvPr/>
        </p:nvSpPr>
        <p:spPr>
          <a:xfrm>
            <a:off x="786384" y="3557015"/>
            <a:ext cx="5029200" cy="182880"/>
          </a:xfrm>
          <a:prstGeom prst="rect">
            <a:avLst/>
          </a:prstGeom>
          <a:noFill/>
        </p:spPr>
        <p:txBody>
          <a:bodyPr wrap="square" lIns="0" rIns="0" tIns="0" bIns="0" anchor="t">
            <a:spAutoFit/>
          </a:bodyPr>
          <a:lstStyle/>
          <a:p>
            <a:pPr algn="l">
              <a:lnSpc>
                <a:spcPct val="100000"/>
              </a:lnSpc>
              <a:spcAft>
                <a:spcPts val="0"/>
              </a:spcAft>
            </a:pPr>
            <a:r>
              <a:rPr sz="760" b="0">
                <a:solidFill>
                  <a:srgbClr val="8A90A6"/>
                </a:solidFill>
                <a:latin typeface="Segoe UI"/>
              </a:rPr>
              <a:t>15 checks, then SQLAlchemy write</a:t>
            </a:r>
          </a:p>
        </p:txBody>
      </p:sp>
      <p:sp>
        <p:nvSpPr>
          <p:cNvPr id="42" name="Rectangle 41"/>
          <p:cNvSpPr/>
          <p:nvPr/>
        </p:nvSpPr>
        <p:spPr>
          <a:xfrm>
            <a:off x="6089904" y="1298448"/>
            <a:ext cx="5772607" cy="274320"/>
          </a:xfrm>
          <a:prstGeom prst="rect">
            <a:avLst/>
          </a:prstGeom>
          <a:solidFill>
            <a:srgbClr val="4256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181344" y="1348739"/>
            <a:ext cx="5589727"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STACK BY LAYER</a:t>
            </a:r>
          </a:p>
        </p:txBody>
      </p:sp>
      <p:graphicFrame>
        <p:nvGraphicFramePr>
          <p:cNvPr id="44" name="Table 43"/>
          <p:cNvGraphicFramePr>
            <a:graphicFrameLocks noGrp="1"/>
          </p:cNvGraphicFramePr>
          <p:nvPr/>
        </p:nvGraphicFramePr>
        <p:xfrm>
          <a:off x="6089904" y="1572768"/>
          <a:ext cx="5772607" cy="2272284"/>
        </p:xfrm>
        <a:graphic>
          <a:graphicData uri="http://schemas.openxmlformats.org/drawingml/2006/table">
            <a:tbl>
              <a:tblPr>
                <a:tableStyleId>{5C22544A-7EE6-4342-B048-85BDC9FD1C3A}</a:tableStyleId>
              </a:tblPr>
              <a:tblGrid>
                <a:gridCol w="1660613"/>
                <a:gridCol w="4111994"/>
              </a:tblGrid>
              <a:tr h="256032">
                <a:tc>
                  <a:txBody>
                    <a:bodyPr wrap="square"/>
                    <a:lstStyle/>
                    <a:p>
                      <a:pPr algn="l"/>
                      <a:r>
                        <a:rPr sz="740" b="1">
                          <a:solidFill>
                            <a:srgbClr val="FFFFFF"/>
                          </a:solidFill>
                          <a:latin typeface="Segoe UI"/>
                        </a:rPr>
                        <a:t>LAYER</a:t>
                      </a:r>
                    </a:p>
                  </a:txBody>
                  <a:tcPr marL="54864" marR="54864" marT="18288" marB="18288" anchor="ctr">
                    <a:solidFill>
                      <a:srgbClr val="23306B"/>
                    </a:solidFill>
                  </a:tcPr>
                </a:tc>
                <a:tc>
                  <a:txBody>
                    <a:bodyPr wrap="square"/>
                    <a:lstStyle/>
                    <a:p>
                      <a:pPr algn="l"/>
                      <a:r>
                        <a:rPr sz="740" b="1">
                          <a:solidFill>
                            <a:srgbClr val="FFFFFF"/>
                          </a:solidFill>
                          <a:latin typeface="Segoe UI"/>
                        </a:rPr>
                        <a:t>TECHNOLOGY</a:t>
                      </a:r>
                    </a:p>
                  </a:txBody>
                  <a:tcPr marL="54864" marR="54864" marT="18288" marB="18288" anchor="ctr">
                    <a:solidFill>
                      <a:srgbClr val="23306B"/>
                    </a:solidFill>
                  </a:tcPr>
                </a:tc>
              </a:tr>
              <a:tr h="224028">
                <a:tc>
                  <a:txBody>
                    <a:bodyPr wrap="square"/>
                    <a:lstStyle/>
                    <a:p>
                      <a:pPr algn="l"/>
                      <a:r>
                        <a:rPr sz="740" b="1">
                          <a:solidFill>
                            <a:srgbClr val="1A1D2E"/>
                          </a:solidFill>
                          <a:latin typeface="Segoe UI"/>
                        </a:rPr>
                        <a:t>Frontend</a:t>
                      </a:r>
                    </a:p>
                  </a:txBody>
                  <a:tcPr marL="54864" marR="54864" marT="18288" marB="18288" anchor="ctr">
                    <a:solidFill>
                      <a:srgbClr val="FFFFFF"/>
                    </a:solidFill>
                  </a:tcPr>
                </a:tc>
                <a:tc>
                  <a:txBody>
                    <a:bodyPr wrap="square"/>
                    <a:lstStyle/>
                    <a:p>
                      <a:pPr algn="l"/>
                      <a:r>
                        <a:rPr sz="740" b="0">
                          <a:solidFill>
                            <a:srgbClr val="1A1D2E"/>
                          </a:solidFill>
                          <a:latin typeface="Segoe UI"/>
                        </a:rPr>
                        <a:t>Next.js 14 (App Router) · TypeScript strict · Tailwind · TanStack Query · Recharts · react-leaflet</a:t>
                      </a:r>
                    </a:p>
                  </a:txBody>
                  <a:tcPr marL="54864" marR="54864" marT="18288" marB="18288" anchor="ctr">
                    <a:solidFill>
                      <a:srgbClr val="FFFFFF"/>
                    </a:solidFill>
                  </a:tcPr>
                </a:tc>
              </a:tr>
              <a:tr h="224028">
                <a:tc>
                  <a:txBody>
                    <a:bodyPr wrap="square"/>
                    <a:lstStyle/>
                    <a:p>
                      <a:pPr algn="l"/>
                      <a:r>
                        <a:rPr sz="740" b="1">
                          <a:solidFill>
                            <a:srgbClr val="1A1D2E"/>
                          </a:solidFill>
                          <a:latin typeface="Segoe UI"/>
                        </a:rPr>
                        <a:t>API</a:t>
                      </a:r>
                    </a:p>
                  </a:txBody>
                  <a:tcPr marL="54864" marR="54864" marT="18288" marB="18288" anchor="ctr">
                    <a:solidFill>
                      <a:srgbClr val="FDFBF7"/>
                    </a:solidFill>
                  </a:tcPr>
                </a:tc>
                <a:tc>
                  <a:txBody>
                    <a:bodyPr wrap="square"/>
                    <a:lstStyle/>
                    <a:p>
                      <a:pPr algn="l"/>
                      <a:r>
                        <a:rPr sz="740" b="0">
                          <a:solidFill>
                            <a:srgbClr val="1A1D2E"/>
                          </a:solidFill>
                          <a:latin typeface="Segoe UI"/>
                        </a:rPr>
                        <a:t>FastAPI · Pydantic v2 · pydantic-settings · structlog</a:t>
                      </a:r>
                    </a:p>
                  </a:txBody>
                  <a:tcPr marL="54864" marR="54864" marT="18288" marB="18288" anchor="ctr">
                    <a:solidFill>
                      <a:srgbClr val="FDFBF7"/>
                    </a:solidFill>
                  </a:tcPr>
                </a:tc>
              </a:tr>
              <a:tr h="224028">
                <a:tc>
                  <a:txBody>
                    <a:bodyPr wrap="square"/>
                    <a:lstStyle/>
                    <a:p>
                      <a:pPr algn="l"/>
                      <a:r>
                        <a:rPr sz="740" b="1">
                          <a:solidFill>
                            <a:srgbClr val="1A1D2E"/>
                          </a:solidFill>
                          <a:latin typeface="Segoe UI"/>
                        </a:rPr>
                        <a:t>Persistence</a:t>
                      </a:r>
                    </a:p>
                  </a:txBody>
                  <a:tcPr marL="54864" marR="54864" marT="18288" marB="18288" anchor="ctr">
                    <a:solidFill>
                      <a:srgbClr val="FFFFFF"/>
                    </a:solidFill>
                  </a:tcPr>
                </a:tc>
                <a:tc>
                  <a:txBody>
                    <a:bodyPr wrap="square"/>
                    <a:lstStyle/>
                    <a:p>
                      <a:pPr algn="l"/>
                      <a:r>
                        <a:rPr sz="740" b="0">
                          <a:solidFill>
                            <a:srgbClr val="1A1D2E"/>
                          </a:solidFill>
                          <a:latin typeface="Segoe UI"/>
                        </a:rPr>
                        <a:t>SQLAlchemy 2.0 · Alembic · PostgreSQL + pgvector, portable to SQLite</a:t>
                      </a:r>
                    </a:p>
                  </a:txBody>
                  <a:tcPr marL="54864" marR="54864" marT="18288" marB="18288" anchor="ctr">
                    <a:solidFill>
                      <a:srgbClr val="FFFFFF"/>
                    </a:solidFill>
                  </a:tcPr>
                </a:tc>
              </a:tr>
              <a:tr h="224028">
                <a:tc>
                  <a:txBody>
                    <a:bodyPr wrap="square"/>
                    <a:lstStyle/>
                    <a:p>
                      <a:pPr algn="l"/>
                      <a:r>
                        <a:rPr sz="740" b="1">
                          <a:solidFill>
                            <a:srgbClr val="1A1D2E"/>
                          </a:solidFill>
                          <a:latin typeface="Segoe UI"/>
                        </a:rPr>
                        <a:t>Optimisation</a:t>
                      </a:r>
                    </a:p>
                  </a:txBody>
                  <a:tcPr marL="54864" marR="54864" marT="18288" marB="18288" anchor="ctr">
                    <a:solidFill>
                      <a:srgbClr val="FDFBF7"/>
                    </a:solidFill>
                  </a:tcPr>
                </a:tc>
                <a:tc>
                  <a:txBody>
                    <a:bodyPr wrap="square"/>
                    <a:lstStyle/>
                    <a:p>
                      <a:pPr algn="l"/>
                      <a:r>
                        <a:rPr sz="740" b="0">
                          <a:solidFill>
                            <a:srgbClr val="1A1D2E"/>
                          </a:solidFill>
                          <a:latin typeface="Segoe UI"/>
                        </a:rPr>
                        <a:t>Google OR-Tools CP-SAT</a:t>
                      </a:r>
                    </a:p>
                  </a:txBody>
                  <a:tcPr marL="54864" marR="54864" marT="18288" marB="18288" anchor="ctr">
                    <a:solidFill>
                      <a:srgbClr val="FDFBF7"/>
                    </a:solidFill>
                  </a:tcPr>
                </a:tc>
              </a:tr>
              <a:tr h="224028">
                <a:tc>
                  <a:txBody>
                    <a:bodyPr wrap="square"/>
                    <a:lstStyle/>
                    <a:p>
                      <a:pPr algn="l"/>
                      <a:r>
                        <a:rPr sz="740" b="1">
                          <a:solidFill>
                            <a:srgbClr val="1A1D2E"/>
                          </a:solidFill>
                          <a:latin typeface="Segoe UI"/>
                        </a:rPr>
                        <a:t>ML / science</a:t>
                      </a:r>
                    </a:p>
                  </a:txBody>
                  <a:tcPr marL="54864" marR="54864" marT="18288" marB="18288" anchor="ctr">
                    <a:solidFill>
                      <a:srgbClr val="FFFFFF"/>
                    </a:solidFill>
                  </a:tcPr>
                </a:tc>
                <a:tc>
                  <a:txBody>
                    <a:bodyPr wrap="square"/>
                    <a:lstStyle/>
                    <a:p>
                      <a:pPr algn="l"/>
                      <a:r>
                        <a:rPr sz="740" b="0">
                          <a:solidFill>
                            <a:srgbClr val="1A1D2E"/>
                          </a:solidFill>
                          <a:latin typeface="Segoe UI"/>
                        </a:rPr>
                        <a:t>NumPy · pandas · scikit-learn · Pandera</a:t>
                      </a:r>
                    </a:p>
                  </a:txBody>
                  <a:tcPr marL="54864" marR="54864" marT="18288" marB="18288" anchor="ctr">
                    <a:solidFill>
                      <a:srgbClr val="FFFFFF"/>
                    </a:solidFill>
                  </a:tcPr>
                </a:tc>
              </a:tr>
              <a:tr h="224028">
                <a:tc>
                  <a:txBody>
                    <a:bodyPr wrap="square"/>
                    <a:lstStyle/>
                    <a:p>
                      <a:pPr algn="l"/>
                      <a:r>
                        <a:rPr sz="740" b="1">
                          <a:solidFill>
                            <a:srgbClr val="1A1D2E"/>
                          </a:solidFill>
                          <a:latin typeface="Segoe UI"/>
                        </a:rPr>
                        <a:t>Data pipeline</a:t>
                      </a:r>
                    </a:p>
                  </a:txBody>
                  <a:tcPr marL="54864" marR="54864" marT="18288" marB="18288" anchor="ctr">
                    <a:solidFill>
                      <a:srgbClr val="FDFBF7"/>
                    </a:solidFill>
                  </a:tcPr>
                </a:tc>
                <a:tc>
                  <a:txBody>
                    <a:bodyPr wrap="square"/>
                    <a:lstStyle/>
                    <a:p>
                      <a:pPr algn="l"/>
                      <a:r>
                        <a:rPr sz="740" b="0">
                          <a:solidFill>
                            <a:srgbClr val="1A1D2E"/>
                          </a:solidFill>
                          <a:latin typeface="Segoe UI"/>
                        </a:rPr>
                        <a:t>Bronze/Silver/Gold medallion · Airflow DAGs · pyarrow</a:t>
                      </a:r>
                    </a:p>
                  </a:txBody>
                  <a:tcPr marL="54864" marR="54864" marT="18288" marB="18288" anchor="ctr">
                    <a:solidFill>
                      <a:srgbClr val="FDFBF7"/>
                    </a:solidFill>
                  </a:tcPr>
                </a:tc>
              </a:tr>
              <a:tr h="224028">
                <a:tc>
                  <a:txBody>
                    <a:bodyPr wrap="square"/>
                    <a:lstStyle/>
                    <a:p>
                      <a:pPr algn="l"/>
                      <a:r>
                        <a:rPr sz="740" b="1">
                          <a:solidFill>
                            <a:srgbClr val="1A1D2E"/>
                          </a:solidFill>
                          <a:latin typeface="Segoe UI"/>
                        </a:rPr>
                        <a:t>Security</a:t>
                      </a:r>
                    </a:p>
                  </a:txBody>
                  <a:tcPr marL="54864" marR="54864" marT="18288" marB="18288" anchor="ctr">
                    <a:solidFill>
                      <a:srgbClr val="FFFFFF"/>
                    </a:solidFill>
                  </a:tcPr>
                </a:tc>
                <a:tc>
                  <a:txBody>
                    <a:bodyPr wrap="square"/>
                    <a:lstStyle/>
                    <a:p>
                      <a:pPr algn="l"/>
                      <a:r>
                        <a:rPr sz="740" b="0">
                          <a:solidFill>
                            <a:srgbClr val="1A1D2E"/>
                          </a:solidFill>
                          <a:latin typeface="Segoe UI"/>
                        </a:rPr>
                        <a:t>PyJWT (HS256) · bcrypt · in-process sliding-window limiter</a:t>
                      </a:r>
                    </a:p>
                  </a:txBody>
                  <a:tcPr marL="54864" marR="54864" marT="18288" marB="18288" anchor="ctr">
                    <a:solidFill>
                      <a:srgbClr val="FFFFFF"/>
                    </a:solidFill>
                  </a:tcPr>
                </a:tc>
              </a:tr>
              <a:tr h="224028">
                <a:tc>
                  <a:txBody>
                    <a:bodyPr wrap="square"/>
                    <a:lstStyle/>
                    <a:p>
                      <a:pPr algn="l"/>
                      <a:r>
                        <a:rPr sz="740" b="1">
                          <a:solidFill>
                            <a:srgbClr val="1A1D2E"/>
                          </a:solidFill>
                          <a:latin typeface="Segoe UI"/>
                        </a:rPr>
                        <a:t>Testing / CI</a:t>
                      </a:r>
                    </a:p>
                  </a:txBody>
                  <a:tcPr marL="54864" marR="54864" marT="18288" marB="18288" anchor="ctr">
                    <a:solidFill>
                      <a:srgbClr val="FDFBF7"/>
                    </a:solidFill>
                  </a:tcPr>
                </a:tc>
                <a:tc>
                  <a:txBody>
                    <a:bodyPr wrap="square"/>
                    <a:lstStyle/>
                    <a:p>
                      <a:pPr algn="l"/>
                      <a:r>
                        <a:rPr sz="740" b="0">
                          <a:solidFill>
                            <a:srgbClr val="1A1D2E"/>
                          </a:solidFill>
                          <a:latin typeface="Segoe UI"/>
                        </a:rPr>
                        <a:t>pytest (295) · Vitest + Testing Library (43) · ruff · mypy · GitHub Actions</a:t>
                      </a:r>
                    </a:p>
                  </a:txBody>
                  <a:tcPr marL="54864" marR="54864" marT="18288" marB="18288" anchor="ctr">
                    <a:solidFill>
                      <a:srgbClr val="FDFBF7"/>
                    </a:solidFill>
                  </a:tcPr>
                </a:tc>
              </a:tr>
              <a:tr h="224028">
                <a:tc>
                  <a:txBody>
                    <a:bodyPr wrap="square"/>
                    <a:lstStyle/>
                    <a:p>
                      <a:pPr algn="l"/>
                      <a:r>
                        <a:rPr sz="740" b="1">
                          <a:solidFill>
                            <a:srgbClr val="1A1D2E"/>
                          </a:solidFill>
                          <a:latin typeface="Segoe UI"/>
                        </a:rPr>
                        <a:t>Deploy</a:t>
                      </a:r>
                    </a:p>
                  </a:txBody>
                  <a:tcPr marL="54864" marR="54864" marT="18288" marB="18288" anchor="ctr">
                    <a:solidFill>
                      <a:srgbClr val="FFFFFF"/>
                    </a:solidFill>
                  </a:tcPr>
                </a:tc>
                <a:tc>
                  <a:txBody>
                    <a:bodyPr wrap="square"/>
                    <a:lstStyle/>
                    <a:p>
                      <a:pPr algn="l"/>
                      <a:r>
                        <a:rPr sz="740" b="0">
                          <a:solidFill>
                            <a:srgbClr val="1A1D2E"/>
                          </a:solidFill>
                          <a:latin typeface="Segoe UI"/>
                        </a:rPr>
                        <a:t>Docker multi-stage · Compose · render.yaml · Vercel</a:t>
                      </a:r>
                    </a:p>
                  </a:txBody>
                  <a:tcPr marL="54864" marR="54864" marT="18288" marB="18288" anchor="ctr">
                    <a:solidFill>
                      <a:srgbClr val="FFFFFF"/>
                    </a:solidFill>
                  </a:tcPr>
                </a:tc>
              </a:tr>
            </a:tbl>
          </a:graphicData>
        </a:graphic>
      </p:graphicFrame>
      <p:sp>
        <p:nvSpPr>
          <p:cNvPr id="45" name="Rectangle 44"/>
          <p:cNvSpPr/>
          <p:nvPr/>
        </p:nvSpPr>
        <p:spPr>
          <a:xfrm>
            <a:off x="329184" y="3968496"/>
            <a:ext cx="11533327" cy="274320"/>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420623" y="4018787"/>
            <a:ext cx="11350447"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PROVIDER ABSTRACTION — EVERY EXTERNAL DEPENDENCY IS SWAPPABLE, AND EVERY FALLBACK IS MEASURED</a:t>
            </a:r>
          </a:p>
        </p:txBody>
      </p:sp>
      <p:graphicFrame>
        <p:nvGraphicFramePr>
          <p:cNvPr id="47" name="Table 46"/>
          <p:cNvGraphicFramePr>
            <a:graphicFrameLocks noGrp="1"/>
          </p:cNvGraphicFramePr>
          <p:nvPr/>
        </p:nvGraphicFramePr>
        <p:xfrm>
          <a:off x="329184" y="4261104"/>
          <a:ext cx="11533325" cy="1536192"/>
        </p:xfrm>
        <a:graphic>
          <a:graphicData uri="http://schemas.openxmlformats.org/drawingml/2006/table">
            <a:tbl>
              <a:tblPr>
                <a:tableStyleId>{5C22544A-7EE6-4342-B048-85BDC9FD1C3A}</a:tableStyleId>
              </a:tblPr>
              <a:tblGrid>
                <a:gridCol w="1550178"/>
                <a:gridCol w="1860214"/>
                <a:gridCol w="2356271"/>
                <a:gridCol w="1302149"/>
                <a:gridCol w="4464513"/>
              </a:tblGrid>
              <a:tr h="256032">
                <a:tc>
                  <a:txBody>
                    <a:bodyPr wrap="square"/>
                    <a:lstStyle/>
                    <a:p>
                      <a:pPr algn="l"/>
                      <a:r>
                        <a:rPr sz="740" b="1">
                          <a:solidFill>
                            <a:srgbClr val="FFFFFF"/>
                          </a:solidFill>
                          <a:latin typeface="Segoe UI"/>
                        </a:rPr>
                        <a:t>PROVIDER</a:t>
                      </a:r>
                    </a:p>
                  </a:txBody>
                  <a:tcPr marL="54864" marR="54864" marT="18288" marB="18288" anchor="ctr">
                    <a:solidFill>
                      <a:srgbClr val="0F7B6C"/>
                    </a:solidFill>
                  </a:tcPr>
                </a:tc>
                <a:tc>
                  <a:txBody>
                    <a:bodyPr wrap="square"/>
                    <a:lstStyle/>
                    <a:p>
                      <a:pPr algn="l"/>
                      <a:r>
                        <a:rPr sz="740" b="1">
                          <a:solidFill>
                            <a:srgbClr val="FFFFFF"/>
                          </a:solidFill>
                          <a:latin typeface="Segoe UI"/>
                        </a:rPr>
                        <a:t>DEFAULT</a:t>
                      </a:r>
                    </a:p>
                  </a:txBody>
                  <a:tcPr marL="54864" marR="54864" marT="18288" marB="18288" anchor="ctr">
                    <a:solidFill>
                      <a:srgbClr val="0F7B6C"/>
                    </a:solidFill>
                  </a:tcPr>
                </a:tc>
                <a:tc>
                  <a:txBody>
                    <a:bodyPr wrap="square"/>
                    <a:lstStyle/>
                    <a:p>
                      <a:pPr algn="l"/>
                      <a:r>
                        <a:rPr sz="740" b="1">
                          <a:solidFill>
                            <a:srgbClr val="FFFFFF"/>
                          </a:solidFill>
                          <a:latin typeface="Segoe UI"/>
                        </a:rPr>
                        <a:t>FALLBACK</a:t>
                      </a:r>
                    </a:p>
                  </a:txBody>
                  <a:tcPr marL="54864" marR="54864" marT="18288" marB="18288" anchor="ctr">
                    <a:solidFill>
                      <a:srgbClr val="0F7B6C"/>
                    </a:solidFill>
                  </a:tcPr>
                </a:tc>
                <a:tc>
                  <a:txBody>
                    <a:bodyPr wrap="square"/>
                    <a:lstStyle/>
                    <a:p>
                      <a:pPr algn="l"/>
                      <a:r>
                        <a:rPr sz="740" b="1">
                          <a:solidFill>
                            <a:srgbClr val="FFFFFF"/>
                          </a:solidFill>
                          <a:latin typeface="Segoe UI"/>
                        </a:rPr>
                        <a:t>LIVE RATE</a:t>
                      </a:r>
                    </a:p>
                  </a:txBody>
                  <a:tcPr marL="54864" marR="54864" marT="18288" marB="18288" anchor="ctr">
                    <a:solidFill>
                      <a:srgbClr val="0F7B6C"/>
                    </a:solidFill>
                  </a:tcPr>
                </a:tc>
                <a:tc>
                  <a:txBody>
                    <a:bodyPr wrap="square"/>
                    <a:lstStyle/>
                    <a:p>
                      <a:pPr algn="l"/>
                      <a:r>
                        <a:rPr sz="740" b="1">
                          <a:solidFill>
                            <a:srgbClr val="FFFFFF"/>
                          </a:solidFill>
                          <a:latin typeface="Segoe UI"/>
                        </a:rPr>
                        <a:t>WHY IT MATTERS</a:t>
                      </a:r>
                    </a:p>
                  </a:txBody>
                  <a:tcPr marL="54864" marR="54864" marT="18288" marB="18288" anchor="ctr">
                    <a:solidFill>
                      <a:srgbClr val="0F7B6C"/>
                    </a:solidFill>
                  </a:tcPr>
                </a:tc>
              </a:tr>
              <a:tr h="256032">
                <a:tc>
                  <a:txBody>
                    <a:bodyPr wrap="square"/>
                    <a:lstStyle/>
                    <a:p>
                      <a:pPr algn="l"/>
                      <a:r>
                        <a:rPr sz="740" b="1">
                          <a:solidFill>
                            <a:srgbClr val="1A1D2E"/>
                          </a:solidFill>
                          <a:latin typeface="Segoe UI"/>
                        </a:rPr>
                        <a:t>LLM</a:t>
                      </a:r>
                    </a:p>
                  </a:txBody>
                  <a:tcPr marL="54864" marR="54864" marT="18288" marB="18288" anchor="ctr">
                    <a:solidFill>
                      <a:srgbClr val="FFFFFF"/>
                    </a:solidFill>
                  </a:tcPr>
                </a:tc>
                <a:tc>
                  <a:txBody>
                    <a:bodyPr wrap="square"/>
                    <a:lstStyle/>
                    <a:p>
                      <a:pPr algn="l"/>
                      <a:r>
                        <a:rPr sz="740" b="0">
                          <a:solidFill>
                            <a:srgbClr val="1A1D2E"/>
                          </a:solidFill>
                          <a:latin typeface="Segoe UI"/>
                        </a:rPr>
                        <a:t>mock</a:t>
                      </a:r>
                    </a:p>
                  </a:txBody>
                  <a:tcPr marL="54864" marR="54864" marT="18288" marB="18288" anchor="ctr">
                    <a:solidFill>
                      <a:srgbClr val="FFFFFF"/>
                    </a:solidFill>
                  </a:tcPr>
                </a:tc>
                <a:tc>
                  <a:txBody>
                    <a:bodyPr wrap="square"/>
                    <a:lstStyle/>
                    <a:p>
                      <a:pPr algn="l"/>
                      <a:r>
                        <a:rPr sz="740" b="0">
                          <a:solidFill>
                            <a:srgbClr val="1A1D2E"/>
                          </a:solidFill>
                          <a:latin typeface="Segoe UI"/>
                        </a:rPr>
                        <a:t>deterministic templates</a:t>
                      </a:r>
                    </a:p>
                  </a:txBody>
                  <a:tcPr marL="54864" marR="54864" marT="18288" marB="18288" anchor="ctr">
                    <a:solidFill>
                      <a:srgbClr val="FFFFFF"/>
                    </a:solidFill>
                  </a:tcPr>
                </a:tc>
                <a:tc>
                  <a:txBody>
                    <a:bodyPr wrap="square"/>
                    <a:lstStyle/>
                    <a:p>
                      <a:pPr algn="l"/>
                      <a:r>
                        <a:rPr sz="740" b="1">
                          <a:solidFill>
                            <a:srgbClr val="0F7B6C"/>
                          </a:solidFill>
                          <a:latin typeface="Segoe UI"/>
                        </a:rPr>
                        <a:t>0 calls</a:t>
                      </a:r>
                    </a:p>
                  </a:txBody>
                  <a:tcPr marL="54864" marR="54864" marT="18288" marB="18288" anchor="ctr">
                    <a:solidFill>
                      <a:srgbClr val="FFFFFF"/>
                    </a:solidFill>
                  </a:tcPr>
                </a:tc>
                <a:tc>
                  <a:txBody>
                    <a:bodyPr wrap="square"/>
                    <a:lstStyle/>
                    <a:p>
                      <a:pPr algn="l"/>
                      <a:r>
                        <a:rPr sz="740" b="0">
                          <a:solidFill>
                            <a:srgbClr val="1A1D2E"/>
                          </a:solidFill>
                          <a:latin typeface="Segoe UI"/>
                        </a:rPr>
                        <a:t>Product is fully functional with no model configured — the default the tests run against</a:t>
                      </a:r>
                    </a:p>
                  </a:txBody>
                  <a:tcPr marL="54864" marR="54864" marT="18288" marB="18288" anchor="ctr">
                    <a:solidFill>
                      <a:srgbClr val="FFFFFF"/>
                    </a:solidFill>
                  </a:tcPr>
                </a:tc>
              </a:tr>
              <a:tr h="256032">
                <a:tc>
                  <a:txBody>
                    <a:bodyPr wrap="square"/>
                    <a:lstStyle/>
                    <a:p>
                      <a:pPr algn="l"/>
                      <a:r>
                        <a:rPr sz="740" b="1">
                          <a:solidFill>
                            <a:srgbClr val="1A1D2E"/>
                          </a:solidFill>
                          <a:latin typeface="Segoe UI"/>
                        </a:rPr>
                        <a:t>Embeddings</a:t>
                      </a:r>
                    </a:p>
                  </a:txBody>
                  <a:tcPr marL="54864" marR="54864" marT="18288" marB="18288" anchor="ctr">
                    <a:solidFill>
                      <a:srgbClr val="FDFBF7"/>
                    </a:solidFill>
                  </a:tcPr>
                </a:tc>
                <a:tc>
                  <a:txBody>
                    <a:bodyPr wrap="square"/>
                    <a:lstStyle/>
                    <a:p>
                      <a:pPr algn="l"/>
                      <a:r>
                        <a:rPr sz="740" b="0">
                          <a:solidFill>
                            <a:srgbClr val="1A1D2E"/>
                          </a:solidFill>
                          <a:latin typeface="Segoe UI"/>
                        </a:rPr>
                        <a:t>hashing</a:t>
                      </a:r>
                    </a:p>
                  </a:txBody>
                  <a:tcPr marL="54864" marR="54864" marT="18288" marB="18288" anchor="ctr">
                    <a:solidFill>
                      <a:srgbClr val="FDFBF7"/>
                    </a:solidFill>
                  </a:tcPr>
                </a:tc>
                <a:tc>
                  <a:txBody>
                    <a:bodyPr wrap="square"/>
                    <a:lstStyle/>
                    <a:p>
                      <a:pPr algn="l"/>
                      <a:r>
                        <a:rPr sz="740" b="0">
                          <a:solidFill>
                            <a:srgbClr val="1A1D2E"/>
                          </a:solidFill>
                          <a:latin typeface="Segoe UI"/>
                        </a:rPr>
                        <a:t>n/a (is the default)</a:t>
                      </a:r>
                    </a:p>
                  </a:txBody>
                  <a:tcPr marL="54864" marR="54864" marT="18288" marB="18288" anchor="ctr">
                    <a:solidFill>
                      <a:srgbClr val="FDFBF7"/>
                    </a:solidFill>
                  </a:tcPr>
                </a:tc>
                <a:tc>
                  <a:txBody>
                    <a:bodyPr wrap="square"/>
                    <a:lstStyle/>
                    <a:p>
                      <a:pPr algn="l"/>
                      <a:r>
                        <a:rPr sz="740" b="0">
                          <a:solidFill>
                            <a:srgbClr val="1A1D2E"/>
                          </a:solidFill>
                          <a:latin typeface="Segoe UI"/>
                        </a:rPr>
                        <a:t>0% fallback</a:t>
                      </a:r>
                    </a:p>
                  </a:txBody>
                  <a:tcPr marL="54864" marR="54864" marT="18288" marB="18288" anchor="ctr">
                    <a:solidFill>
                      <a:srgbClr val="FDFBF7"/>
                    </a:solidFill>
                  </a:tcPr>
                </a:tc>
                <a:tc>
                  <a:txBody>
                    <a:bodyPr wrap="square"/>
                    <a:lstStyle/>
                    <a:p>
                      <a:pPr algn="l"/>
                      <a:r>
                        <a:rPr sz="740" b="0">
                          <a:solidFill>
                            <a:srgbClr val="1A1D2E"/>
                          </a:solidFill>
                          <a:latin typeface="Segoe UI"/>
                        </a:rPr>
                        <a:t>384-dim signed feature hashing — deterministic, no model download, not a neural encoder</a:t>
                      </a:r>
                    </a:p>
                  </a:txBody>
                  <a:tcPr marL="54864" marR="54864" marT="18288" marB="18288" anchor="ctr">
                    <a:solidFill>
                      <a:srgbClr val="FDFBF7"/>
                    </a:solidFill>
                  </a:tcPr>
                </a:tc>
              </a:tr>
              <a:tr h="256032">
                <a:tc>
                  <a:txBody>
                    <a:bodyPr wrap="square"/>
                    <a:lstStyle/>
                    <a:p>
                      <a:pPr algn="l"/>
                      <a:r>
                        <a:rPr sz="740" b="1">
                          <a:solidFill>
                            <a:srgbClr val="1A1D2E"/>
                          </a:solidFill>
                          <a:latin typeface="Segoe UI"/>
                        </a:rPr>
                        <a:t>Routing</a:t>
                      </a:r>
                    </a:p>
                  </a:txBody>
                  <a:tcPr marL="54864" marR="54864" marT="18288" marB="18288" anchor="ctr">
                    <a:solidFill>
                      <a:srgbClr val="FFFFFF"/>
                    </a:solidFill>
                  </a:tcPr>
                </a:tc>
                <a:tc>
                  <a:txBody>
                    <a:bodyPr wrap="square"/>
                    <a:lstStyle/>
                    <a:p>
                      <a:pPr algn="l"/>
                      <a:r>
                        <a:rPr sz="740" b="0">
                          <a:solidFill>
                            <a:srgbClr val="1A1D2E"/>
                          </a:solidFill>
                          <a:latin typeface="Segoe UI"/>
                        </a:rPr>
                        <a:t>OSRM</a:t>
                      </a:r>
                    </a:p>
                  </a:txBody>
                  <a:tcPr marL="54864" marR="54864" marT="18288" marB="18288" anchor="ctr">
                    <a:solidFill>
                      <a:srgbClr val="FFFFFF"/>
                    </a:solidFill>
                  </a:tcPr>
                </a:tc>
                <a:tc>
                  <a:txBody>
                    <a:bodyPr wrap="square"/>
                    <a:lstStyle/>
                    <a:p>
                      <a:pPr algn="l"/>
                      <a:r>
                        <a:rPr sz="740" b="0">
                          <a:solidFill>
                            <a:srgbClr val="1A1D2E"/>
                          </a:solidFill>
                          <a:latin typeface="Segoe UI"/>
                        </a:rPr>
                        <a:t>haversine × detour factor</a:t>
                      </a:r>
                    </a:p>
                  </a:txBody>
                  <a:tcPr marL="54864" marR="54864" marT="18288" marB="18288" anchor="ctr">
                    <a:solidFill>
                      <a:srgbClr val="FFFFFF"/>
                    </a:solidFill>
                  </a:tcPr>
                </a:tc>
                <a:tc>
                  <a:txBody>
                    <a:bodyPr wrap="square"/>
                    <a:lstStyle/>
                    <a:p>
                      <a:pPr algn="l"/>
                      <a:r>
                        <a:rPr sz="740" b="0">
                          <a:solidFill>
                            <a:srgbClr val="A44C1F"/>
                          </a:solidFill>
                          <a:latin typeface="Segoe UI"/>
                        </a:rPr>
                        <a:t>100% fallback</a:t>
                      </a:r>
                    </a:p>
                  </a:txBody>
                  <a:tcPr marL="54864" marR="54864" marT="18288" marB="18288" anchor="ctr">
                    <a:solidFill>
                      <a:srgbClr val="FFFFFF"/>
                    </a:solidFill>
                  </a:tcPr>
                </a:tc>
                <a:tc>
                  <a:txBody>
                    <a:bodyPr wrap="square"/>
                    <a:lstStyle/>
                    <a:p>
                      <a:pPr algn="l"/>
                      <a:r>
                        <a:rPr sz="740" b="0">
                          <a:solidFill>
                            <a:srgbClr val="1A1D2E"/>
                          </a:solidFill>
                          <a:latin typeface="Segoe UI"/>
                        </a:rPr>
                        <a:t>Conservative Indian urban speeds; underestimating travel is the dangerous direction</a:t>
                      </a:r>
                    </a:p>
                  </a:txBody>
                  <a:tcPr marL="54864" marR="54864" marT="18288" marB="18288" anchor="ctr">
                    <a:solidFill>
                      <a:srgbClr val="FFFFFF"/>
                    </a:solidFill>
                  </a:tcPr>
                </a:tc>
              </a:tr>
              <a:tr h="256032">
                <a:tc>
                  <a:txBody>
                    <a:bodyPr wrap="square"/>
                    <a:lstStyle/>
                    <a:p>
                      <a:pPr algn="l"/>
                      <a:r>
                        <a:rPr sz="740" b="1">
                          <a:solidFill>
                            <a:srgbClr val="1A1D2E"/>
                          </a:solidFill>
                          <a:latin typeface="Segoe UI"/>
                        </a:rPr>
                        <a:t>Weather</a:t>
                      </a:r>
                    </a:p>
                  </a:txBody>
                  <a:tcPr marL="54864" marR="54864" marT="18288" marB="18288" anchor="ctr">
                    <a:solidFill>
                      <a:srgbClr val="FDFBF7"/>
                    </a:solidFill>
                  </a:tcPr>
                </a:tc>
                <a:tc>
                  <a:txBody>
                    <a:bodyPr wrap="square"/>
                    <a:lstStyle/>
                    <a:p>
                      <a:pPr algn="l"/>
                      <a:r>
                        <a:rPr sz="740" b="0">
                          <a:solidFill>
                            <a:srgbClr val="1A1D2E"/>
                          </a:solidFill>
                          <a:latin typeface="Segoe UI"/>
                        </a:rPr>
                        <a:t>Open-Meteo</a:t>
                      </a:r>
                    </a:p>
                  </a:txBody>
                  <a:tcPr marL="54864" marR="54864" marT="18288" marB="18288" anchor="ctr">
                    <a:solidFill>
                      <a:srgbClr val="FDFBF7"/>
                    </a:solidFill>
                  </a:tcPr>
                </a:tc>
                <a:tc>
                  <a:txBody>
                    <a:bodyPr wrap="square"/>
                    <a:lstStyle/>
                    <a:p>
                      <a:pPr algn="l"/>
                      <a:r>
                        <a:rPr sz="740" b="0">
                          <a:solidFill>
                            <a:srgbClr val="1A1D2E"/>
                          </a:solidFill>
                          <a:latin typeface="Segoe UI"/>
                        </a:rPr>
                        <a:t>committed climatology</a:t>
                      </a:r>
                    </a:p>
                  </a:txBody>
                  <a:tcPr marL="54864" marR="54864" marT="18288" marB="18288" anchor="ctr">
                    <a:solidFill>
                      <a:srgbClr val="FDFBF7"/>
                    </a:solidFill>
                  </a:tcPr>
                </a:tc>
                <a:tc>
                  <a:txBody>
                    <a:bodyPr wrap="square"/>
                    <a:lstStyle/>
                    <a:p>
                      <a:pPr algn="l"/>
                      <a:r>
                        <a:rPr sz="740" b="0">
                          <a:solidFill>
                            <a:srgbClr val="A44C1F"/>
                          </a:solidFill>
                          <a:latin typeface="Segoe UI"/>
                        </a:rPr>
                        <a:t>100% fallback</a:t>
                      </a:r>
                    </a:p>
                  </a:txBody>
                  <a:tcPr marL="54864" marR="54864" marT="18288" marB="18288" anchor="ctr">
                    <a:solidFill>
                      <a:srgbClr val="FDFBF7"/>
                    </a:solidFill>
                  </a:tcPr>
                </a:tc>
                <a:tc>
                  <a:txBody>
                    <a:bodyPr wrap="square"/>
                    <a:lstStyle/>
                    <a:p>
                      <a:pPr algn="l"/>
                      <a:r>
                        <a:rPr sz="740" b="0">
                          <a:solidFill>
                            <a:srgbClr val="1A1D2E"/>
                          </a:solidFill>
                          <a:latin typeface="Segoe UI"/>
                        </a:rPr>
                        <a:t>Labelled in the UI as seasonal averages, never presented as a forecast</a:t>
                      </a:r>
                    </a:p>
                  </a:txBody>
                  <a:tcPr marL="54864" marR="54864" marT="18288" marB="18288" anchor="ctr">
                    <a:solidFill>
                      <a:srgbClr val="FDFBF7"/>
                    </a:solidFill>
                  </a:tcPr>
                </a:tc>
              </a:tr>
              <a:tr h="256032">
                <a:tc>
                  <a:txBody>
                    <a:bodyPr wrap="square"/>
                    <a:lstStyle/>
                    <a:p>
                      <a:pPr algn="l"/>
                      <a:r>
                        <a:rPr sz="740" b="1">
                          <a:solidFill>
                            <a:srgbClr val="1A1D2E"/>
                          </a:solidFill>
                          <a:latin typeface="Segoe UI"/>
                        </a:rPr>
                        <a:t>Database</a:t>
                      </a:r>
                    </a:p>
                  </a:txBody>
                  <a:tcPr marL="54864" marR="54864" marT="18288" marB="18288" anchor="ctr">
                    <a:solidFill>
                      <a:srgbClr val="FFFFFF"/>
                    </a:solidFill>
                  </a:tcPr>
                </a:tc>
                <a:tc>
                  <a:txBody>
                    <a:bodyPr wrap="square"/>
                    <a:lstStyle/>
                    <a:p>
                      <a:pPr algn="l"/>
                      <a:r>
                        <a:rPr sz="740" b="0">
                          <a:solidFill>
                            <a:srgbClr val="1A1D2E"/>
                          </a:solidFill>
                          <a:latin typeface="Segoe UI"/>
                        </a:rPr>
                        <a:t>PostgreSQL + pgvector</a:t>
                      </a:r>
                    </a:p>
                  </a:txBody>
                  <a:tcPr marL="54864" marR="54864" marT="18288" marB="18288" anchor="ctr">
                    <a:solidFill>
                      <a:srgbClr val="FFFFFF"/>
                    </a:solidFill>
                  </a:tcPr>
                </a:tc>
                <a:tc>
                  <a:txBody>
                    <a:bodyPr wrap="square"/>
                    <a:lstStyle/>
                    <a:p>
                      <a:pPr algn="l"/>
                      <a:r>
                        <a:rPr sz="740" b="0">
                          <a:solidFill>
                            <a:srgbClr val="1A1D2E"/>
                          </a:solidFill>
                          <a:latin typeface="Segoe UI"/>
                        </a:rPr>
                        <a:t>SQLite</a:t>
                      </a:r>
                    </a:p>
                  </a:txBody>
                  <a:tcPr marL="54864" marR="54864" marT="18288" marB="18288" anchor="ctr">
                    <a:solidFill>
                      <a:srgbClr val="FFFFFF"/>
                    </a:solidFill>
                  </a:tcPr>
                </a:tc>
                <a:tc>
                  <a:txBody>
                    <a:bodyPr wrap="square"/>
                    <a:lstStyle/>
                    <a:p>
                      <a:pPr algn="l"/>
                      <a:r>
                        <a:rPr sz="740" b="0">
                          <a:solidFill>
                            <a:srgbClr val="1A1D2E"/>
                          </a:solidFill>
                          <a:latin typeface="Segoe UI"/>
                        </a:rPr>
                        <a:t>—</a:t>
                      </a:r>
                    </a:p>
                  </a:txBody>
                  <a:tcPr marL="54864" marR="54864" marT="18288" marB="18288" anchor="ctr">
                    <a:solidFill>
                      <a:srgbClr val="FFFFFF"/>
                    </a:solidFill>
                  </a:tcPr>
                </a:tc>
                <a:tc>
                  <a:txBody>
                    <a:bodyPr wrap="square"/>
                    <a:lstStyle/>
                    <a:p>
                      <a:pPr algn="l"/>
                      <a:r>
                        <a:rPr sz="740" b="0">
                          <a:solidFill>
                            <a:srgbClr val="1A1D2E"/>
                          </a:solidFill>
                          <a:latin typeface="Segoe UI"/>
                        </a:rPr>
                        <a:t>Four portable TypeDecorators (GUID, JSONType, VectorType, TZDateTime) — one schema, two engines</a:t>
                      </a:r>
                    </a:p>
                  </a:txBody>
                  <a:tcPr marL="54864" marR="54864" marT="18288" marB="18288" anchor="ctr">
                    <a:solidFill>
                      <a:srgbClr val="FFFFFF"/>
                    </a:solidFill>
                  </a:tcPr>
                </a:tc>
              </a:tr>
            </a:tbl>
          </a:graphicData>
        </a:graphic>
      </p:graphicFrame>
      <p:sp>
        <p:nvSpPr>
          <p:cNvPr id="48" name="Rectangle 47"/>
          <p:cNvSpPr/>
          <p:nvPr/>
        </p:nvSpPr>
        <p:spPr>
          <a:xfrm>
            <a:off x="329184" y="5833872"/>
            <a:ext cx="11533327" cy="530352"/>
          </a:xfrm>
          <a:prstGeom prst="rect">
            <a:avLst/>
          </a:prstGeom>
          <a:solidFill>
            <a:srgbClr val="141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457200" y="5916168"/>
            <a:ext cx="11277295" cy="384047"/>
          </a:xfrm>
          <a:prstGeom prst="rect">
            <a:avLst/>
          </a:prstGeom>
          <a:noFill/>
        </p:spPr>
        <p:txBody>
          <a:bodyPr wrap="square" lIns="0" rIns="0" tIns="0" bIns="0" anchor="t">
            <a:spAutoFit/>
          </a:bodyPr>
          <a:lstStyle/>
          <a:p>
            <a:pPr algn="l">
              <a:lnSpc>
                <a:spcPct val="115000"/>
              </a:lnSpc>
              <a:spcAft>
                <a:spcPts val="0"/>
              </a:spcAft>
            </a:pPr>
            <a:r>
              <a:rPr sz="860" b="1">
                <a:solidFill>
                  <a:srgbClr val="E07A3F"/>
                </a:solidFill>
                <a:latin typeface="Segoe UI"/>
              </a:rPr>
              <a:t>KEY POINT:  </a:t>
            </a:r>
            <a:r>
              <a:rPr sz="860" b="0">
                <a:solidFill>
                  <a:srgbClr val="FFFFFF"/>
                </a:solidFill>
                <a:latin typeface="Segoe UI"/>
              </a:rPr>
              <a:t>No provider raises on failure — each degrades to a documented fallback and records it. The UI shows an honest banner; /metrics reports the real fallback rate. Both amber rates above are this machine being offline, not a bug.</a:t>
            </a:r>
          </a:p>
        </p:txBody>
      </p:sp>
      <p:sp>
        <p:nvSpPr>
          <p:cNvPr id="50" name="Rectangle 49"/>
          <p:cNvSpPr/>
          <p:nvPr/>
        </p:nvSpPr>
        <p:spPr>
          <a:xfrm>
            <a:off x="329184" y="6382512"/>
            <a:ext cx="11533327" cy="10972"/>
          </a:xfrm>
          <a:prstGeom prst="rect">
            <a:avLst/>
          </a:prstGeom>
          <a:solidFill>
            <a:srgbClr val="E6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329184" y="6473952"/>
            <a:ext cx="10893247" cy="256032"/>
          </a:xfrm>
          <a:prstGeom prst="rect">
            <a:avLst/>
          </a:prstGeom>
          <a:noFill/>
        </p:spPr>
        <p:txBody>
          <a:bodyPr wrap="square" lIns="0" rIns="0" tIns="0" bIns="0" anchor="t">
            <a:spAutoFit/>
          </a:bodyPr>
          <a:lstStyle/>
          <a:p>
            <a:pPr algn="l">
              <a:lnSpc>
                <a:spcPct val="100000"/>
              </a:lnSpc>
              <a:spcAft>
                <a:spcPts val="0"/>
              </a:spcAft>
            </a:pPr>
            <a:r>
              <a:rPr sz="680" b="0">
                <a:solidFill>
                  <a:srgbClr val="8A90A6"/>
                </a:solidFill>
                <a:latin typeface="Segoe UI"/>
              </a:rPr>
              <a:t>Sources: pyproject.toml; apps/web/package.json; yatraai/config.py; live /api/v1/metrics.</a:t>
            </a:r>
          </a:p>
        </p:txBody>
      </p:sp>
      <p:sp>
        <p:nvSpPr>
          <p:cNvPr id="52" name="TextBox 51"/>
          <p:cNvSpPr txBox="1"/>
          <p:nvPr/>
        </p:nvSpPr>
        <p:spPr>
          <a:xfrm>
            <a:off x="11313871" y="6455664"/>
            <a:ext cx="548640" cy="274320"/>
          </a:xfrm>
          <a:prstGeom prst="rect">
            <a:avLst/>
          </a:prstGeom>
          <a:noFill/>
        </p:spPr>
        <p:txBody>
          <a:bodyPr wrap="square" lIns="0" rIns="0" tIns="0" bIns="0" anchor="t">
            <a:spAutoFit/>
          </a:bodyPr>
          <a:lstStyle/>
          <a:p>
            <a:pPr algn="r">
              <a:lnSpc>
                <a:spcPct val="100000"/>
              </a:lnSpc>
              <a:spcAft>
                <a:spcPts val="0"/>
              </a:spcAft>
            </a:pPr>
            <a:r>
              <a:rPr sz="1100" b="1">
                <a:solidFill>
                  <a:srgbClr val="42569F"/>
                </a:solidFill>
                <a:latin typeface="Segoe U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29184"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29184"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PROBLEM &amp;</a:t>
            </a:r>
          </a:p>
          <a:p>
            <a:pPr algn="ctr">
              <a:lnSpc>
                <a:spcPct val="95000"/>
              </a:lnSpc>
              <a:spcAft>
                <a:spcPts val="0"/>
              </a:spcAft>
            </a:pPr>
            <a:r>
              <a:rPr sz="750" b="1">
                <a:solidFill>
                  <a:srgbClr val="A44C1F"/>
                </a:solidFill>
                <a:latin typeface="Segoe UI"/>
              </a:rPr>
              <a:t>ARCHITECTURE</a:t>
            </a:r>
          </a:p>
        </p:txBody>
      </p:sp>
      <p:sp>
        <p:nvSpPr>
          <p:cNvPr id="5" name="Rectangle 4"/>
          <p:cNvSpPr/>
          <p:nvPr/>
        </p:nvSpPr>
        <p:spPr>
          <a:xfrm>
            <a:off x="2646822" y="237744"/>
            <a:ext cx="2262774" cy="420624"/>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646822"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FFFFFF"/>
                </a:solidFill>
                <a:latin typeface="Segoe UI"/>
              </a:rPr>
              <a:t>DATA</a:t>
            </a:r>
          </a:p>
          <a:p>
            <a:pPr algn="ctr">
              <a:lnSpc>
                <a:spcPct val="95000"/>
              </a:lnSpc>
              <a:spcAft>
                <a:spcPts val="0"/>
              </a:spcAft>
            </a:pPr>
            <a:r>
              <a:rPr sz="750" b="1">
                <a:solidFill>
                  <a:srgbClr val="FFFFFF"/>
                </a:solidFill>
                <a:latin typeface="Segoe UI"/>
              </a:rPr>
              <a:t>FOUNDATION</a:t>
            </a:r>
          </a:p>
        </p:txBody>
      </p:sp>
      <p:sp>
        <p:nvSpPr>
          <p:cNvPr id="7" name="Rectangle 6"/>
          <p:cNvSpPr/>
          <p:nvPr/>
        </p:nvSpPr>
        <p:spPr>
          <a:xfrm>
            <a:off x="4964460"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964460"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RANKING &amp;</a:t>
            </a:r>
          </a:p>
          <a:p>
            <a:pPr algn="ctr">
              <a:lnSpc>
                <a:spcPct val="95000"/>
              </a:lnSpc>
              <a:spcAft>
                <a:spcPts val="0"/>
              </a:spcAft>
            </a:pPr>
            <a:r>
              <a:rPr sz="750" b="1">
                <a:solidFill>
                  <a:srgbClr val="A44C1F"/>
                </a:solidFill>
                <a:latin typeface="Segoe UI"/>
              </a:rPr>
              <a:t>FAIRNESS</a:t>
            </a:r>
          </a:p>
        </p:txBody>
      </p:sp>
      <p:sp>
        <p:nvSpPr>
          <p:cNvPr id="9" name="Rectangle 8"/>
          <p:cNvSpPr/>
          <p:nvPr/>
        </p:nvSpPr>
        <p:spPr>
          <a:xfrm>
            <a:off x="7282098"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82098"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OPTIMISATION</a:t>
            </a:r>
          </a:p>
          <a:p>
            <a:pPr algn="ctr">
              <a:lnSpc>
                <a:spcPct val="95000"/>
              </a:lnSpc>
              <a:spcAft>
                <a:spcPts val="0"/>
              </a:spcAft>
            </a:pPr>
            <a:r>
              <a:rPr sz="750" b="1">
                <a:solidFill>
                  <a:srgbClr val="A44C1F"/>
                </a:solidFill>
                <a:latin typeface="Segoe UI"/>
              </a:rPr>
              <a:t>&amp; VALIDATION</a:t>
            </a:r>
          </a:p>
        </p:txBody>
      </p:sp>
      <p:sp>
        <p:nvSpPr>
          <p:cNvPr id="11" name="Rectangle 10"/>
          <p:cNvSpPr/>
          <p:nvPr/>
        </p:nvSpPr>
        <p:spPr>
          <a:xfrm>
            <a:off x="9599736"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99736"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RETRIEVAL,</a:t>
            </a:r>
          </a:p>
          <a:p>
            <a:pPr algn="ctr">
              <a:lnSpc>
                <a:spcPct val="95000"/>
              </a:lnSpc>
              <a:spcAft>
                <a:spcPts val="0"/>
              </a:spcAft>
            </a:pPr>
            <a:r>
              <a:rPr sz="750" b="1">
                <a:solidFill>
                  <a:srgbClr val="A44C1F"/>
                </a:solidFill>
                <a:latin typeface="Segoe UI"/>
              </a:rPr>
              <a:t>TRUST &amp; RESULTS</a:t>
            </a:r>
          </a:p>
        </p:txBody>
      </p:sp>
      <p:sp>
        <p:nvSpPr>
          <p:cNvPr id="13" name="TextBox 12"/>
          <p:cNvSpPr txBox="1"/>
          <p:nvPr/>
        </p:nvSpPr>
        <p:spPr>
          <a:xfrm>
            <a:off x="329184" y="804672"/>
            <a:ext cx="11533327" cy="292608"/>
          </a:xfrm>
          <a:prstGeom prst="rect">
            <a:avLst/>
          </a:prstGeom>
          <a:noFill/>
        </p:spPr>
        <p:txBody>
          <a:bodyPr wrap="square" lIns="0" rIns="0" tIns="0" bIns="0" anchor="t">
            <a:spAutoFit/>
          </a:bodyPr>
          <a:lstStyle/>
          <a:p>
            <a:pPr algn="l">
              <a:lnSpc>
                <a:spcPct val="100000"/>
              </a:lnSpc>
              <a:spcAft>
                <a:spcPts val="0"/>
              </a:spcAft>
            </a:pPr>
            <a:r>
              <a:rPr sz="1700" b="1">
                <a:solidFill>
                  <a:srgbClr val="23306B"/>
                </a:solidFill>
                <a:latin typeface="Segoe UI"/>
              </a:rPr>
              <a:t>DATA FOUNDATION — WHERE THE FACTS COME FROM, AND HOW THEY ARE POLICED</a:t>
            </a:r>
          </a:p>
        </p:txBody>
      </p:sp>
      <p:sp>
        <p:nvSpPr>
          <p:cNvPr id="14" name="Rectangle 13"/>
          <p:cNvSpPr/>
          <p:nvPr/>
        </p:nvSpPr>
        <p:spPr>
          <a:xfrm>
            <a:off x="329184" y="1133856"/>
            <a:ext cx="11533327" cy="20116"/>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29184" y="1298448"/>
            <a:ext cx="6858000" cy="274320"/>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20623" y="1348739"/>
            <a:ext cx="6675120"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BRONZE → SILVER → GOLD, WITH A CONTRACT AT EVERY PROMOTION</a:t>
            </a:r>
          </a:p>
        </p:txBody>
      </p:sp>
      <p:sp>
        <p:nvSpPr>
          <p:cNvPr id="17" name="Rectangle 16"/>
          <p:cNvSpPr/>
          <p:nvPr/>
        </p:nvSpPr>
        <p:spPr>
          <a:xfrm>
            <a:off x="329184" y="1572768"/>
            <a:ext cx="6858000" cy="1481328"/>
          </a:xfrm>
          <a:prstGeom prst="rect">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84048" y="1664208"/>
            <a:ext cx="2176272" cy="237744"/>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84048" y="1705356"/>
            <a:ext cx="2176272" cy="182880"/>
          </a:xfrm>
          <a:prstGeom prst="rect">
            <a:avLst/>
          </a:prstGeom>
          <a:noFill/>
        </p:spPr>
        <p:txBody>
          <a:bodyPr wrap="square" lIns="0" rIns="0" tIns="0" bIns="0" anchor="t">
            <a:spAutoFit/>
          </a:bodyPr>
          <a:lstStyle/>
          <a:p>
            <a:pPr algn="ctr">
              <a:lnSpc>
                <a:spcPct val="100000"/>
              </a:lnSpc>
              <a:spcAft>
                <a:spcPts val="0"/>
              </a:spcAft>
            </a:pPr>
            <a:r>
              <a:rPr sz="850" b="1">
                <a:solidFill>
                  <a:srgbClr val="FFFFFF"/>
                </a:solidFill>
                <a:latin typeface="Segoe UI"/>
              </a:rPr>
              <a:t>BRONZE</a:t>
            </a:r>
          </a:p>
        </p:txBody>
      </p:sp>
      <p:sp>
        <p:nvSpPr>
          <p:cNvPr id="20" name="TextBox 19"/>
          <p:cNvSpPr txBox="1"/>
          <p:nvPr/>
        </p:nvSpPr>
        <p:spPr>
          <a:xfrm>
            <a:off x="457200" y="1975104"/>
            <a:ext cx="2029967" cy="219456"/>
          </a:xfrm>
          <a:prstGeom prst="rect">
            <a:avLst/>
          </a:prstGeom>
          <a:noFill/>
        </p:spPr>
        <p:txBody>
          <a:bodyPr wrap="square" lIns="0" rIns="0" tIns="0" bIns="0" anchor="t">
            <a:spAutoFit/>
          </a:bodyPr>
          <a:lstStyle/>
          <a:p>
            <a:pPr algn="l">
              <a:lnSpc>
                <a:spcPct val="100000"/>
              </a:lnSpc>
              <a:spcAft>
                <a:spcPts val="0"/>
              </a:spcAft>
            </a:pPr>
            <a:r>
              <a:rPr sz="780" b="1">
                <a:solidFill>
                  <a:srgbClr val="1A1D2E"/>
                </a:solidFill>
                <a:latin typeface="Segoe UI"/>
              </a:rPr>
              <a:t>Raw seed JSON, content-hashed</a:t>
            </a:r>
          </a:p>
        </p:txBody>
      </p:sp>
      <p:sp>
        <p:nvSpPr>
          <p:cNvPr id="21" name="TextBox 20"/>
          <p:cNvSpPr txBox="1"/>
          <p:nvPr/>
        </p:nvSpPr>
        <p:spPr>
          <a:xfrm>
            <a:off x="457200" y="2212848"/>
            <a:ext cx="2029967" cy="731520"/>
          </a:xfrm>
          <a:prstGeom prst="rect">
            <a:avLst/>
          </a:prstGeom>
          <a:noFill/>
        </p:spPr>
        <p:txBody>
          <a:bodyPr wrap="square" lIns="0" rIns="0" tIns="0" bIns="0" anchor="t">
            <a:spAutoFit/>
          </a:bodyPr>
          <a:lstStyle/>
          <a:p>
            <a:pPr algn="l">
              <a:lnSpc>
                <a:spcPct val="120000"/>
              </a:lnSpc>
              <a:spcAft>
                <a:spcPts val="0"/>
              </a:spcAft>
            </a:pPr>
            <a:r>
              <a:rPr sz="760" b="0">
                <a:solidFill>
                  <a:srgbClr val="5B6178"/>
                </a:solidFill>
                <a:latin typeface="Segoe UI"/>
              </a:rPr>
              <a:t>140 documents ingested</a:t>
            </a:r>
          </a:p>
        </p:txBody>
      </p:sp>
      <p:sp>
        <p:nvSpPr>
          <p:cNvPr id="22" name="Rectangle 21"/>
          <p:cNvSpPr/>
          <p:nvPr/>
        </p:nvSpPr>
        <p:spPr>
          <a:xfrm>
            <a:off x="2670048" y="1664208"/>
            <a:ext cx="2176272" cy="237744"/>
          </a:xfrm>
          <a:prstGeom prst="rect">
            <a:avLst/>
          </a:prstGeom>
          <a:solidFill>
            <a:srgbClr val="4256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2670048" y="1705356"/>
            <a:ext cx="2176272" cy="182880"/>
          </a:xfrm>
          <a:prstGeom prst="rect">
            <a:avLst/>
          </a:prstGeom>
          <a:noFill/>
        </p:spPr>
        <p:txBody>
          <a:bodyPr wrap="square" lIns="0" rIns="0" tIns="0" bIns="0" anchor="t">
            <a:spAutoFit/>
          </a:bodyPr>
          <a:lstStyle/>
          <a:p>
            <a:pPr algn="ctr">
              <a:lnSpc>
                <a:spcPct val="100000"/>
              </a:lnSpc>
              <a:spcAft>
                <a:spcPts val="0"/>
              </a:spcAft>
            </a:pPr>
            <a:r>
              <a:rPr sz="850" b="1">
                <a:solidFill>
                  <a:srgbClr val="FFFFFF"/>
                </a:solidFill>
                <a:latin typeface="Segoe UI"/>
              </a:rPr>
              <a:t>SILVER</a:t>
            </a:r>
          </a:p>
        </p:txBody>
      </p:sp>
      <p:sp>
        <p:nvSpPr>
          <p:cNvPr id="24" name="TextBox 23"/>
          <p:cNvSpPr txBox="1"/>
          <p:nvPr/>
        </p:nvSpPr>
        <p:spPr>
          <a:xfrm>
            <a:off x="2743200" y="1975104"/>
            <a:ext cx="2029967" cy="219456"/>
          </a:xfrm>
          <a:prstGeom prst="rect">
            <a:avLst/>
          </a:prstGeom>
          <a:noFill/>
        </p:spPr>
        <p:txBody>
          <a:bodyPr wrap="square" lIns="0" rIns="0" tIns="0" bIns="0" anchor="t">
            <a:spAutoFit/>
          </a:bodyPr>
          <a:lstStyle/>
          <a:p>
            <a:pPr algn="l">
              <a:lnSpc>
                <a:spcPct val="100000"/>
              </a:lnSpc>
              <a:spcAft>
                <a:spcPts val="0"/>
              </a:spcAft>
            </a:pPr>
            <a:r>
              <a:rPr sz="780" b="1">
                <a:solidFill>
                  <a:srgbClr val="1A1D2E"/>
                </a:solidFill>
                <a:latin typeface="Segoe UI"/>
              </a:rPr>
              <a:t>Validated, typed, deduplicated</a:t>
            </a:r>
          </a:p>
        </p:txBody>
      </p:sp>
      <p:sp>
        <p:nvSpPr>
          <p:cNvPr id="25" name="TextBox 24"/>
          <p:cNvSpPr txBox="1"/>
          <p:nvPr/>
        </p:nvSpPr>
        <p:spPr>
          <a:xfrm>
            <a:off x="2743200" y="2212848"/>
            <a:ext cx="2029967" cy="731520"/>
          </a:xfrm>
          <a:prstGeom prst="rect">
            <a:avLst/>
          </a:prstGeom>
          <a:noFill/>
        </p:spPr>
        <p:txBody>
          <a:bodyPr wrap="square" lIns="0" rIns="0" tIns="0" bIns="0" anchor="t">
            <a:spAutoFit/>
          </a:bodyPr>
          <a:lstStyle/>
          <a:p>
            <a:pPr algn="l">
              <a:lnSpc>
                <a:spcPct val="120000"/>
              </a:lnSpc>
              <a:spcAft>
                <a:spcPts val="0"/>
              </a:spcAft>
            </a:pPr>
            <a:r>
              <a:rPr sz="760" b="0">
                <a:solidFill>
                  <a:srgbClr val="5B6178"/>
                </a:solidFill>
                <a:latin typeface="Segoe UI"/>
              </a:rPr>
              <a:t>130 attractions · 142 sources</a:t>
            </a:r>
          </a:p>
          <a:p>
            <a:pPr algn="l">
              <a:lnSpc>
                <a:spcPct val="120000"/>
              </a:lnSpc>
              <a:spcAft>
                <a:spcPts val="0"/>
              </a:spcAft>
            </a:pPr>
            <a:r>
              <a:rPr sz="760" b="0">
                <a:solidFill>
                  <a:srgbClr val="5B6178"/>
                </a:solidFill>
                <a:latin typeface="Segoe UI"/>
              </a:rPr>
              <a:t>164 schedules · 216 fee rows</a:t>
            </a:r>
          </a:p>
        </p:txBody>
      </p:sp>
      <p:sp>
        <p:nvSpPr>
          <p:cNvPr id="26" name="Rectangle 25"/>
          <p:cNvSpPr/>
          <p:nvPr/>
        </p:nvSpPr>
        <p:spPr>
          <a:xfrm>
            <a:off x="4956048" y="1664208"/>
            <a:ext cx="2176272" cy="237744"/>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56048" y="1705356"/>
            <a:ext cx="2176272" cy="182880"/>
          </a:xfrm>
          <a:prstGeom prst="rect">
            <a:avLst/>
          </a:prstGeom>
          <a:noFill/>
        </p:spPr>
        <p:txBody>
          <a:bodyPr wrap="square" lIns="0" rIns="0" tIns="0" bIns="0" anchor="t">
            <a:spAutoFit/>
          </a:bodyPr>
          <a:lstStyle/>
          <a:p>
            <a:pPr algn="ctr">
              <a:lnSpc>
                <a:spcPct val="100000"/>
              </a:lnSpc>
              <a:spcAft>
                <a:spcPts val="0"/>
              </a:spcAft>
            </a:pPr>
            <a:r>
              <a:rPr sz="850" b="1">
                <a:solidFill>
                  <a:srgbClr val="FFFFFF"/>
                </a:solidFill>
                <a:latin typeface="Segoe UI"/>
              </a:rPr>
              <a:t>GOLD</a:t>
            </a:r>
          </a:p>
        </p:txBody>
      </p:sp>
      <p:sp>
        <p:nvSpPr>
          <p:cNvPr id="28" name="TextBox 27"/>
          <p:cNvSpPr txBox="1"/>
          <p:nvPr/>
        </p:nvSpPr>
        <p:spPr>
          <a:xfrm>
            <a:off x="5029200" y="1975104"/>
            <a:ext cx="2029967" cy="219456"/>
          </a:xfrm>
          <a:prstGeom prst="rect">
            <a:avLst/>
          </a:prstGeom>
          <a:noFill/>
        </p:spPr>
        <p:txBody>
          <a:bodyPr wrap="square" lIns="0" rIns="0" tIns="0" bIns="0" anchor="t">
            <a:spAutoFit/>
          </a:bodyPr>
          <a:lstStyle/>
          <a:p>
            <a:pPr algn="l">
              <a:lnSpc>
                <a:spcPct val="100000"/>
              </a:lnSpc>
              <a:spcAft>
                <a:spcPts val="0"/>
              </a:spcAft>
            </a:pPr>
            <a:r>
              <a:rPr sz="780" b="1">
                <a:solidFill>
                  <a:srgbClr val="1A1D2E"/>
                </a:solidFill>
                <a:latin typeface="Segoe UI"/>
              </a:rPr>
              <a:t>Derived planning features</a:t>
            </a:r>
          </a:p>
        </p:txBody>
      </p:sp>
      <p:sp>
        <p:nvSpPr>
          <p:cNvPr id="29" name="TextBox 28"/>
          <p:cNvSpPr txBox="1"/>
          <p:nvPr/>
        </p:nvSpPr>
        <p:spPr>
          <a:xfrm>
            <a:off x="5029200" y="2212848"/>
            <a:ext cx="2029967" cy="731520"/>
          </a:xfrm>
          <a:prstGeom prst="rect">
            <a:avLst/>
          </a:prstGeom>
          <a:noFill/>
        </p:spPr>
        <p:txBody>
          <a:bodyPr wrap="square" lIns="0" rIns="0" tIns="0" bIns="0" anchor="t">
            <a:spAutoFit/>
          </a:bodyPr>
          <a:lstStyle/>
          <a:p>
            <a:pPr algn="l">
              <a:lnSpc>
                <a:spcPct val="120000"/>
              </a:lnSpc>
              <a:spcAft>
                <a:spcPts val="0"/>
              </a:spcAft>
            </a:pPr>
            <a:r>
              <a:rPr sz="760" b="0">
                <a:solidFill>
                  <a:srgbClr val="5B6178"/>
                </a:solidFill>
                <a:latin typeface="Segoe UI"/>
              </a:rPr>
              <a:t>130 feature rows · 10 cluster</a:t>
            </a:r>
          </a:p>
          <a:p>
            <a:pPr algn="l">
              <a:lnSpc>
                <a:spcPct val="120000"/>
              </a:lnSpc>
              <a:spcAft>
                <a:spcPts val="0"/>
              </a:spcAft>
            </a:pPr>
            <a:r>
              <a:rPr sz="760" b="0">
                <a:solidFill>
                  <a:srgbClr val="5B6178"/>
                </a:solidFill>
                <a:latin typeface="Segoe UI"/>
              </a:rPr>
              <a:t>metric rows · 0 rejected</a:t>
            </a:r>
          </a:p>
        </p:txBody>
      </p:sp>
      <p:sp>
        <p:nvSpPr>
          <p:cNvPr id="30" name="Rectangle 29"/>
          <p:cNvSpPr/>
          <p:nvPr/>
        </p:nvSpPr>
        <p:spPr>
          <a:xfrm>
            <a:off x="329184" y="3163824"/>
            <a:ext cx="6858000" cy="274320"/>
          </a:xfrm>
          <a:prstGeom prst="rect">
            <a:avLst/>
          </a:prstGeom>
          <a:solidFill>
            <a:srgbClr val="4256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20623" y="3214116"/>
            <a:ext cx="6675120"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WHAT EVERY ATTRACTION CARRIES — ~30 STRUCTURED FIELDS</a:t>
            </a:r>
          </a:p>
        </p:txBody>
      </p:sp>
      <p:graphicFrame>
        <p:nvGraphicFramePr>
          <p:cNvPr id="32" name="Table 31"/>
          <p:cNvGraphicFramePr>
            <a:graphicFrameLocks noGrp="1"/>
          </p:cNvGraphicFramePr>
          <p:nvPr/>
        </p:nvGraphicFramePr>
        <p:xfrm>
          <a:off x="329184" y="3456432"/>
          <a:ext cx="6857999" cy="2170784"/>
        </p:xfrm>
        <a:graphic>
          <a:graphicData uri="http://schemas.openxmlformats.org/drawingml/2006/table">
            <a:tbl>
              <a:tblPr>
                <a:tableStyleId>{5C22544A-7EE6-4342-B048-85BDC9FD1C3A}</a:tableStyleId>
              </a:tblPr>
              <a:tblGrid>
                <a:gridCol w="1813034"/>
                <a:gridCol w="5044965"/>
              </a:tblGrid>
              <a:tr h="246888">
                <a:tc>
                  <a:txBody>
                    <a:bodyPr wrap="square"/>
                    <a:lstStyle/>
                    <a:p>
                      <a:pPr algn="l"/>
                      <a:r>
                        <a:rPr sz="740" b="1">
                          <a:solidFill>
                            <a:srgbClr val="FFFFFF"/>
                          </a:solidFill>
                          <a:latin typeface="Segoe UI"/>
                        </a:rPr>
                        <a:t>GROUP</a:t>
                      </a:r>
                    </a:p>
                  </a:txBody>
                  <a:tcPr marL="54864" marR="54864" marT="18288" marB="18288" anchor="ctr">
                    <a:solidFill>
                      <a:srgbClr val="42569F"/>
                    </a:solidFill>
                  </a:tcPr>
                </a:tc>
                <a:tc>
                  <a:txBody>
                    <a:bodyPr wrap="square"/>
                    <a:lstStyle/>
                    <a:p>
                      <a:pPr algn="l"/>
                      <a:r>
                        <a:rPr sz="740" b="1">
                          <a:solidFill>
                            <a:srgbClr val="FFFFFF"/>
                          </a:solidFill>
                          <a:latin typeface="Segoe UI"/>
                        </a:rPr>
                        <a:t>FIELDS</a:t>
                      </a:r>
                    </a:p>
                  </a:txBody>
                  <a:tcPr marL="54864" marR="54864" marT="18288" marB="18288" anchor="ctr">
                    <a:solidFill>
                      <a:srgbClr val="42569F"/>
                    </a:solidFill>
                  </a:tcPr>
                </a:tc>
              </a:tr>
              <a:tr h="240487">
                <a:tc>
                  <a:txBody>
                    <a:bodyPr wrap="square"/>
                    <a:lstStyle/>
                    <a:p>
                      <a:pPr algn="l"/>
                      <a:r>
                        <a:rPr sz="730" b="1">
                          <a:solidFill>
                            <a:srgbClr val="1A1D2E"/>
                          </a:solidFill>
                          <a:latin typeface="Segoe UI"/>
                        </a:rPr>
                        <a:t>Identity</a:t>
                      </a:r>
                    </a:p>
                  </a:txBody>
                  <a:tcPr marL="54864" marR="54864" marT="18288" marB="18288" anchor="ctr">
                    <a:solidFill>
                      <a:srgbClr val="FFFFFF"/>
                    </a:solidFill>
                  </a:tcPr>
                </a:tc>
                <a:tc>
                  <a:txBody>
                    <a:bodyPr wrap="square"/>
                    <a:lstStyle/>
                    <a:p>
                      <a:pPr algn="l"/>
                      <a:r>
                        <a:rPr sz="730" b="0">
                          <a:solidFill>
                            <a:srgbClr val="1A1D2E"/>
                          </a:solidFill>
                          <a:latin typeface="Segoe UI"/>
                        </a:rPr>
                        <a:t>slug · name · locality · city · lat/lon · categories (mapped to a 10-interest taxonomy)</a:t>
                      </a:r>
                    </a:p>
                  </a:txBody>
                  <a:tcPr marL="54864" marR="54864" marT="18288" marB="18288" anchor="ctr">
                    <a:solidFill>
                      <a:srgbClr val="FFFFFF"/>
                    </a:solidFill>
                  </a:tcPr>
                </a:tc>
              </a:tr>
              <a:tr h="240487">
                <a:tc>
                  <a:txBody>
                    <a:bodyPr wrap="square"/>
                    <a:lstStyle/>
                    <a:p>
                      <a:pPr algn="l"/>
                      <a:r>
                        <a:rPr sz="730" b="1">
                          <a:solidFill>
                            <a:srgbClr val="1A1D2E"/>
                          </a:solidFill>
                          <a:latin typeface="Segoe UI"/>
                        </a:rPr>
                        <a:t>Narrative</a:t>
                      </a:r>
                    </a:p>
                  </a:txBody>
                  <a:tcPr marL="54864" marR="54864" marT="18288" marB="18288" anchor="ctr">
                    <a:solidFill>
                      <a:srgbClr val="FDFBF7"/>
                    </a:solidFill>
                  </a:tcPr>
                </a:tc>
                <a:tc>
                  <a:txBody>
                    <a:bodyPr wrap="square"/>
                    <a:lstStyle/>
                    <a:p>
                      <a:pPr algn="l"/>
                      <a:r>
                        <a:rPr sz="730" b="0">
                          <a:solidFill>
                            <a:srgbClr val="1A1D2E"/>
                          </a:solidFill>
                          <a:latin typeface="Segoe UI"/>
                        </a:rPr>
                        <a:t>summary · history · significance · 2–8 interesting facts  → these become the RAG chunks</a:t>
                      </a:r>
                    </a:p>
                  </a:txBody>
                  <a:tcPr marL="54864" marR="54864" marT="18288" marB="18288" anchor="ctr">
                    <a:solidFill>
                      <a:srgbClr val="FDFBF7"/>
                    </a:solidFill>
                  </a:tcPr>
                </a:tc>
              </a:tr>
              <a:tr h="240487">
                <a:tc>
                  <a:txBody>
                    <a:bodyPr wrap="square"/>
                    <a:lstStyle/>
                    <a:p>
                      <a:pPr algn="l"/>
                      <a:r>
                        <a:rPr sz="730" b="1">
                          <a:solidFill>
                            <a:srgbClr val="1A1D2E"/>
                          </a:solidFill>
                          <a:latin typeface="Segoe UI"/>
                        </a:rPr>
                        <a:t>Planning</a:t>
                      </a:r>
                    </a:p>
                  </a:txBody>
                  <a:tcPr marL="54864" marR="54864" marT="18288" marB="18288" anchor="ctr">
                    <a:solidFill>
                      <a:srgbClr val="FFFFFF"/>
                    </a:solidFill>
                  </a:tcPr>
                </a:tc>
                <a:tc>
                  <a:txBody>
                    <a:bodyPr wrap="square"/>
                    <a:lstStyle/>
                    <a:p>
                      <a:pPr algn="l"/>
                      <a:r>
                        <a:rPr sz="730" b="0">
                          <a:solidFill>
                            <a:srgbClr val="1A1D2E"/>
                          </a:solidFill>
                          <a:latin typeface="Segoe UI"/>
                        </a:rPr>
                        <a:t>typical / min / max duration · best time of day · suitable months · indoor-outdoor · weather sensitivity · crowd profile</a:t>
                      </a:r>
                    </a:p>
                  </a:txBody>
                  <a:tcPr marL="54864" marR="54864" marT="18288" marB="18288" anchor="ctr">
                    <a:solidFill>
                      <a:srgbClr val="FFFFFF"/>
                    </a:solidFill>
                  </a:tcPr>
                </a:tc>
              </a:tr>
              <a:tr h="240487">
                <a:tc>
                  <a:txBody>
                    <a:bodyPr wrap="square"/>
                    <a:lstStyle/>
                    <a:p>
                      <a:pPr algn="l"/>
                      <a:r>
                        <a:rPr sz="730" b="1">
                          <a:solidFill>
                            <a:srgbClr val="1A1D2E"/>
                          </a:solidFill>
                          <a:latin typeface="Segoe UI"/>
                        </a:rPr>
                        <a:t>Access</a:t>
                      </a:r>
                    </a:p>
                  </a:txBody>
                  <a:tcPr marL="54864" marR="54864" marT="18288" marB="18288" anchor="ctr">
                    <a:solidFill>
                      <a:srgbClr val="FDFBF7"/>
                    </a:solidFill>
                  </a:tcPr>
                </a:tc>
                <a:tc>
                  <a:txBody>
                    <a:bodyPr wrap="square"/>
                    <a:lstStyle/>
                    <a:p>
                      <a:pPr algn="l"/>
                      <a:r>
                        <a:rPr sz="730" b="0">
                          <a:solidFill>
                            <a:srgbClr val="1A1D2E"/>
                          </a:solidFill>
                          <a:latin typeface="Segoe UI"/>
                        </a:rPr>
                        <a:t>wheelchair · accessibility notes · senior &amp; child suitability · physical intensity</a:t>
                      </a:r>
                    </a:p>
                  </a:txBody>
                  <a:tcPr marL="54864" marR="54864" marT="18288" marB="18288" anchor="ctr">
                    <a:solidFill>
                      <a:srgbClr val="FDFBF7"/>
                    </a:solidFill>
                  </a:tcPr>
                </a:tc>
              </a:tr>
              <a:tr h="240487">
                <a:tc>
                  <a:txBody>
                    <a:bodyPr wrap="square"/>
                    <a:lstStyle/>
                    <a:p>
                      <a:pPr algn="l"/>
                      <a:r>
                        <a:rPr sz="730" b="1">
                          <a:solidFill>
                            <a:srgbClr val="1A1D2E"/>
                          </a:solidFill>
                          <a:latin typeface="Segoe UI"/>
                        </a:rPr>
                        <a:t>Etiquette</a:t>
                      </a:r>
                    </a:p>
                  </a:txBody>
                  <a:tcPr marL="54864" marR="54864" marT="18288" marB="18288" anchor="ctr">
                    <a:solidFill>
                      <a:srgbClr val="FFFFFF"/>
                    </a:solidFill>
                  </a:tcPr>
                </a:tc>
                <a:tc>
                  <a:txBody>
                    <a:bodyPr wrap="square"/>
                    <a:lstStyle/>
                    <a:p>
                      <a:pPr algn="l"/>
                      <a:r>
                        <a:rPr sz="730" b="0">
                          <a:solidFill>
                            <a:srgbClr val="1A1D2E"/>
                          </a:solidFill>
                          <a:latin typeface="Segoe UI"/>
                        </a:rPr>
                        <a:t>dress code · photography policy · local customs  (mandatory for religious sites — enforced by test)</a:t>
                      </a:r>
                    </a:p>
                  </a:txBody>
                  <a:tcPr marL="54864" marR="54864" marT="18288" marB="18288" anchor="ctr">
                    <a:solidFill>
                      <a:srgbClr val="FFFFFF"/>
                    </a:solidFill>
                  </a:tcPr>
                </a:tc>
              </a:tr>
              <a:tr h="240487">
                <a:tc>
                  <a:txBody>
                    <a:bodyPr wrap="square"/>
                    <a:lstStyle/>
                    <a:p>
                      <a:pPr algn="l"/>
                      <a:r>
                        <a:rPr sz="730" b="1">
                          <a:solidFill>
                            <a:srgbClr val="1A1D2E"/>
                          </a:solidFill>
                          <a:latin typeface="Segoe UI"/>
                        </a:rPr>
                        <a:t>Schedule</a:t>
                      </a:r>
                    </a:p>
                  </a:txBody>
                  <a:tcPr marL="54864" marR="54864" marT="18288" marB="18288" anchor="ctr">
                    <a:solidFill>
                      <a:srgbClr val="FDFBF7"/>
                    </a:solidFill>
                  </a:tcPr>
                </a:tc>
                <a:tc>
                  <a:txBody>
                    <a:bodyPr wrap="square"/>
                    <a:lstStyle/>
                    <a:p>
                      <a:pPr algn="l"/>
                      <a:r>
                        <a:rPr sz="730" b="0">
                          <a:solidFill>
                            <a:srgbClr val="1A1D2E"/>
                          </a:solidFill>
                          <a:latin typeface="Segoe UI"/>
                        </a:rPr>
                        <a:t>per-weekday open/close windows · seasonal variants · closure days</a:t>
                      </a:r>
                    </a:p>
                  </a:txBody>
                  <a:tcPr marL="54864" marR="54864" marT="18288" marB="18288" anchor="ctr">
                    <a:solidFill>
                      <a:srgbClr val="FDFBF7"/>
                    </a:solidFill>
                  </a:tcPr>
                </a:tc>
              </a:tr>
              <a:tr h="240487">
                <a:tc>
                  <a:txBody>
                    <a:bodyPr wrap="square"/>
                    <a:lstStyle/>
                    <a:p>
                      <a:pPr algn="l"/>
                      <a:r>
                        <a:rPr sz="730" b="1">
                          <a:solidFill>
                            <a:srgbClr val="1A1D2E"/>
                          </a:solidFill>
                          <a:latin typeface="Segoe UI"/>
                        </a:rPr>
                        <a:t>Cost</a:t>
                      </a:r>
                    </a:p>
                  </a:txBody>
                  <a:tcPr marL="54864" marR="54864" marT="18288" marB="18288" anchor="ctr">
                    <a:solidFill>
                      <a:srgbClr val="FFFFFF"/>
                    </a:solidFill>
                  </a:tcPr>
                </a:tc>
                <a:tc>
                  <a:txBody>
                    <a:bodyPr wrap="square"/>
                    <a:lstStyle/>
                    <a:p>
                      <a:pPr algn="l"/>
                      <a:r>
                        <a:rPr sz="730" b="0">
                          <a:solidFill>
                            <a:srgbClr val="1A1D2E"/>
                          </a:solidFill>
                          <a:latin typeface="Segoe UI"/>
                        </a:rPr>
                        <a:t>fee bands by visitor type · free flags</a:t>
                      </a:r>
                    </a:p>
                  </a:txBody>
                  <a:tcPr marL="54864" marR="54864" marT="18288" marB="18288" anchor="ctr">
                    <a:solidFill>
                      <a:srgbClr val="FFFFFF"/>
                    </a:solidFill>
                  </a:tcPr>
                </a:tc>
              </a:tr>
              <a:tr h="240487">
                <a:tc>
                  <a:txBody>
                    <a:bodyPr wrap="square"/>
                    <a:lstStyle/>
                    <a:p>
                      <a:pPr algn="l"/>
                      <a:r>
                        <a:rPr sz="730" b="1">
                          <a:solidFill>
                            <a:srgbClr val="1A1D2E"/>
                          </a:solidFill>
                          <a:latin typeface="Segoe UI"/>
                        </a:rPr>
                        <a:t>Provenance</a:t>
                      </a:r>
                    </a:p>
                  </a:txBody>
                  <a:tcPr marL="54864" marR="54864" marT="18288" marB="18288" anchor="ctr">
                    <a:solidFill>
                      <a:srgbClr val="FDFBF7"/>
                    </a:solidFill>
                  </a:tcPr>
                </a:tc>
                <a:tc>
                  <a:txBody>
                    <a:bodyPr wrap="square"/>
                    <a:lstStyle/>
                    <a:p>
                      <a:pPr algn="l"/>
                      <a:r>
                        <a:rPr sz="730" b="0">
                          <a:solidFill>
                            <a:srgbClr val="1A1D2E"/>
                          </a:solidFill>
                          <a:latin typeface="Segoe UI"/>
                        </a:rPr>
                        <a:t>≥1 cited source, HTTPS, allow-listed domain, with a covers[] list and last_verified date</a:t>
                      </a:r>
                    </a:p>
                  </a:txBody>
                  <a:tcPr marL="54864" marR="54864" marT="18288" marB="18288" anchor="ctr">
                    <a:solidFill>
                      <a:srgbClr val="FDFBF7"/>
                    </a:solidFill>
                  </a:tcPr>
                </a:tc>
              </a:tr>
            </a:tbl>
          </a:graphicData>
        </a:graphic>
      </p:graphicFrame>
      <p:sp>
        <p:nvSpPr>
          <p:cNvPr id="33" name="Rectangle 32"/>
          <p:cNvSpPr/>
          <p:nvPr/>
        </p:nvSpPr>
        <p:spPr>
          <a:xfrm>
            <a:off x="7370064" y="1298448"/>
            <a:ext cx="4492447" cy="274320"/>
          </a:xfrm>
          <a:prstGeom prst="rect">
            <a:avLst/>
          </a:prstGeom>
          <a:solidFill>
            <a:srgbClr val="A9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461504" y="1348739"/>
            <a:ext cx="4309567"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THE GATES</a:t>
            </a:r>
          </a:p>
        </p:txBody>
      </p:sp>
      <p:sp>
        <p:nvSpPr>
          <p:cNvPr id="35" name="Rectangle 34"/>
          <p:cNvSpPr/>
          <p:nvPr/>
        </p:nvSpPr>
        <p:spPr>
          <a:xfrm>
            <a:off x="7370064" y="1572768"/>
            <a:ext cx="4492447" cy="2029968"/>
          </a:xfrm>
          <a:prstGeom prst="rect">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498079" y="1700784"/>
            <a:ext cx="4236415" cy="1828800"/>
          </a:xfrm>
          <a:prstGeom prst="rect">
            <a:avLst/>
          </a:prstGeom>
          <a:noFill/>
        </p:spPr>
        <p:txBody>
          <a:bodyPr wrap="square" lIns="0" rIns="0" tIns="0" bIns="0" anchor="t">
            <a:spAutoFit/>
          </a:bodyPr>
          <a:lstStyle/>
          <a:p>
            <a:pPr algn="l">
              <a:lnSpc>
                <a:spcPct val="122000"/>
              </a:lnSpc>
              <a:spcAft>
                <a:spcPts val="0"/>
              </a:spcAft>
            </a:pPr>
            <a:r>
              <a:rPr sz="840" b="1">
                <a:solidFill>
                  <a:srgbClr val="1A1D2E"/>
                </a:solidFill>
                <a:latin typeface="Segoe UI"/>
              </a:rPr>
              <a:t>7 Pandera contracts</a:t>
            </a:r>
            <a:r>
              <a:rPr sz="840" b="0">
                <a:solidFill>
                  <a:srgbClr val="5B6178"/>
                </a:solidFill>
                <a:latin typeface="Segoe UI"/>
              </a:rPr>
              <a:t> enforced at promotion — a row that fails is rejected with a reason, never coerced silently.</a:t>
            </a:r>
          </a:p>
          <a:p>
            <a:pPr algn="l">
              <a:lnSpc>
                <a:spcPct val="122000"/>
              </a:lnSpc>
              <a:spcAft>
                <a:spcPts val="0"/>
              </a:spcAft>
            </a:pPr>
            <a:r>
              <a:rPr sz="840" b="0">
                <a:solidFill>
                  <a:srgbClr val="5B6178"/>
                </a:solidFill>
                <a:latin typeface="Segoe UI"/>
              </a:rPr>
              <a:t/>
            </a:r>
          </a:p>
          <a:p>
            <a:pPr algn="l">
              <a:lnSpc>
                <a:spcPct val="122000"/>
              </a:lnSpc>
              <a:spcAft>
                <a:spcPts val="0"/>
              </a:spcAft>
            </a:pPr>
            <a:r>
              <a:rPr sz="840" b="1">
                <a:solidFill>
                  <a:srgbClr val="1A1D2E"/>
                </a:solidFill>
                <a:latin typeface="Segoe UI"/>
              </a:rPr>
              <a:t>12 runtime data-quality checks</a:t>
            </a:r>
            <a:r>
              <a:rPr sz="840" b="0">
                <a:solidFill>
                  <a:srgbClr val="5B6178"/>
                </a:solidFill>
                <a:latin typeface="Segoe UI"/>
              </a:rPr>
              <a:t> power an admin dashboard and gate the Airflow DAG.</a:t>
            </a:r>
          </a:p>
          <a:p>
            <a:pPr algn="l">
              <a:lnSpc>
                <a:spcPct val="122000"/>
              </a:lnSpc>
              <a:spcAft>
                <a:spcPts val="0"/>
              </a:spcAft>
            </a:pPr>
            <a:r>
              <a:rPr sz="840" b="0">
                <a:solidFill>
                  <a:srgbClr val="5B6178"/>
                </a:solidFill>
                <a:latin typeface="Segoe UI"/>
              </a:rPr>
              <a:t/>
            </a:r>
          </a:p>
          <a:p>
            <a:pPr algn="l">
              <a:lnSpc>
                <a:spcPct val="122000"/>
              </a:lnSpc>
              <a:spcAft>
                <a:spcPts val="0"/>
              </a:spcAft>
            </a:pPr>
            <a:r>
              <a:rPr sz="840" b="1">
                <a:solidFill>
                  <a:srgbClr val="1A1D2E"/>
                </a:solidFill>
                <a:latin typeface="Segoe UI"/>
              </a:rPr>
              <a:t>30 data-quality tests</a:t>
            </a:r>
            <a:r>
              <a:rPr sz="840" b="0">
                <a:solidFill>
                  <a:srgbClr val="5B6178"/>
                </a:solidFill>
                <a:latin typeface="Segoe UI"/>
              </a:rPr>
              <a:t> run in CI: coordinate bounds, cluster distance, duplicate detection, category-taxonomy coverage, source allow-list, dress code on religious sites.</a:t>
            </a:r>
          </a:p>
        </p:txBody>
      </p:sp>
      <p:sp>
        <p:nvSpPr>
          <p:cNvPr id="37" name="Rectangle 36"/>
          <p:cNvSpPr/>
          <p:nvPr/>
        </p:nvSpPr>
        <p:spPr>
          <a:xfrm>
            <a:off x="7370064" y="3712463"/>
            <a:ext cx="4492447" cy="274320"/>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461504" y="3762755"/>
            <a:ext cx="4309567"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THE HONESTY RULE</a:t>
            </a:r>
          </a:p>
        </p:txBody>
      </p:sp>
      <p:sp>
        <p:nvSpPr>
          <p:cNvPr id="39" name="Rectangle 38"/>
          <p:cNvSpPr/>
          <p:nvPr/>
        </p:nvSpPr>
        <p:spPr>
          <a:xfrm>
            <a:off x="7370064" y="3986784"/>
            <a:ext cx="4492447" cy="1682496"/>
          </a:xfrm>
          <a:prstGeom prst="rect">
            <a:avLst/>
          </a:prstGeom>
          <a:solidFill>
            <a:srgbClr val="FDF2EA"/>
          </a:solidFill>
          <a:ln w="9525">
            <a:solidFill>
              <a:srgbClr val="FADF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498079" y="4114800"/>
            <a:ext cx="4236415" cy="1463040"/>
          </a:xfrm>
          <a:prstGeom prst="rect">
            <a:avLst/>
          </a:prstGeom>
          <a:noFill/>
        </p:spPr>
        <p:txBody>
          <a:bodyPr wrap="square" lIns="0" rIns="0" tIns="0" bIns="0" anchor="t">
            <a:spAutoFit/>
          </a:bodyPr>
          <a:lstStyle/>
          <a:p>
            <a:pPr algn="l">
              <a:lnSpc>
                <a:spcPct val="122000"/>
              </a:lnSpc>
              <a:spcAft>
                <a:spcPts val="0"/>
              </a:spcAft>
            </a:pPr>
            <a:r>
              <a:rPr sz="840" b="1">
                <a:solidFill>
                  <a:srgbClr val="A44C1F"/>
                </a:solidFill>
                <a:latin typeface="Segoe UI"/>
              </a:rPr>
              <a:t>Not one schedule or fee row in this dataset claims to be verified.</a:t>
            </a:r>
          </a:p>
          <a:p>
            <a:pPr algn="l">
              <a:lnSpc>
                <a:spcPct val="122000"/>
              </a:lnSpc>
              <a:spcAft>
                <a:spcPts val="0"/>
              </a:spcAft>
            </a:pPr>
            <a:r>
              <a:rPr sz="840" b="0">
                <a:solidFill>
                  <a:srgbClr val="5B6178"/>
                </a:solidFill>
                <a:latin typeface="Segoe UI"/>
              </a:rPr>
              <a:t/>
            </a:r>
          </a:p>
          <a:p>
            <a:pPr algn="l">
              <a:lnSpc>
                <a:spcPct val="122000"/>
              </a:lnSpc>
              <a:spcAft>
                <a:spcPts val="0"/>
              </a:spcAft>
            </a:pPr>
            <a:r>
              <a:rPr sz="840" b="0">
                <a:solidFill>
                  <a:srgbClr val="5B6178"/>
                </a:solidFill>
                <a:latin typeface="Segoe UI"/>
              </a:rPr>
              <a:t>I authored the catalogue from public sources; I cannot verify opening hours or prices. So every such row carries verified: false, the UI renders a badge, and a data-quality test fails the build if a row ever claims otherwise.</a:t>
            </a:r>
          </a:p>
        </p:txBody>
      </p:sp>
      <p:sp>
        <p:nvSpPr>
          <p:cNvPr id="41" name="Rectangle 40"/>
          <p:cNvSpPr/>
          <p:nvPr/>
        </p:nvSpPr>
        <p:spPr>
          <a:xfrm>
            <a:off x="329184" y="5779008"/>
            <a:ext cx="11533327" cy="420624"/>
          </a:xfrm>
          <a:prstGeom prst="rect">
            <a:avLst/>
          </a:prstGeom>
          <a:solidFill>
            <a:srgbClr val="141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457200" y="5861304"/>
            <a:ext cx="11277295" cy="274320"/>
          </a:xfrm>
          <a:prstGeom prst="rect">
            <a:avLst/>
          </a:prstGeom>
          <a:noFill/>
        </p:spPr>
        <p:txBody>
          <a:bodyPr wrap="square" lIns="0" rIns="0" tIns="0" bIns="0" anchor="t">
            <a:spAutoFit/>
          </a:bodyPr>
          <a:lstStyle/>
          <a:p>
            <a:pPr algn="l">
              <a:lnSpc>
                <a:spcPct val="115000"/>
              </a:lnSpc>
              <a:spcAft>
                <a:spcPts val="0"/>
              </a:spcAft>
            </a:pPr>
            <a:r>
              <a:rPr sz="860" b="1">
                <a:solidFill>
                  <a:srgbClr val="E07A3F"/>
                </a:solidFill>
                <a:latin typeface="Segoe UI"/>
              </a:rPr>
              <a:t>TWO REAL DEFECTS THE GATE CAUGHT:  </a:t>
            </a:r>
            <a:r>
              <a:rPr sz="860" b="0">
                <a:solidFill>
                  <a:srgbClr val="FFFFFF"/>
                </a:solidFill>
                <a:latin typeface="Segoe UI"/>
              </a:rPr>
              <a:t>a neighbour reference crossing destination clusters (Mawlynnong → Dawki), and two attractions sharing identical coordinates (Gaurikund / Kedarnath trek). Both were my authoring errors. Neither was visible by reading the JSON.</a:t>
            </a:r>
          </a:p>
        </p:txBody>
      </p:sp>
      <p:sp>
        <p:nvSpPr>
          <p:cNvPr id="43" name="Rectangle 42"/>
          <p:cNvSpPr/>
          <p:nvPr/>
        </p:nvSpPr>
        <p:spPr>
          <a:xfrm>
            <a:off x="329184" y="6382512"/>
            <a:ext cx="11533327" cy="10972"/>
          </a:xfrm>
          <a:prstGeom prst="rect">
            <a:avLst/>
          </a:prstGeom>
          <a:solidFill>
            <a:srgbClr val="E6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329184" y="6473952"/>
            <a:ext cx="10893247" cy="256032"/>
          </a:xfrm>
          <a:prstGeom prst="rect">
            <a:avLst/>
          </a:prstGeom>
          <a:noFill/>
        </p:spPr>
        <p:txBody>
          <a:bodyPr wrap="square" lIns="0" rIns="0" tIns="0" bIns="0" anchor="t">
            <a:spAutoFit/>
          </a:bodyPr>
          <a:lstStyle/>
          <a:p>
            <a:pPr algn="l">
              <a:lnSpc>
                <a:spcPct val="100000"/>
              </a:lnSpc>
              <a:spcAft>
                <a:spcPts val="0"/>
              </a:spcAft>
            </a:pPr>
            <a:r>
              <a:rPr sz="680" b="0">
                <a:solidFill>
                  <a:srgbClr val="8A90A6"/>
                </a:solidFill>
                <a:latin typeface="Segoe UI"/>
              </a:rPr>
              <a:t>Sources: data/seed/attractions/*.json; pipelines/medallion.py; tests/data_quality/; docs/data-dictionary.md.</a:t>
            </a:r>
          </a:p>
        </p:txBody>
      </p:sp>
      <p:sp>
        <p:nvSpPr>
          <p:cNvPr id="45" name="TextBox 44"/>
          <p:cNvSpPr txBox="1"/>
          <p:nvPr/>
        </p:nvSpPr>
        <p:spPr>
          <a:xfrm>
            <a:off x="11313871" y="6455664"/>
            <a:ext cx="548640" cy="274320"/>
          </a:xfrm>
          <a:prstGeom prst="rect">
            <a:avLst/>
          </a:prstGeom>
          <a:noFill/>
        </p:spPr>
        <p:txBody>
          <a:bodyPr wrap="square" lIns="0" rIns="0" tIns="0" bIns="0" anchor="t">
            <a:spAutoFit/>
          </a:bodyPr>
          <a:lstStyle/>
          <a:p>
            <a:pPr algn="r">
              <a:lnSpc>
                <a:spcPct val="100000"/>
              </a:lnSpc>
              <a:spcAft>
                <a:spcPts val="0"/>
              </a:spcAft>
            </a:pPr>
            <a:r>
              <a:rPr sz="1100" b="1">
                <a:solidFill>
                  <a:srgbClr val="42569F"/>
                </a:solidFill>
                <a:latin typeface="Segoe U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29184"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29184"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PROBLEM &amp;</a:t>
            </a:r>
          </a:p>
          <a:p>
            <a:pPr algn="ctr">
              <a:lnSpc>
                <a:spcPct val="95000"/>
              </a:lnSpc>
              <a:spcAft>
                <a:spcPts val="0"/>
              </a:spcAft>
            </a:pPr>
            <a:r>
              <a:rPr sz="750" b="1">
                <a:solidFill>
                  <a:srgbClr val="A44C1F"/>
                </a:solidFill>
                <a:latin typeface="Segoe UI"/>
              </a:rPr>
              <a:t>ARCHITECTURE</a:t>
            </a:r>
          </a:p>
        </p:txBody>
      </p:sp>
      <p:sp>
        <p:nvSpPr>
          <p:cNvPr id="5" name="Rectangle 4"/>
          <p:cNvSpPr/>
          <p:nvPr/>
        </p:nvSpPr>
        <p:spPr>
          <a:xfrm>
            <a:off x="2646822"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646822"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DATA</a:t>
            </a:r>
          </a:p>
          <a:p>
            <a:pPr algn="ctr">
              <a:lnSpc>
                <a:spcPct val="95000"/>
              </a:lnSpc>
              <a:spcAft>
                <a:spcPts val="0"/>
              </a:spcAft>
            </a:pPr>
            <a:r>
              <a:rPr sz="750" b="1">
                <a:solidFill>
                  <a:srgbClr val="A44C1F"/>
                </a:solidFill>
                <a:latin typeface="Segoe UI"/>
              </a:rPr>
              <a:t>FOUNDATION</a:t>
            </a:r>
          </a:p>
        </p:txBody>
      </p:sp>
      <p:sp>
        <p:nvSpPr>
          <p:cNvPr id="7" name="Rectangle 6"/>
          <p:cNvSpPr/>
          <p:nvPr/>
        </p:nvSpPr>
        <p:spPr>
          <a:xfrm>
            <a:off x="4964460" y="237744"/>
            <a:ext cx="2262774" cy="420624"/>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964460"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FFFFFF"/>
                </a:solidFill>
                <a:latin typeface="Segoe UI"/>
              </a:rPr>
              <a:t>RANKING &amp;</a:t>
            </a:r>
          </a:p>
          <a:p>
            <a:pPr algn="ctr">
              <a:lnSpc>
                <a:spcPct val="95000"/>
              </a:lnSpc>
              <a:spcAft>
                <a:spcPts val="0"/>
              </a:spcAft>
            </a:pPr>
            <a:r>
              <a:rPr sz="750" b="1">
                <a:solidFill>
                  <a:srgbClr val="FFFFFF"/>
                </a:solidFill>
                <a:latin typeface="Segoe UI"/>
              </a:rPr>
              <a:t>FAIRNESS</a:t>
            </a:r>
          </a:p>
        </p:txBody>
      </p:sp>
      <p:sp>
        <p:nvSpPr>
          <p:cNvPr id="9" name="Rectangle 8"/>
          <p:cNvSpPr/>
          <p:nvPr/>
        </p:nvSpPr>
        <p:spPr>
          <a:xfrm>
            <a:off x="7282098"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82098"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OPTIMISATION</a:t>
            </a:r>
          </a:p>
          <a:p>
            <a:pPr algn="ctr">
              <a:lnSpc>
                <a:spcPct val="95000"/>
              </a:lnSpc>
              <a:spcAft>
                <a:spcPts val="0"/>
              </a:spcAft>
            </a:pPr>
            <a:r>
              <a:rPr sz="750" b="1">
                <a:solidFill>
                  <a:srgbClr val="A44C1F"/>
                </a:solidFill>
                <a:latin typeface="Segoe UI"/>
              </a:rPr>
              <a:t>&amp; VALIDATION</a:t>
            </a:r>
          </a:p>
        </p:txBody>
      </p:sp>
      <p:sp>
        <p:nvSpPr>
          <p:cNvPr id="11" name="Rectangle 10"/>
          <p:cNvSpPr/>
          <p:nvPr/>
        </p:nvSpPr>
        <p:spPr>
          <a:xfrm>
            <a:off x="9599736"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99736"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RETRIEVAL,</a:t>
            </a:r>
          </a:p>
          <a:p>
            <a:pPr algn="ctr">
              <a:lnSpc>
                <a:spcPct val="95000"/>
              </a:lnSpc>
              <a:spcAft>
                <a:spcPts val="0"/>
              </a:spcAft>
            </a:pPr>
            <a:r>
              <a:rPr sz="750" b="1">
                <a:solidFill>
                  <a:srgbClr val="A44C1F"/>
                </a:solidFill>
                <a:latin typeface="Segoe UI"/>
              </a:rPr>
              <a:t>TRUST &amp; RESULTS</a:t>
            </a:r>
          </a:p>
        </p:txBody>
      </p:sp>
      <p:sp>
        <p:nvSpPr>
          <p:cNvPr id="13" name="TextBox 12"/>
          <p:cNvSpPr txBox="1"/>
          <p:nvPr/>
        </p:nvSpPr>
        <p:spPr>
          <a:xfrm>
            <a:off x="329184" y="804672"/>
            <a:ext cx="11533327" cy="292608"/>
          </a:xfrm>
          <a:prstGeom prst="rect">
            <a:avLst/>
          </a:prstGeom>
          <a:noFill/>
        </p:spPr>
        <p:txBody>
          <a:bodyPr wrap="square" lIns="0" rIns="0" tIns="0" bIns="0" anchor="t">
            <a:spAutoFit/>
          </a:bodyPr>
          <a:lstStyle/>
          <a:p>
            <a:pPr algn="l">
              <a:lnSpc>
                <a:spcPct val="100000"/>
              </a:lnSpc>
              <a:spcAft>
                <a:spcPts val="0"/>
              </a:spcAft>
            </a:pPr>
            <a:r>
              <a:rPr sz="1700" b="1">
                <a:solidFill>
                  <a:srgbClr val="23306B"/>
                </a:solidFill>
                <a:latin typeface="Segoe UI"/>
              </a:rPr>
              <a:t>RANKING &amp; GROUP FAIRNESS — TURNING FOUR PEOPLE'S PREFERENCES INTO ONE SHORTLIST</a:t>
            </a:r>
          </a:p>
        </p:txBody>
      </p:sp>
      <p:sp>
        <p:nvSpPr>
          <p:cNvPr id="14" name="Rectangle 13"/>
          <p:cNvSpPr/>
          <p:nvPr/>
        </p:nvSpPr>
        <p:spPr>
          <a:xfrm>
            <a:off x="329184" y="1133856"/>
            <a:ext cx="11533327" cy="20116"/>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29184" y="1298448"/>
            <a:ext cx="5532120" cy="274320"/>
          </a:xfrm>
          <a:prstGeom prst="rect">
            <a:avLst/>
          </a:prstGeom>
          <a:solidFill>
            <a:srgbClr val="A9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20623" y="1348739"/>
            <a:ext cx="5349240"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STEP 1 — HARD ELIGIBILITY (REMOVAL, NOT DOWN-RANKING)</a:t>
            </a:r>
          </a:p>
        </p:txBody>
      </p:sp>
      <p:sp>
        <p:nvSpPr>
          <p:cNvPr id="17" name="Rectangle 16"/>
          <p:cNvSpPr/>
          <p:nvPr/>
        </p:nvSpPr>
        <p:spPr>
          <a:xfrm>
            <a:off x="329184" y="1572768"/>
            <a:ext cx="5532120" cy="969264"/>
          </a:xfrm>
          <a:prstGeom prst="rect">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57200" y="1682496"/>
            <a:ext cx="5276088" cy="822960"/>
          </a:xfrm>
          <a:prstGeom prst="rect">
            <a:avLst/>
          </a:prstGeom>
          <a:noFill/>
        </p:spPr>
        <p:txBody>
          <a:bodyPr wrap="square" lIns="0" rIns="0" tIns="0" bIns="0" anchor="t">
            <a:spAutoFit/>
          </a:bodyPr>
          <a:lstStyle/>
          <a:p>
            <a:pPr algn="l">
              <a:lnSpc>
                <a:spcPct val="120000"/>
              </a:lnSpc>
              <a:spcAft>
                <a:spcPts val="0"/>
              </a:spcAft>
            </a:pPr>
            <a:r>
              <a:rPr sz="840" b="0">
                <a:solidFill>
                  <a:srgbClr val="5B6178"/>
                </a:solidFill>
                <a:latin typeface="Segoe UI"/>
              </a:rPr>
              <a:t>Closed on every day of the trip · outside budget · fails a stated accessibility need · on a member's avoid list.</a:t>
            </a:r>
          </a:p>
          <a:p>
            <a:pPr algn="l">
              <a:lnSpc>
                <a:spcPct val="120000"/>
              </a:lnSpc>
              <a:spcAft>
                <a:spcPts val="0"/>
              </a:spcAft>
            </a:pPr>
            <a:r>
              <a:rPr sz="840" b="0">
                <a:solidFill>
                  <a:srgbClr val="5B6178"/>
                </a:solidFill>
                <a:latin typeface="Segoe UI"/>
              </a:rPr>
              <a:t/>
            </a:r>
          </a:p>
          <a:p>
            <a:pPr algn="l">
              <a:lnSpc>
                <a:spcPct val="120000"/>
              </a:lnSpc>
              <a:spcAft>
                <a:spcPts val="0"/>
              </a:spcAft>
            </a:pPr>
            <a:r>
              <a:rPr sz="840" b="1">
                <a:solidFill>
                  <a:srgbClr val="A94545"/>
                </a:solidFill>
                <a:latin typeface="Segoe UI"/>
              </a:rPr>
              <a:t>A member veto is absolute — a majority cannot outvote one person's mobility requirement. Infeasible options are deleted from the candidate set, so the optimiser can never trade an accessibility need against a higher score.</a:t>
            </a:r>
          </a:p>
        </p:txBody>
      </p:sp>
      <p:sp>
        <p:nvSpPr>
          <p:cNvPr id="19" name="Rectangle 18"/>
          <p:cNvSpPr/>
          <p:nvPr/>
        </p:nvSpPr>
        <p:spPr>
          <a:xfrm>
            <a:off x="329184" y="2670048"/>
            <a:ext cx="5532120" cy="274320"/>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20623" y="2720340"/>
            <a:ext cx="5349240"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STEP 2 — NINE EXPLAINABLE SCORE COMPONENTS</a:t>
            </a:r>
          </a:p>
        </p:txBody>
      </p:sp>
      <p:graphicFrame>
        <p:nvGraphicFramePr>
          <p:cNvPr id="21" name="Table 20"/>
          <p:cNvGraphicFramePr>
            <a:graphicFrameLocks noGrp="1"/>
          </p:cNvGraphicFramePr>
          <p:nvPr/>
        </p:nvGraphicFramePr>
        <p:xfrm>
          <a:off x="329184" y="2962656"/>
          <a:ext cx="5532118" cy="2205531"/>
        </p:xfrm>
        <a:graphic>
          <a:graphicData uri="http://schemas.openxmlformats.org/drawingml/2006/table">
            <a:tbl>
              <a:tblPr>
                <a:tableStyleId>{5C22544A-7EE6-4342-B048-85BDC9FD1C3A}</a:tableStyleId>
              </a:tblPr>
              <a:tblGrid>
                <a:gridCol w="2011679"/>
                <a:gridCol w="3520439"/>
              </a:tblGrid>
              <a:tr h="246888">
                <a:tc>
                  <a:txBody>
                    <a:bodyPr wrap="square"/>
                    <a:lstStyle/>
                    <a:p>
                      <a:pPr algn="l"/>
                      <a:r>
                        <a:rPr sz="740" b="1">
                          <a:solidFill>
                            <a:srgbClr val="FFFFFF"/>
                          </a:solidFill>
                          <a:latin typeface="Segoe UI"/>
                        </a:rPr>
                        <a:t>COMPONENT</a:t>
                      </a:r>
                    </a:p>
                  </a:txBody>
                  <a:tcPr marL="54864" marR="54864" marT="18288" marB="18288" anchor="ctr">
                    <a:solidFill>
                      <a:srgbClr val="23306B"/>
                    </a:solidFill>
                  </a:tcPr>
                </a:tc>
                <a:tc>
                  <a:txBody>
                    <a:bodyPr wrap="square"/>
                    <a:lstStyle/>
                    <a:p>
                      <a:pPr algn="l"/>
                      <a:r>
                        <a:rPr sz="740" b="1">
                          <a:solidFill>
                            <a:srgbClr val="FFFFFF"/>
                          </a:solidFill>
                          <a:latin typeface="Segoe UI"/>
                        </a:rPr>
                        <a:t>WHAT IT MEASURES</a:t>
                      </a:r>
                    </a:p>
                  </a:txBody>
                  <a:tcPr marL="54864" marR="54864" marT="18288" marB="18288" anchor="ctr">
                    <a:solidFill>
                      <a:srgbClr val="23306B"/>
                    </a:solidFill>
                  </a:tcPr>
                </a:tc>
              </a:tr>
              <a:tr h="217627">
                <a:tc>
                  <a:txBody>
                    <a:bodyPr wrap="square"/>
                    <a:lstStyle/>
                    <a:p>
                      <a:pPr algn="l"/>
                      <a:r>
                        <a:rPr sz="750" b="1">
                          <a:solidFill>
                            <a:srgbClr val="1A1D2E"/>
                          </a:solidFill>
                          <a:latin typeface="Consolas"/>
                        </a:rPr>
                        <a:t>interest_match</a:t>
                      </a:r>
                    </a:p>
                  </a:txBody>
                  <a:tcPr marL="54864" marR="54864" marT="18288" marB="18288" anchor="ctr">
                    <a:solidFill>
                      <a:srgbClr val="FFFFFF"/>
                    </a:solidFill>
                  </a:tcPr>
                </a:tc>
                <a:tc>
                  <a:txBody>
                    <a:bodyPr wrap="square"/>
                    <a:lstStyle/>
                    <a:p>
                      <a:pPr algn="l"/>
                      <a:r>
                        <a:rPr sz="750" b="0">
                          <a:solidFill>
                            <a:srgbClr val="1A1D2E"/>
                          </a:solidFill>
                          <a:latin typeface="Segoe UI"/>
                        </a:rPr>
                        <a:t>Member interests vs the attraction's mapped categories</a:t>
                      </a:r>
                    </a:p>
                  </a:txBody>
                  <a:tcPr marL="54864" marR="54864" marT="18288" marB="18288" anchor="ctr">
                    <a:solidFill>
                      <a:srgbClr val="FFFFFF"/>
                    </a:solidFill>
                  </a:tcPr>
                </a:tc>
              </a:tr>
              <a:tr h="217627">
                <a:tc>
                  <a:txBody>
                    <a:bodyPr wrap="square"/>
                    <a:lstStyle/>
                    <a:p>
                      <a:pPr algn="l"/>
                      <a:r>
                        <a:rPr sz="750" b="1">
                          <a:solidFill>
                            <a:srgbClr val="1A1D2E"/>
                          </a:solidFill>
                          <a:latin typeface="Consolas"/>
                        </a:rPr>
                        <a:t>group_fairness</a:t>
                      </a:r>
                    </a:p>
                  </a:txBody>
                  <a:tcPr marL="54864" marR="54864" marT="18288" marB="18288" anchor="ctr">
                    <a:solidFill>
                      <a:srgbClr val="FDFBF7"/>
                    </a:solidFill>
                  </a:tcPr>
                </a:tc>
                <a:tc>
                  <a:txBody>
                    <a:bodyPr wrap="square"/>
                    <a:lstStyle/>
                    <a:p>
                      <a:pPr algn="l"/>
                      <a:r>
                        <a:rPr sz="750" b="0">
                          <a:solidFill>
                            <a:srgbClr val="1A1D2E"/>
                          </a:solidFill>
                          <a:latin typeface="Segoe UI"/>
                        </a:rPr>
                        <a:t>Marginal gain to the least-served members</a:t>
                      </a:r>
                    </a:p>
                  </a:txBody>
                  <a:tcPr marL="54864" marR="54864" marT="18288" marB="18288" anchor="ctr">
                    <a:solidFill>
                      <a:srgbClr val="FDFBF7"/>
                    </a:solidFill>
                  </a:tcPr>
                </a:tc>
              </a:tr>
              <a:tr h="217627">
                <a:tc>
                  <a:txBody>
                    <a:bodyPr wrap="square"/>
                    <a:lstStyle/>
                    <a:p>
                      <a:pPr algn="l"/>
                      <a:r>
                        <a:rPr sz="750" b="1">
                          <a:solidFill>
                            <a:srgbClr val="1A1D2E"/>
                          </a:solidFill>
                          <a:latin typeface="Consolas"/>
                        </a:rPr>
                        <a:t>attraction_quality</a:t>
                      </a:r>
                    </a:p>
                  </a:txBody>
                  <a:tcPr marL="54864" marR="54864" marT="18288" marB="18288" anchor="ctr">
                    <a:solidFill>
                      <a:srgbClr val="FFFFFF"/>
                    </a:solidFill>
                  </a:tcPr>
                </a:tc>
                <a:tc>
                  <a:txBody>
                    <a:bodyPr wrap="square"/>
                    <a:lstStyle/>
                    <a:p>
                      <a:pPr algn="l"/>
                      <a:r>
                        <a:rPr sz="750" b="0">
                          <a:solidFill>
                            <a:srgbClr val="1A1D2E"/>
                          </a:solidFill>
                          <a:latin typeface="Segoe UI"/>
                        </a:rPr>
                        <a:t>Curated significance / interest</a:t>
                      </a:r>
                    </a:p>
                  </a:txBody>
                  <a:tcPr marL="54864" marR="54864" marT="18288" marB="18288" anchor="ctr">
                    <a:solidFill>
                      <a:srgbClr val="FFFFFF"/>
                    </a:solidFill>
                  </a:tcPr>
                </a:tc>
              </a:tr>
              <a:tr h="217627">
                <a:tc>
                  <a:txBody>
                    <a:bodyPr wrap="square"/>
                    <a:lstStyle/>
                    <a:p>
                      <a:pPr algn="l"/>
                      <a:r>
                        <a:rPr sz="750" b="1">
                          <a:solidFill>
                            <a:srgbClr val="1A1D2E"/>
                          </a:solidFill>
                          <a:latin typeface="Consolas"/>
                        </a:rPr>
                        <a:t>seasonal_suitability</a:t>
                      </a:r>
                    </a:p>
                  </a:txBody>
                  <a:tcPr marL="54864" marR="54864" marT="18288" marB="18288" anchor="ctr">
                    <a:solidFill>
                      <a:srgbClr val="FDFBF7"/>
                    </a:solidFill>
                  </a:tcPr>
                </a:tc>
                <a:tc>
                  <a:txBody>
                    <a:bodyPr wrap="square"/>
                    <a:lstStyle/>
                    <a:p>
                      <a:pPr algn="l"/>
                      <a:r>
                        <a:rPr sz="750" b="0">
                          <a:solidFill>
                            <a:srgbClr val="1A1D2E"/>
                          </a:solidFill>
                          <a:latin typeface="Segoe UI"/>
                        </a:rPr>
                        <a:t>Month fit, per attraction</a:t>
                      </a:r>
                    </a:p>
                  </a:txBody>
                  <a:tcPr marL="54864" marR="54864" marT="18288" marB="18288" anchor="ctr">
                    <a:solidFill>
                      <a:srgbClr val="FDFBF7"/>
                    </a:solidFill>
                  </a:tcPr>
                </a:tc>
              </a:tr>
              <a:tr h="217627">
                <a:tc>
                  <a:txBody>
                    <a:bodyPr wrap="square"/>
                    <a:lstStyle/>
                    <a:p>
                      <a:pPr algn="l"/>
                      <a:r>
                        <a:rPr sz="750" b="1">
                          <a:solidFill>
                            <a:srgbClr val="1A1D2E"/>
                          </a:solidFill>
                          <a:latin typeface="Consolas"/>
                        </a:rPr>
                        <a:t>weather_suitability</a:t>
                      </a:r>
                    </a:p>
                  </a:txBody>
                  <a:tcPr marL="54864" marR="54864" marT="18288" marB="18288" anchor="ctr">
                    <a:solidFill>
                      <a:srgbClr val="FFFFFF"/>
                    </a:solidFill>
                  </a:tcPr>
                </a:tc>
                <a:tc>
                  <a:txBody>
                    <a:bodyPr wrap="square"/>
                    <a:lstStyle/>
                    <a:p>
                      <a:pPr algn="l"/>
                      <a:r>
                        <a:rPr sz="750" b="0">
                          <a:solidFill>
                            <a:srgbClr val="1A1D2E"/>
                          </a:solidFill>
                          <a:latin typeface="Segoe UI"/>
                        </a:rPr>
                        <a:t>Forecast vs weather sensitivity + indoor/outdoor</a:t>
                      </a:r>
                    </a:p>
                  </a:txBody>
                  <a:tcPr marL="54864" marR="54864" marT="18288" marB="18288" anchor="ctr">
                    <a:solidFill>
                      <a:srgbClr val="FFFFFF"/>
                    </a:solidFill>
                  </a:tcPr>
                </a:tc>
              </a:tr>
              <a:tr h="217627">
                <a:tc>
                  <a:txBody>
                    <a:bodyPr wrap="square"/>
                    <a:lstStyle/>
                    <a:p>
                      <a:pPr algn="l"/>
                      <a:r>
                        <a:rPr sz="750" b="1">
                          <a:solidFill>
                            <a:srgbClr val="1A1D2E"/>
                          </a:solidFill>
                          <a:latin typeface="Consolas"/>
                        </a:rPr>
                        <a:t>budget_suitability</a:t>
                      </a:r>
                    </a:p>
                  </a:txBody>
                  <a:tcPr marL="54864" marR="54864" marT="18288" marB="18288" anchor="ctr">
                    <a:solidFill>
                      <a:srgbClr val="FDFBF7"/>
                    </a:solidFill>
                  </a:tcPr>
                </a:tc>
                <a:tc>
                  <a:txBody>
                    <a:bodyPr wrap="square"/>
                    <a:lstStyle/>
                    <a:p>
                      <a:pPr algn="l"/>
                      <a:r>
                        <a:rPr sz="750" b="0">
                          <a:solidFill>
                            <a:srgbClr val="1A1D2E"/>
                          </a:solidFill>
                          <a:latin typeface="Segoe UI"/>
                        </a:rPr>
                        <a:t>Entry fee against the daily budget</a:t>
                      </a:r>
                    </a:p>
                  </a:txBody>
                  <a:tcPr marL="54864" marR="54864" marT="18288" marB="18288" anchor="ctr">
                    <a:solidFill>
                      <a:srgbClr val="FDFBF7"/>
                    </a:solidFill>
                  </a:tcPr>
                </a:tc>
              </a:tr>
              <a:tr h="217627">
                <a:tc>
                  <a:txBody>
                    <a:bodyPr wrap="square"/>
                    <a:lstStyle/>
                    <a:p>
                      <a:pPr algn="l"/>
                      <a:r>
                        <a:rPr sz="750" b="1">
                          <a:solidFill>
                            <a:srgbClr val="1A1D2E"/>
                          </a:solidFill>
                          <a:latin typeface="Consolas"/>
                        </a:rPr>
                        <a:t>accessibility_suitability</a:t>
                      </a:r>
                    </a:p>
                  </a:txBody>
                  <a:tcPr marL="54864" marR="54864" marT="18288" marB="18288" anchor="ctr">
                    <a:solidFill>
                      <a:srgbClr val="FFFFFF"/>
                    </a:solidFill>
                  </a:tcPr>
                </a:tc>
                <a:tc>
                  <a:txBody>
                    <a:bodyPr wrap="square"/>
                    <a:lstStyle/>
                    <a:p>
                      <a:pPr algn="l"/>
                      <a:r>
                        <a:rPr sz="750" b="0">
                          <a:solidFill>
                            <a:srgbClr val="1A1D2E"/>
                          </a:solidFill>
                          <a:latin typeface="Segoe UI"/>
                        </a:rPr>
                        <a:t>Access rating and physical intensity</a:t>
                      </a:r>
                    </a:p>
                  </a:txBody>
                  <a:tcPr marL="54864" marR="54864" marT="18288" marB="18288" anchor="ctr">
                    <a:solidFill>
                      <a:srgbClr val="FFFFFF"/>
                    </a:solidFill>
                  </a:tcPr>
                </a:tc>
              </a:tr>
              <a:tr h="217627">
                <a:tc>
                  <a:txBody>
                    <a:bodyPr wrap="square"/>
                    <a:lstStyle/>
                    <a:p>
                      <a:pPr algn="l"/>
                      <a:r>
                        <a:rPr sz="750" b="1">
                          <a:solidFill>
                            <a:srgbClr val="1A1D2E"/>
                          </a:solidFill>
                          <a:latin typeface="Consolas"/>
                        </a:rPr>
                        <a:t>evidence_quality</a:t>
                      </a:r>
                    </a:p>
                  </a:txBody>
                  <a:tcPr marL="54864" marR="54864" marT="18288" marB="18288" anchor="ctr">
                    <a:solidFill>
                      <a:srgbClr val="FDFBF7"/>
                    </a:solidFill>
                  </a:tcPr>
                </a:tc>
                <a:tc>
                  <a:txBody>
                    <a:bodyPr wrap="square"/>
                    <a:lstStyle/>
                    <a:p>
                      <a:pPr algn="l"/>
                      <a:r>
                        <a:rPr sz="750" b="0">
                          <a:solidFill>
                            <a:srgbClr val="1A1D2E"/>
                          </a:solidFill>
                          <a:latin typeface="Segoe UI"/>
                        </a:rPr>
                        <a:t>Source authority, count and completeness</a:t>
                      </a:r>
                    </a:p>
                  </a:txBody>
                  <a:tcPr marL="54864" marR="54864" marT="18288" marB="18288" anchor="ctr">
                    <a:solidFill>
                      <a:srgbClr val="FDFBF7"/>
                    </a:solidFill>
                  </a:tcPr>
                </a:tc>
              </a:tr>
              <a:tr h="217627">
                <a:tc>
                  <a:txBody>
                    <a:bodyPr wrap="square"/>
                    <a:lstStyle/>
                    <a:p>
                      <a:pPr algn="l"/>
                      <a:r>
                        <a:rPr sz="750" b="1">
                          <a:solidFill>
                            <a:srgbClr val="1A1D2E"/>
                          </a:solidFill>
                          <a:latin typeface="Consolas"/>
                        </a:rPr>
                        <a:t>distance / crowd penalty</a:t>
                      </a:r>
                    </a:p>
                  </a:txBody>
                  <a:tcPr marL="54864" marR="54864" marT="18288" marB="18288" anchor="ctr">
                    <a:solidFill>
                      <a:srgbClr val="FFFFFF"/>
                    </a:solidFill>
                  </a:tcPr>
                </a:tc>
                <a:tc>
                  <a:txBody>
                    <a:bodyPr wrap="square"/>
                    <a:lstStyle/>
                    <a:p>
                      <a:pPr algn="l"/>
                      <a:r>
                        <a:rPr sz="750" b="0">
                          <a:solidFill>
                            <a:srgbClr val="1A1D2E"/>
                          </a:solidFill>
                          <a:latin typeface="Segoe UI"/>
                        </a:rPr>
                        <a:t>Subtracted — travel cost and congestion</a:t>
                      </a:r>
                    </a:p>
                  </a:txBody>
                  <a:tcPr marL="54864" marR="54864" marT="18288" marB="18288" anchor="ctr">
                    <a:solidFill>
                      <a:srgbClr val="FFFFFF"/>
                    </a:solidFill>
                  </a:tcPr>
                </a:tc>
              </a:tr>
            </a:tbl>
          </a:graphicData>
        </a:graphic>
      </p:graphicFrame>
      <p:sp>
        <p:nvSpPr>
          <p:cNvPr id="22" name="Rectangle 21"/>
          <p:cNvSpPr/>
          <p:nvPr/>
        </p:nvSpPr>
        <p:spPr>
          <a:xfrm>
            <a:off x="329184" y="5230368"/>
            <a:ext cx="5532120" cy="566928"/>
          </a:xfrm>
          <a:prstGeom prst="rect">
            <a:avLst/>
          </a:prstGeom>
          <a:solidFill>
            <a:srgbClr val="EEF1FA"/>
          </a:solidFill>
          <a:ln w="9525">
            <a:solidFill>
              <a:srgbClr val="D6DC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57200" y="5330952"/>
            <a:ext cx="5276088" cy="457200"/>
          </a:xfrm>
          <a:prstGeom prst="rect">
            <a:avLst/>
          </a:prstGeom>
          <a:noFill/>
        </p:spPr>
        <p:txBody>
          <a:bodyPr wrap="square" lIns="0" rIns="0" tIns="0" bIns="0" anchor="t">
            <a:spAutoFit/>
          </a:bodyPr>
          <a:lstStyle/>
          <a:p>
            <a:pPr algn="l">
              <a:lnSpc>
                <a:spcPct val="120000"/>
              </a:lnSpc>
              <a:spcAft>
                <a:spcPts val="0"/>
              </a:spcAft>
            </a:pPr>
            <a:r>
              <a:rPr sz="830" b="1">
                <a:solidFill>
                  <a:srgbClr val="23306B"/>
                </a:solidFill>
                <a:latin typeface="Segoe UI"/>
              </a:rPr>
              <a:t>Weights are fixed and inspectable.  </a:t>
            </a:r>
            <a:r>
              <a:rPr sz="830" b="0">
                <a:solidFill>
                  <a:srgbClr val="5B6178"/>
                </a:solidFill>
                <a:latin typeface="Segoe UI"/>
              </a:rPr>
              <a:t>The "Why was this selected?" panel renders the stored breakdown for that plan — it is not generated text, and it cannot disagree with the optimiser.</a:t>
            </a:r>
          </a:p>
        </p:txBody>
      </p:sp>
      <p:sp>
        <p:nvSpPr>
          <p:cNvPr id="24" name="Rectangle 23"/>
          <p:cNvSpPr/>
          <p:nvPr/>
        </p:nvSpPr>
        <p:spPr>
          <a:xfrm>
            <a:off x="6089904" y="1298448"/>
            <a:ext cx="5772607" cy="274320"/>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181344" y="1348739"/>
            <a:ext cx="5589727"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STEP 3 — AGGREGATION: FIVE METHODS, MEASURED HEAD-TO-HEAD</a:t>
            </a:r>
          </a:p>
        </p:txBody>
      </p:sp>
      <p:graphicFrame>
        <p:nvGraphicFramePr>
          <p:cNvPr id="26" name="Table 25"/>
          <p:cNvGraphicFramePr>
            <a:graphicFrameLocks noGrp="1"/>
          </p:cNvGraphicFramePr>
          <p:nvPr/>
        </p:nvGraphicFramePr>
        <p:xfrm>
          <a:off x="6089904" y="1591056"/>
          <a:ext cx="5772605" cy="1490472"/>
        </p:xfrm>
        <a:graphic>
          <a:graphicData uri="http://schemas.openxmlformats.org/drawingml/2006/table">
            <a:tbl>
              <a:tblPr>
                <a:tableStyleId>{5C22544A-7EE6-4342-B048-85BDC9FD1C3A}</a:tableStyleId>
              </a:tblPr>
              <a:tblGrid>
                <a:gridCol w="2457644"/>
                <a:gridCol w="1143090"/>
                <a:gridCol w="1200245"/>
                <a:gridCol w="971626"/>
              </a:tblGrid>
              <a:tr h="256032">
                <a:tc>
                  <a:txBody>
                    <a:bodyPr wrap="square"/>
                    <a:lstStyle/>
                    <a:p>
                      <a:pPr algn="l"/>
                      <a:r>
                        <a:rPr sz="740" b="1">
                          <a:solidFill>
                            <a:srgbClr val="FFFFFF"/>
                          </a:solidFill>
                          <a:latin typeface="Segoe UI"/>
                        </a:rPr>
                        <a:t>METHOD</a:t>
                      </a:r>
                    </a:p>
                  </a:txBody>
                  <a:tcPr marL="54864" marR="54864" marT="18288" marB="18288" anchor="ctr">
                    <a:solidFill>
                      <a:srgbClr val="0F7B6C"/>
                    </a:solidFill>
                  </a:tcPr>
                </a:tc>
                <a:tc>
                  <a:txBody>
                    <a:bodyPr wrap="square"/>
                    <a:lstStyle/>
                    <a:p>
                      <a:pPr algn="l"/>
                      <a:r>
                        <a:rPr sz="740" b="1">
                          <a:solidFill>
                            <a:srgbClr val="FFFFFF"/>
                          </a:solidFill>
                          <a:latin typeface="Segoe UI"/>
                        </a:rPr>
                        <a:t>MEAN SAT.</a:t>
                      </a:r>
                    </a:p>
                  </a:txBody>
                  <a:tcPr marL="54864" marR="54864" marT="18288" marB="18288" anchor="ctr">
                    <a:solidFill>
                      <a:srgbClr val="0F7B6C"/>
                    </a:solidFill>
                  </a:tcPr>
                </a:tc>
                <a:tc>
                  <a:txBody>
                    <a:bodyPr wrap="square"/>
                    <a:lstStyle/>
                    <a:p>
                      <a:pPr algn="l"/>
                      <a:r>
                        <a:rPr sz="740" b="1">
                          <a:solidFill>
                            <a:srgbClr val="FFFFFF"/>
                          </a:solidFill>
                          <a:latin typeface="Segoe UI"/>
                        </a:rPr>
                        <a:t>LEAST SATISFIED</a:t>
                      </a:r>
                    </a:p>
                  </a:txBody>
                  <a:tcPr marL="54864" marR="54864" marT="18288" marB="18288" anchor="ctr">
                    <a:solidFill>
                      <a:srgbClr val="0F7B6C"/>
                    </a:solidFill>
                  </a:tcPr>
                </a:tc>
                <a:tc>
                  <a:txBody>
                    <a:bodyPr wrap="square"/>
                    <a:lstStyle/>
                    <a:p>
                      <a:pPr algn="l"/>
                      <a:r>
                        <a:rPr sz="740" b="1">
                          <a:solidFill>
                            <a:srgbClr val="FFFFFF"/>
                          </a:solidFill>
                          <a:latin typeface="Segoe UI"/>
                        </a:rPr>
                        <a:t>SPREAD</a:t>
                      </a:r>
                    </a:p>
                  </a:txBody>
                  <a:tcPr marL="54864" marR="54864" marT="18288" marB="18288" anchor="ctr">
                    <a:solidFill>
                      <a:srgbClr val="0F7B6C"/>
                    </a:solidFill>
                  </a:tcPr>
                </a:tc>
              </a:tr>
              <a:tr h="246888">
                <a:tc>
                  <a:txBody>
                    <a:bodyPr wrap="square"/>
                    <a:lstStyle/>
                    <a:p>
                      <a:pPr algn="l"/>
                      <a:r>
                        <a:rPr sz="760" b="1">
                          <a:solidFill>
                            <a:srgbClr val="1A1D2E"/>
                          </a:solidFill>
                          <a:latin typeface="Consolas"/>
                        </a:rPr>
                        <a:t>simple_average</a:t>
                      </a:r>
                    </a:p>
                  </a:txBody>
                  <a:tcPr marL="54864" marR="54864" marT="18288" marB="18288" anchor="ctr">
                    <a:solidFill>
                      <a:srgbClr val="FFFFFF"/>
                    </a:solidFill>
                  </a:tcPr>
                </a:tc>
                <a:tc>
                  <a:txBody>
                    <a:bodyPr wrap="square"/>
                    <a:lstStyle/>
                    <a:p>
                      <a:pPr algn="l"/>
                      <a:r>
                        <a:rPr sz="760" b="0">
                          <a:solidFill>
                            <a:srgbClr val="1A1D2E"/>
                          </a:solidFill>
                          <a:latin typeface="Consolas"/>
                        </a:rPr>
                        <a:t>0.604</a:t>
                      </a:r>
                    </a:p>
                  </a:txBody>
                  <a:tcPr marL="54864" marR="54864" marT="18288" marB="18288" anchor="ctr">
                    <a:solidFill>
                      <a:srgbClr val="FFFFFF"/>
                    </a:solidFill>
                  </a:tcPr>
                </a:tc>
                <a:tc>
                  <a:txBody>
                    <a:bodyPr wrap="square"/>
                    <a:lstStyle/>
                    <a:p>
                      <a:pPr algn="l"/>
                      <a:r>
                        <a:rPr sz="760" b="0">
                          <a:solidFill>
                            <a:srgbClr val="1A1D2E"/>
                          </a:solidFill>
                          <a:latin typeface="Consolas"/>
                        </a:rPr>
                        <a:t>0.481</a:t>
                      </a:r>
                    </a:p>
                  </a:txBody>
                  <a:tcPr marL="54864" marR="54864" marT="18288" marB="18288" anchor="ctr">
                    <a:solidFill>
                      <a:srgbClr val="FFFFFF"/>
                    </a:solidFill>
                  </a:tcPr>
                </a:tc>
                <a:tc>
                  <a:txBody>
                    <a:bodyPr wrap="square"/>
                    <a:lstStyle/>
                    <a:p>
                      <a:pPr algn="l"/>
                      <a:r>
                        <a:rPr sz="760" b="0">
                          <a:solidFill>
                            <a:srgbClr val="1A1D2E"/>
                          </a:solidFill>
                          <a:latin typeface="Consolas"/>
                        </a:rPr>
                        <a:t>0.172</a:t>
                      </a:r>
                    </a:p>
                  </a:txBody>
                  <a:tcPr marL="54864" marR="54864" marT="18288" marB="18288" anchor="ctr">
                    <a:solidFill>
                      <a:srgbClr val="FFFFFF"/>
                    </a:solidFill>
                  </a:tcPr>
                </a:tc>
              </a:tr>
              <a:tr h="246888">
                <a:tc>
                  <a:txBody>
                    <a:bodyPr wrap="square"/>
                    <a:lstStyle/>
                    <a:p>
                      <a:pPr algn="l"/>
                      <a:r>
                        <a:rPr sz="760" b="1">
                          <a:solidFill>
                            <a:srgbClr val="1A1D2E"/>
                          </a:solidFill>
                          <a:latin typeface="Consolas"/>
                        </a:rPr>
                        <a:t>borda_count</a:t>
                      </a:r>
                    </a:p>
                  </a:txBody>
                  <a:tcPr marL="54864" marR="54864" marT="18288" marB="18288" anchor="ctr">
                    <a:solidFill>
                      <a:srgbClr val="FDFBF7"/>
                    </a:solidFill>
                  </a:tcPr>
                </a:tc>
                <a:tc>
                  <a:txBody>
                    <a:bodyPr wrap="square"/>
                    <a:lstStyle/>
                    <a:p>
                      <a:pPr algn="l"/>
                      <a:r>
                        <a:rPr sz="760" b="0">
                          <a:solidFill>
                            <a:srgbClr val="1A1D2E"/>
                          </a:solidFill>
                          <a:latin typeface="Consolas"/>
                        </a:rPr>
                        <a:t>0.618</a:t>
                      </a:r>
                    </a:p>
                  </a:txBody>
                  <a:tcPr marL="54864" marR="54864" marT="18288" marB="18288" anchor="ctr">
                    <a:solidFill>
                      <a:srgbClr val="FDFBF7"/>
                    </a:solidFill>
                  </a:tcPr>
                </a:tc>
                <a:tc>
                  <a:txBody>
                    <a:bodyPr wrap="square"/>
                    <a:lstStyle/>
                    <a:p>
                      <a:pPr algn="l"/>
                      <a:r>
                        <a:rPr sz="760" b="0">
                          <a:solidFill>
                            <a:srgbClr val="A94545"/>
                          </a:solidFill>
                          <a:latin typeface="Consolas"/>
                        </a:rPr>
                        <a:t>0.478</a:t>
                      </a:r>
                    </a:p>
                  </a:txBody>
                  <a:tcPr marL="54864" marR="54864" marT="18288" marB="18288" anchor="ctr">
                    <a:solidFill>
                      <a:srgbClr val="FDFBF7"/>
                    </a:solidFill>
                  </a:tcPr>
                </a:tc>
                <a:tc>
                  <a:txBody>
                    <a:bodyPr wrap="square"/>
                    <a:lstStyle/>
                    <a:p>
                      <a:pPr algn="l"/>
                      <a:r>
                        <a:rPr sz="760" b="0">
                          <a:solidFill>
                            <a:srgbClr val="1A1D2E"/>
                          </a:solidFill>
                          <a:latin typeface="Consolas"/>
                        </a:rPr>
                        <a:t>0.197</a:t>
                      </a:r>
                    </a:p>
                  </a:txBody>
                  <a:tcPr marL="54864" marR="54864" marT="18288" marB="18288" anchor="ctr">
                    <a:solidFill>
                      <a:srgbClr val="FDFBF7"/>
                    </a:solidFill>
                  </a:tcPr>
                </a:tc>
              </a:tr>
              <a:tr h="246888">
                <a:tc>
                  <a:txBody>
                    <a:bodyPr wrap="square"/>
                    <a:lstStyle/>
                    <a:p>
                      <a:pPr algn="l"/>
                      <a:r>
                        <a:rPr sz="760" b="1">
                          <a:solidFill>
                            <a:srgbClr val="1A1D2E"/>
                          </a:solidFill>
                          <a:latin typeface="Consolas"/>
                        </a:rPr>
                        <a:t>max_min_fairness</a:t>
                      </a:r>
                    </a:p>
                  </a:txBody>
                  <a:tcPr marL="54864" marR="54864" marT="18288" marB="18288" anchor="ctr">
                    <a:solidFill>
                      <a:srgbClr val="FFFFFF"/>
                    </a:solidFill>
                  </a:tcPr>
                </a:tc>
                <a:tc>
                  <a:txBody>
                    <a:bodyPr wrap="square"/>
                    <a:lstStyle/>
                    <a:p>
                      <a:pPr algn="l"/>
                      <a:r>
                        <a:rPr sz="760" b="0">
                          <a:solidFill>
                            <a:srgbClr val="1A1D2E"/>
                          </a:solidFill>
                          <a:latin typeface="Consolas"/>
                        </a:rPr>
                        <a:t>0.582</a:t>
                      </a:r>
                    </a:p>
                  </a:txBody>
                  <a:tcPr marL="54864" marR="54864" marT="18288" marB="18288" anchor="ctr">
                    <a:solidFill>
                      <a:srgbClr val="FFFFFF"/>
                    </a:solidFill>
                  </a:tcPr>
                </a:tc>
                <a:tc>
                  <a:txBody>
                    <a:bodyPr wrap="square"/>
                    <a:lstStyle/>
                    <a:p>
                      <a:pPr algn="l"/>
                      <a:r>
                        <a:rPr sz="760" b="1">
                          <a:solidFill>
                            <a:srgbClr val="0F7B6C"/>
                          </a:solidFill>
                          <a:latin typeface="Consolas"/>
                        </a:rPr>
                        <a:t>0.545</a:t>
                      </a:r>
                    </a:p>
                  </a:txBody>
                  <a:tcPr marL="54864" marR="54864" marT="18288" marB="18288" anchor="ctr">
                    <a:solidFill>
                      <a:srgbClr val="FFFFFF"/>
                    </a:solidFill>
                  </a:tcPr>
                </a:tc>
                <a:tc>
                  <a:txBody>
                    <a:bodyPr wrap="square"/>
                    <a:lstStyle/>
                    <a:p>
                      <a:pPr algn="l"/>
                      <a:r>
                        <a:rPr sz="760" b="0">
                          <a:solidFill>
                            <a:srgbClr val="1A1D2E"/>
                          </a:solidFill>
                          <a:latin typeface="Consolas"/>
                        </a:rPr>
                        <a:t>0.069</a:t>
                      </a:r>
                    </a:p>
                  </a:txBody>
                  <a:tcPr marL="54864" marR="54864" marT="18288" marB="18288" anchor="ctr">
                    <a:solidFill>
                      <a:srgbClr val="FFFFFF"/>
                    </a:solidFill>
                  </a:tcPr>
                </a:tc>
              </a:tr>
              <a:tr h="246888">
                <a:tc>
                  <a:txBody>
                    <a:bodyPr wrap="square"/>
                    <a:lstStyle/>
                    <a:p>
                      <a:pPr algn="l"/>
                      <a:r>
                        <a:rPr sz="760" b="1">
                          <a:solidFill>
                            <a:srgbClr val="1A1D2E"/>
                          </a:solidFill>
                          <a:latin typeface="Consolas"/>
                        </a:rPr>
                        <a:t>fairness_aware (1-pass)</a:t>
                      </a:r>
                    </a:p>
                  </a:txBody>
                  <a:tcPr marL="54864" marR="54864" marT="18288" marB="18288" anchor="ctr">
                    <a:solidFill>
                      <a:srgbClr val="FDFBF7"/>
                    </a:solidFill>
                  </a:tcPr>
                </a:tc>
                <a:tc>
                  <a:txBody>
                    <a:bodyPr wrap="square"/>
                    <a:lstStyle/>
                    <a:p>
                      <a:pPr algn="l"/>
                      <a:r>
                        <a:rPr sz="760" b="0">
                          <a:solidFill>
                            <a:srgbClr val="1A1D2E"/>
                          </a:solidFill>
                          <a:latin typeface="Consolas"/>
                        </a:rPr>
                        <a:t>0.603</a:t>
                      </a:r>
                    </a:p>
                  </a:txBody>
                  <a:tcPr marL="54864" marR="54864" marT="18288" marB="18288" anchor="ctr">
                    <a:solidFill>
                      <a:srgbClr val="FDFBF7"/>
                    </a:solidFill>
                  </a:tcPr>
                </a:tc>
                <a:tc>
                  <a:txBody>
                    <a:bodyPr wrap="square"/>
                    <a:lstStyle/>
                    <a:p>
                      <a:pPr algn="l"/>
                      <a:r>
                        <a:rPr sz="760" b="0">
                          <a:solidFill>
                            <a:srgbClr val="1A1D2E"/>
                          </a:solidFill>
                          <a:latin typeface="Consolas"/>
                        </a:rPr>
                        <a:t>0.484</a:t>
                      </a:r>
                    </a:p>
                  </a:txBody>
                  <a:tcPr marL="54864" marR="54864" marT="18288" marB="18288" anchor="ctr">
                    <a:solidFill>
                      <a:srgbClr val="FDFBF7"/>
                    </a:solidFill>
                  </a:tcPr>
                </a:tc>
                <a:tc>
                  <a:txBody>
                    <a:bodyPr wrap="square"/>
                    <a:lstStyle/>
                    <a:p>
                      <a:pPr algn="l"/>
                      <a:r>
                        <a:rPr sz="760" b="0">
                          <a:solidFill>
                            <a:srgbClr val="1A1D2E"/>
                          </a:solidFill>
                          <a:latin typeface="Consolas"/>
                        </a:rPr>
                        <a:t>0.167</a:t>
                      </a:r>
                    </a:p>
                  </a:txBody>
                  <a:tcPr marL="54864" marR="54864" marT="18288" marB="18288" anchor="ctr">
                    <a:solidFill>
                      <a:srgbClr val="FDFBF7"/>
                    </a:solidFill>
                  </a:tcPr>
                </a:tc>
              </a:tr>
              <a:tr h="246888">
                <a:tc>
                  <a:txBody>
                    <a:bodyPr wrap="square"/>
                    <a:lstStyle/>
                    <a:p>
                      <a:pPr algn="l"/>
                      <a:r>
                        <a:rPr sz="760" b="1">
                          <a:solidFill>
                            <a:srgbClr val="1A1D2E"/>
                          </a:solidFill>
                          <a:latin typeface="Consolas"/>
                        </a:rPr>
                        <a:t>select_fairly (SHIPPED)</a:t>
                      </a:r>
                    </a:p>
                  </a:txBody>
                  <a:tcPr marL="54864" marR="54864" marT="18288" marB="18288" anchor="ctr">
                    <a:solidFill>
                      <a:srgbClr val="FFFFFF"/>
                    </a:solidFill>
                  </a:tcPr>
                </a:tc>
                <a:tc>
                  <a:txBody>
                    <a:bodyPr wrap="square"/>
                    <a:lstStyle/>
                    <a:p>
                      <a:pPr algn="l"/>
                      <a:r>
                        <a:rPr sz="760" b="0">
                          <a:solidFill>
                            <a:srgbClr val="1A1D2E"/>
                          </a:solidFill>
                          <a:latin typeface="Consolas"/>
                        </a:rPr>
                        <a:t>0.597</a:t>
                      </a:r>
                    </a:p>
                  </a:txBody>
                  <a:tcPr marL="54864" marR="54864" marT="18288" marB="18288" anchor="ctr">
                    <a:solidFill>
                      <a:srgbClr val="FFFFFF"/>
                    </a:solidFill>
                  </a:tcPr>
                </a:tc>
                <a:tc>
                  <a:txBody>
                    <a:bodyPr wrap="square"/>
                    <a:lstStyle/>
                    <a:p>
                      <a:pPr algn="l"/>
                      <a:r>
                        <a:rPr sz="760" b="1">
                          <a:solidFill>
                            <a:srgbClr val="0F7B6C"/>
                          </a:solidFill>
                          <a:latin typeface="Consolas"/>
                        </a:rPr>
                        <a:t>0.522</a:t>
                      </a:r>
                    </a:p>
                  </a:txBody>
                  <a:tcPr marL="54864" marR="54864" marT="18288" marB="18288" anchor="ctr">
                    <a:solidFill>
                      <a:srgbClr val="FFFFFF"/>
                    </a:solidFill>
                  </a:tcPr>
                </a:tc>
                <a:tc>
                  <a:txBody>
                    <a:bodyPr wrap="square"/>
                    <a:lstStyle/>
                    <a:p>
                      <a:pPr algn="l"/>
                      <a:r>
                        <a:rPr sz="760" b="0">
                          <a:solidFill>
                            <a:srgbClr val="1A1D2E"/>
                          </a:solidFill>
                          <a:latin typeface="Consolas"/>
                        </a:rPr>
                        <a:t>0.115</a:t>
                      </a:r>
                    </a:p>
                  </a:txBody>
                  <a:tcPr marL="54864" marR="54864" marT="18288" marB="18288" anchor="ctr">
                    <a:solidFill>
                      <a:srgbClr val="FFFFFF"/>
                    </a:solidFill>
                  </a:tcPr>
                </a:tc>
              </a:tr>
            </a:tbl>
          </a:graphicData>
        </a:graphic>
      </p:graphicFrame>
      <p:sp>
        <p:nvSpPr>
          <p:cNvPr id="27" name="Rectangle 26"/>
          <p:cNvSpPr/>
          <p:nvPr/>
        </p:nvSpPr>
        <p:spPr>
          <a:xfrm>
            <a:off x="6089904" y="3227832"/>
            <a:ext cx="5772607" cy="1170432"/>
          </a:xfrm>
          <a:prstGeom prst="rect">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17920" y="3337560"/>
            <a:ext cx="5516575" cy="1005840"/>
          </a:xfrm>
          <a:prstGeom prst="rect">
            <a:avLst/>
          </a:prstGeom>
          <a:noFill/>
        </p:spPr>
        <p:txBody>
          <a:bodyPr wrap="square" lIns="0" rIns="0" tIns="0" bIns="0" anchor="t">
            <a:spAutoFit/>
          </a:bodyPr>
          <a:lstStyle/>
          <a:p>
            <a:pPr algn="l">
              <a:lnSpc>
                <a:spcPct val="120000"/>
              </a:lnSpc>
              <a:spcAft>
                <a:spcPts val="0"/>
              </a:spcAft>
            </a:pPr>
            <a:r>
              <a:rPr sz="830" b="1">
                <a:solidFill>
                  <a:srgbClr val="23306B"/>
                </a:solidFill>
                <a:latin typeface="Segoe UI"/>
              </a:rPr>
              <a:t>How to read this.  </a:t>
            </a:r>
            <a:r>
              <a:rPr sz="830" b="0">
                <a:solidFill>
                  <a:srgbClr val="5B6178"/>
                </a:solidFill>
                <a:latin typeface="Segoe UI"/>
              </a:rPr>
              <a:t>Five group profiles built so a simple average steamrolls a minority. Iterative fair selection captures 64% of pure max-min's fairness gain for 30% of its cost in mean satisfaction.</a:t>
            </a:r>
          </a:p>
          <a:p>
            <a:pPr algn="l">
              <a:lnSpc>
                <a:spcPct val="120000"/>
              </a:lnSpc>
              <a:spcAft>
                <a:spcPts val="0"/>
              </a:spcAft>
            </a:pPr>
            <a:r>
              <a:rPr sz="830" b="0">
                <a:solidFill>
                  <a:srgbClr val="5B6178"/>
                </a:solidFill>
                <a:latin typeface="Segoe UI"/>
              </a:rPr>
              <a:t/>
            </a:r>
          </a:p>
          <a:p>
            <a:pPr algn="l">
              <a:lnSpc>
                <a:spcPct val="120000"/>
              </a:lnSpc>
              <a:spcAft>
                <a:spcPts val="0"/>
              </a:spcAft>
            </a:pPr>
            <a:r>
              <a:rPr sz="830" b="1">
                <a:solidFill>
                  <a:srgbClr val="A44C1F"/>
                </a:solidFill>
                <a:latin typeface="Segoe UI"/>
              </a:rPr>
              <a:t>The null result is the useful one:  </a:t>
            </a:r>
            <a:r>
              <a:rPr sz="830" b="0">
                <a:solidFill>
                  <a:srgbClr val="5B6178"/>
                </a:solidFill>
                <a:latin typeface="Segoe UI"/>
              </a:rPr>
              <a:t>single-pass fairness_aware barely beats a plain average (0.484 vs 0.481). That is exactly why the iterative selector exists — the cheap version does not work.</a:t>
            </a:r>
          </a:p>
        </p:txBody>
      </p:sp>
      <p:sp>
        <p:nvSpPr>
          <p:cNvPr id="29" name="Rectangle 28"/>
          <p:cNvSpPr/>
          <p:nvPr/>
        </p:nvSpPr>
        <p:spPr>
          <a:xfrm>
            <a:off x="6089904" y="4535424"/>
            <a:ext cx="5772607" cy="274320"/>
          </a:xfrm>
          <a:prstGeom prst="rect">
            <a:avLst/>
          </a:prstGeom>
          <a:solidFill>
            <a:srgbClr val="4256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181344" y="4585716"/>
            <a:ext cx="5589727"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THE FAIRNESS METRIC</a:t>
            </a:r>
          </a:p>
        </p:txBody>
      </p:sp>
      <p:sp>
        <p:nvSpPr>
          <p:cNvPr id="31" name="Rectangle 30"/>
          <p:cNvSpPr/>
          <p:nvPr/>
        </p:nvSpPr>
        <p:spPr>
          <a:xfrm>
            <a:off x="6089904" y="4828032"/>
            <a:ext cx="5772607" cy="969264"/>
          </a:xfrm>
          <a:prstGeom prst="rect">
            <a:avLst/>
          </a:prstGeom>
          <a:solidFill>
            <a:srgbClr val="EEF1FA"/>
          </a:solidFill>
          <a:ln w="9525">
            <a:solidFill>
              <a:srgbClr val="D6DC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217920" y="4937760"/>
            <a:ext cx="5516575" cy="822960"/>
          </a:xfrm>
          <a:prstGeom prst="rect">
            <a:avLst/>
          </a:prstGeom>
          <a:noFill/>
        </p:spPr>
        <p:txBody>
          <a:bodyPr wrap="square" lIns="0" rIns="0" tIns="0" bIns="0" anchor="t">
            <a:spAutoFit/>
          </a:bodyPr>
          <a:lstStyle/>
          <a:p>
            <a:pPr algn="l">
              <a:lnSpc>
                <a:spcPct val="118000"/>
              </a:lnSpc>
              <a:spcAft>
                <a:spcPts val="0"/>
              </a:spcAft>
            </a:pPr>
            <a:r>
              <a:rPr sz="950" b="1">
                <a:solidFill>
                  <a:srgbClr val="23306B"/>
                </a:solidFill>
                <a:latin typeface="Consolas"/>
              </a:rPr>
              <a:t>Jain's fairness index      J(x) = (Σxᵢ)² / (n · Σxᵢ²)</a:t>
            </a:r>
          </a:p>
          <a:p>
            <a:pPr algn="l">
              <a:lnSpc>
                <a:spcPct val="118000"/>
              </a:lnSpc>
              <a:spcAft>
                <a:spcPts val="0"/>
              </a:spcAft>
            </a:pPr>
            <a:r>
              <a:rPr sz="819" b="0">
                <a:solidFill>
                  <a:srgbClr val="5B6178"/>
                </a:solidFill>
                <a:latin typeface="Segoe UI"/>
              </a:rPr>
              <a:t/>
            </a:r>
          </a:p>
          <a:p>
            <a:pPr algn="l">
              <a:lnSpc>
                <a:spcPct val="118000"/>
              </a:lnSpc>
              <a:spcAft>
                <a:spcPts val="0"/>
              </a:spcAft>
            </a:pPr>
            <a:r>
              <a:rPr sz="819" b="0">
                <a:solidFill>
                  <a:srgbClr val="5B6178"/>
                </a:solidFill>
                <a:latin typeface="Segoe UI"/>
              </a:rPr>
              <a:t>1.0 = everyone equally served; 1/n = one person served. Reported alongside the floor guaranteed to the worst-served member, because an average hides exactly the person this product exists to protect.</a:t>
            </a:r>
          </a:p>
        </p:txBody>
      </p:sp>
      <p:sp>
        <p:nvSpPr>
          <p:cNvPr id="33" name="Rectangle 32"/>
          <p:cNvSpPr/>
          <p:nvPr/>
        </p:nvSpPr>
        <p:spPr>
          <a:xfrm>
            <a:off x="329184" y="5833872"/>
            <a:ext cx="11533327" cy="530352"/>
          </a:xfrm>
          <a:prstGeom prst="rect">
            <a:avLst/>
          </a:prstGeom>
          <a:solidFill>
            <a:srgbClr val="141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457200" y="5916168"/>
            <a:ext cx="11277295" cy="384047"/>
          </a:xfrm>
          <a:prstGeom prst="rect">
            <a:avLst/>
          </a:prstGeom>
          <a:noFill/>
        </p:spPr>
        <p:txBody>
          <a:bodyPr wrap="square" lIns="0" rIns="0" tIns="0" bIns="0" anchor="t">
            <a:spAutoFit/>
          </a:bodyPr>
          <a:lstStyle/>
          <a:p>
            <a:pPr algn="l">
              <a:lnSpc>
                <a:spcPct val="115000"/>
              </a:lnSpc>
              <a:spcAft>
                <a:spcPts val="0"/>
              </a:spcAft>
            </a:pPr>
            <a:r>
              <a:rPr sz="860" b="1">
                <a:solidFill>
                  <a:srgbClr val="E07A3F"/>
                </a:solidFill>
                <a:latin typeface="Segoe UI"/>
              </a:rPr>
              <a:t>INTERVIEW LINE:  </a:t>
            </a:r>
            <a:r>
              <a:rPr sz="860" b="0">
                <a:solidFill>
                  <a:srgbClr val="FFFFFF"/>
                </a:solidFill>
                <a:latin typeface="Segoe UI"/>
              </a:rPr>
              <a:t>"I did not pick an aggregation rule, I measured five. Borda scored the best mean and the worst floor — which is the trap. The shipped selector deliberately gives up 1.1% of mean satisfaction to raise the least-satisfied member 8.5%."</a:t>
            </a:r>
          </a:p>
        </p:txBody>
      </p:sp>
      <p:sp>
        <p:nvSpPr>
          <p:cNvPr id="35" name="Rectangle 34"/>
          <p:cNvSpPr/>
          <p:nvPr/>
        </p:nvSpPr>
        <p:spPr>
          <a:xfrm>
            <a:off x="329184" y="6382512"/>
            <a:ext cx="11533327" cy="10972"/>
          </a:xfrm>
          <a:prstGeom prst="rect">
            <a:avLst/>
          </a:prstGeom>
          <a:solidFill>
            <a:srgbClr val="E6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329184" y="6473952"/>
            <a:ext cx="10893247" cy="256032"/>
          </a:xfrm>
          <a:prstGeom prst="rect">
            <a:avLst/>
          </a:prstGeom>
          <a:noFill/>
        </p:spPr>
        <p:txBody>
          <a:bodyPr wrap="square" lIns="0" rIns="0" tIns="0" bIns="0" anchor="t">
            <a:spAutoFit/>
          </a:bodyPr>
          <a:lstStyle/>
          <a:p>
            <a:pPr algn="l">
              <a:lnSpc>
                <a:spcPct val="100000"/>
              </a:lnSpc>
              <a:spcAft>
                <a:spcPts val="0"/>
              </a:spcAft>
            </a:pPr>
            <a:r>
              <a:rPr sz="680" b="0">
                <a:solidFill>
                  <a:srgbClr val="8A90A6"/>
                </a:solidFill>
                <a:latin typeface="Segoe UI"/>
              </a:rPr>
              <a:t>Source: python ml/experiments/aggregation_comparison.py → ml/reports/aggregation_comparison.md. 5 profiles, K=5.</a:t>
            </a:r>
          </a:p>
        </p:txBody>
      </p:sp>
      <p:sp>
        <p:nvSpPr>
          <p:cNvPr id="37" name="TextBox 36"/>
          <p:cNvSpPr txBox="1"/>
          <p:nvPr/>
        </p:nvSpPr>
        <p:spPr>
          <a:xfrm>
            <a:off x="11313871" y="6455664"/>
            <a:ext cx="548640" cy="274320"/>
          </a:xfrm>
          <a:prstGeom prst="rect">
            <a:avLst/>
          </a:prstGeom>
          <a:noFill/>
        </p:spPr>
        <p:txBody>
          <a:bodyPr wrap="square" lIns="0" rIns="0" tIns="0" bIns="0" anchor="t">
            <a:spAutoFit/>
          </a:bodyPr>
          <a:lstStyle/>
          <a:p>
            <a:pPr algn="r">
              <a:lnSpc>
                <a:spcPct val="100000"/>
              </a:lnSpc>
              <a:spcAft>
                <a:spcPts val="0"/>
              </a:spcAft>
            </a:pPr>
            <a:r>
              <a:rPr sz="1100" b="1">
                <a:solidFill>
                  <a:srgbClr val="42569F"/>
                </a:solidFill>
                <a:latin typeface="Segoe U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29184"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29184"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PROBLEM &amp;</a:t>
            </a:r>
          </a:p>
          <a:p>
            <a:pPr algn="ctr">
              <a:lnSpc>
                <a:spcPct val="95000"/>
              </a:lnSpc>
              <a:spcAft>
                <a:spcPts val="0"/>
              </a:spcAft>
            </a:pPr>
            <a:r>
              <a:rPr sz="750" b="1">
                <a:solidFill>
                  <a:srgbClr val="A44C1F"/>
                </a:solidFill>
                <a:latin typeface="Segoe UI"/>
              </a:rPr>
              <a:t>ARCHITECTURE</a:t>
            </a:r>
          </a:p>
        </p:txBody>
      </p:sp>
      <p:sp>
        <p:nvSpPr>
          <p:cNvPr id="5" name="Rectangle 4"/>
          <p:cNvSpPr/>
          <p:nvPr/>
        </p:nvSpPr>
        <p:spPr>
          <a:xfrm>
            <a:off x="2646822"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646822"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DATA</a:t>
            </a:r>
          </a:p>
          <a:p>
            <a:pPr algn="ctr">
              <a:lnSpc>
                <a:spcPct val="95000"/>
              </a:lnSpc>
              <a:spcAft>
                <a:spcPts val="0"/>
              </a:spcAft>
            </a:pPr>
            <a:r>
              <a:rPr sz="750" b="1">
                <a:solidFill>
                  <a:srgbClr val="A44C1F"/>
                </a:solidFill>
                <a:latin typeface="Segoe UI"/>
              </a:rPr>
              <a:t>FOUNDATION</a:t>
            </a:r>
          </a:p>
        </p:txBody>
      </p:sp>
      <p:sp>
        <p:nvSpPr>
          <p:cNvPr id="7" name="Rectangle 6"/>
          <p:cNvSpPr/>
          <p:nvPr/>
        </p:nvSpPr>
        <p:spPr>
          <a:xfrm>
            <a:off x="4964460"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964460"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RANKING &amp;</a:t>
            </a:r>
          </a:p>
          <a:p>
            <a:pPr algn="ctr">
              <a:lnSpc>
                <a:spcPct val="95000"/>
              </a:lnSpc>
              <a:spcAft>
                <a:spcPts val="0"/>
              </a:spcAft>
            </a:pPr>
            <a:r>
              <a:rPr sz="750" b="1">
                <a:solidFill>
                  <a:srgbClr val="A44C1F"/>
                </a:solidFill>
                <a:latin typeface="Segoe UI"/>
              </a:rPr>
              <a:t>FAIRNESS</a:t>
            </a:r>
          </a:p>
        </p:txBody>
      </p:sp>
      <p:sp>
        <p:nvSpPr>
          <p:cNvPr id="9" name="Rectangle 8"/>
          <p:cNvSpPr/>
          <p:nvPr/>
        </p:nvSpPr>
        <p:spPr>
          <a:xfrm>
            <a:off x="7282098" y="237744"/>
            <a:ext cx="2262774" cy="420624"/>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82098"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FFFFFF"/>
                </a:solidFill>
                <a:latin typeface="Segoe UI"/>
              </a:rPr>
              <a:t>OPTIMISATION</a:t>
            </a:r>
          </a:p>
          <a:p>
            <a:pPr algn="ctr">
              <a:lnSpc>
                <a:spcPct val="95000"/>
              </a:lnSpc>
              <a:spcAft>
                <a:spcPts val="0"/>
              </a:spcAft>
            </a:pPr>
            <a:r>
              <a:rPr sz="750" b="1">
                <a:solidFill>
                  <a:srgbClr val="FFFFFF"/>
                </a:solidFill>
                <a:latin typeface="Segoe UI"/>
              </a:rPr>
              <a:t>&amp; VALIDATION</a:t>
            </a:r>
          </a:p>
        </p:txBody>
      </p:sp>
      <p:sp>
        <p:nvSpPr>
          <p:cNvPr id="11" name="Rectangle 10"/>
          <p:cNvSpPr/>
          <p:nvPr/>
        </p:nvSpPr>
        <p:spPr>
          <a:xfrm>
            <a:off x="9599736"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99736"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RETRIEVAL,</a:t>
            </a:r>
          </a:p>
          <a:p>
            <a:pPr algn="ctr">
              <a:lnSpc>
                <a:spcPct val="95000"/>
              </a:lnSpc>
              <a:spcAft>
                <a:spcPts val="0"/>
              </a:spcAft>
            </a:pPr>
            <a:r>
              <a:rPr sz="750" b="1">
                <a:solidFill>
                  <a:srgbClr val="A44C1F"/>
                </a:solidFill>
                <a:latin typeface="Segoe UI"/>
              </a:rPr>
              <a:t>TRUST &amp; RESULTS</a:t>
            </a:r>
          </a:p>
        </p:txBody>
      </p:sp>
      <p:sp>
        <p:nvSpPr>
          <p:cNvPr id="13" name="TextBox 12"/>
          <p:cNvSpPr txBox="1"/>
          <p:nvPr/>
        </p:nvSpPr>
        <p:spPr>
          <a:xfrm>
            <a:off x="329184" y="804672"/>
            <a:ext cx="11533327" cy="292608"/>
          </a:xfrm>
          <a:prstGeom prst="rect">
            <a:avLst/>
          </a:prstGeom>
          <a:noFill/>
        </p:spPr>
        <p:txBody>
          <a:bodyPr wrap="square" lIns="0" rIns="0" tIns="0" bIns="0" anchor="t">
            <a:spAutoFit/>
          </a:bodyPr>
          <a:lstStyle/>
          <a:p>
            <a:pPr algn="l">
              <a:lnSpc>
                <a:spcPct val="100000"/>
              </a:lnSpc>
              <a:spcAft>
                <a:spcPts val="0"/>
              </a:spcAft>
            </a:pPr>
            <a:r>
              <a:rPr sz="1700" b="1">
                <a:solidFill>
                  <a:srgbClr val="23306B"/>
                </a:solidFill>
                <a:latin typeface="Segoe UI"/>
              </a:rPr>
              <a:t>THE OPTIMISER — A PRIZE-COLLECTING TSP WITH TIME WINDOWS, SOLVED PER DAY</a:t>
            </a:r>
          </a:p>
        </p:txBody>
      </p:sp>
      <p:sp>
        <p:nvSpPr>
          <p:cNvPr id="14" name="Rectangle 13"/>
          <p:cNvSpPr/>
          <p:nvPr/>
        </p:nvSpPr>
        <p:spPr>
          <a:xfrm>
            <a:off x="329184" y="1133856"/>
            <a:ext cx="11533327" cy="20116"/>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29184" y="1298448"/>
            <a:ext cx="5760720" cy="274320"/>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20623" y="1348739"/>
            <a:ext cx="5577840"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THE CP-SAT MODEL</a:t>
            </a:r>
          </a:p>
        </p:txBody>
      </p:sp>
      <p:sp>
        <p:nvSpPr>
          <p:cNvPr id="17" name="Rectangle 16"/>
          <p:cNvSpPr/>
          <p:nvPr/>
        </p:nvSpPr>
        <p:spPr>
          <a:xfrm>
            <a:off x="329184" y="1572768"/>
            <a:ext cx="5760720" cy="2395728"/>
          </a:xfrm>
          <a:prstGeom prst="rect">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57200" y="1682496"/>
            <a:ext cx="5504688" cy="2194560"/>
          </a:xfrm>
          <a:prstGeom prst="rect">
            <a:avLst/>
          </a:prstGeom>
          <a:noFill/>
        </p:spPr>
        <p:txBody>
          <a:bodyPr wrap="square" lIns="0" rIns="0" tIns="0" bIns="0" anchor="t">
            <a:spAutoFit/>
          </a:bodyPr>
          <a:lstStyle/>
          <a:p>
            <a:pPr algn="l">
              <a:lnSpc>
                <a:spcPct val="116000"/>
              </a:lnSpc>
              <a:spcAft>
                <a:spcPts val="0"/>
              </a:spcAft>
            </a:pPr>
            <a:r>
              <a:rPr sz="800" b="1">
                <a:solidFill>
                  <a:srgbClr val="23306B"/>
                </a:solidFill>
                <a:latin typeface="Segoe UI"/>
              </a:rPr>
              <a:t>DECISION VARIABLES</a:t>
            </a:r>
          </a:p>
          <a:p>
            <a:pPr algn="l">
              <a:lnSpc>
                <a:spcPct val="116000"/>
              </a:lnSpc>
              <a:spcAft>
                <a:spcPts val="0"/>
              </a:spcAft>
            </a:pPr>
            <a:r>
              <a:rPr sz="790" b="0">
                <a:solidFill>
                  <a:srgbClr val="1A1D2E"/>
                </a:solidFill>
                <a:latin typeface="Consolas"/>
              </a:rPr>
              <a:t>x[i][j] ∈ {0,1}</a:t>
            </a:r>
            <a:r>
              <a:rPr sz="790" b="0">
                <a:solidFill>
                  <a:srgbClr val="5B6178"/>
                </a:solidFill>
                <a:latin typeface="Segoe UI"/>
              </a:rPr>
              <a:t>   tour goes i → j        </a:t>
            </a:r>
            <a:r>
              <a:rPr sz="790" b="0">
                <a:solidFill>
                  <a:srgbClr val="5B6178"/>
                </a:solidFill>
                <a:latin typeface="Consolas"/>
              </a:rPr>
              <a:t>x[i][i] = 1</a:t>
            </a:r>
            <a:r>
              <a:rPr sz="790" b="0">
                <a:solidFill>
                  <a:srgbClr val="5B6178"/>
                </a:solidFill>
                <a:latin typeface="Segoe UI"/>
              </a:rPr>
              <a:t>  node skipped</a:t>
            </a:r>
          </a:p>
          <a:p>
            <a:pPr algn="l">
              <a:lnSpc>
                <a:spcPct val="116000"/>
              </a:lnSpc>
              <a:spcAft>
                <a:spcPts val="0"/>
              </a:spcAft>
            </a:pPr>
            <a:r>
              <a:rPr sz="790" b="0">
                <a:solidFill>
                  <a:srgbClr val="1A1D2E"/>
                </a:solidFill>
                <a:latin typeface="Consolas"/>
              </a:rPr>
              <a:t>u[i] ∈ ℤ</a:t>
            </a:r>
            <a:r>
              <a:rPr sz="790" b="0">
                <a:solidFill>
                  <a:srgbClr val="5B6178"/>
                </a:solidFill>
                <a:latin typeface="Segoe UI"/>
              </a:rPr>
              <a:t>          service start, minutes from midnight</a:t>
            </a:r>
          </a:p>
          <a:p>
            <a:pPr algn="l">
              <a:lnSpc>
                <a:spcPct val="116000"/>
              </a:lnSpc>
              <a:spcAft>
                <a:spcPts val="0"/>
              </a:spcAft>
            </a:pPr>
            <a:r>
              <a:rPr sz="790" b="0">
                <a:solidFill>
                  <a:srgbClr val="5B6178"/>
                </a:solidFill>
                <a:latin typeface="Segoe UI"/>
              </a:rPr>
              <a:t/>
            </a:r>
          </a:p>
          <a:p>
            <a:pPr algn="l">
              <a:lnSpc>
                <a:spcPct val="116000"/>
              </a:lnSpc>
              <a:spcAft>
                <a:spcPts val="0"/>
              </a:spcAft>
            </a:pPr>
            <a:r>
              <a:rPr sz="800" b="1">
                <a:solidFill>
                  <a:srgbClr val="23306B"/>
                </a:solidFill>
                <a:latin typeface="Segoe UI"/>
              </a:rPr>
              <a:t>CONSTRAINTS</a:t>
            </a:r>
          </a:p>
          <a:p>
            <a:pPr algn="l">
              <a:lnSpc>
                <a:spcPct val="116000"/>
              </a:lnSpc>
              <a:spcAft>
                <a:spcPts val="0"/>
              </a:spcAft>
            </a:pPr>
            <a:r>
              <a:rPr sz="790" b="1">
                <a:solidFill>
                  <a:srgbClr val="5B6178"/>
                </a:solidFill>
                <a:latin typeface="Consolas"/>
              </a:rPr>
              <a:t>C1  </a:t>
            </a:r>
            <a:r>
              <a:rPr sz="790" b="0">
                <a:solidFill>
                  <a:srgbClr val="5B6178"/>
                </a:solidFill>
                <a:latin typeface="Segoe UI"/>
              </a:rPr>
              <a:t>AddCircuit over all arcs — sequencing AND selection in one constraint. A node opts out via its self-loop: no subtour-elimination family, no big-M.</a:t>
            </a:r>
          </a:p>
          <a:p>
            <a:pPr algn="l">
              <a:lnSpc>
                <a:spcPct val="116000"/>
              </a:lnSpc>
              <a:spcAft>
                <a:spcPts val="0"/>
              </a:spcAft>
            </a:pPr>
            <a:r>
              <a:rPr sz="790" b="1">
                <a:solidFill>
                  <a:srgbClr val="5B6178"/>
                </a:solidFill>
                <a:latin typeface="Consolas"/>
              </a:rPr>
              <a:t>C2  </a:t>
            </a:r>
            <a:r>
              <a:rPr sz="790" b="0">
                <a:solidFill>
                  <a:srgbClr val="5B6178"/>
                </a:solidFill>
                <a:latin typeface="Segoe UI"/>
              </a:rPr>
              <a:t>x[i][j] = 1 ⟹ u[j] ≥ u[i] + sᵢ + tᵢⱼ   (a real implication, via OnlyEnforceIf)</a:t>
            </a:r>
          </a:p>
          <a:p>
            <a:pPr algn="l">
              <a:lnSpc>
                <a:spcPct val="116000"/>
              </a:lnSpc>
              <a:spcAft>
                <a:spcPts val="0"/>
              </a:spcAft>
            </a:pPr>
            <a:r>
              <a:rPr sz="790" b="1">
                <a:solidFill>
                  <a:srgbClr val="5B6178"/>
                </a:solidFill>
                <a:latin typeface="Consolas"/>
              </a:rPr>
              <a:t>C3  </a:t>
            </a:r>
            <a:r>
              <a:rPr sz="790" b="0">
                <a:solidFill>
                  <a:srgbClr val="5B6178"/>
                </a:solidFill>
                <a:latin typeface="Segoe UI"/>
              </a:rPr>
              <a:t>eᵢ ≤ u[i] ≤ lᵢ — the weekday opening window ∩ the group's day window</a:t>
            </a:r>
          </a:p>
          <a:p>
            <a:pPr algn="l">
              <a:lnSpc>
                <a:spcPct val="116000"/>
              </a:lnSpc>
              <a:spcAft>
                <a:spcPts val="0"/>
              </a:spcAft>
            </a:pPr>
            <a:r>
              <a:rPr sz="790" b="1">
                <a:solidFill>
                  <a:srgbClr val="5B6178"/>
                </a:solidFill>
                <a:latin typeface="Consolas"/>
              </a:rPr>
              <a:t>C4  </a:t>
            </a:r>
            <a:r>
              <a:rPr sz="790" b="0">
                <a:solidFill>
                  <a:srgbClr val="5B6178"/>
                </a:solidFill>
                <a:latin typeface="Segoe UI"/>
              </a:rPr>
              <a:t>skipped nodes pinned to eᵢ, so unvisited starts cannot float and slow the solve</a:t>
            </a:r>
          </a:p>
          <a:p>
            <a:pPr algn="l">
              <a:lnSpc>
                <a:spcPct val="116000"/>
              </a:lnSpc>
              <a:spcAft>
                <a:spcPts val="0"/>
              </a:spcAft>
            </a:pPr>
            <a:r>
              <a:rPr sz="790" b="1">
                <a:solidFill>
                  <a:srgbClr val="5B6178"/>
                </a:solidFill>
                <a:latin typeface="Consolas"/>
              </a:rPr>
              <a:t>C5  </a:t>
            </a:r>
            <a:r>
              <a:rPr sz="790" b="0">
                <a:solidFill>
                  <a:srgbClr val="5B6178"/>
                </a:solidFill>
                <a:latin typeface="Segoe UI"/>
              </a:rPr>
              <a:t>must-visit places and the meal break are mandatory nodes</a:t>
            </a:r>
          </a:p>
          <a:p>
            <a:pPr algn="l">
              <a:lnSpc>
                <a:spcPct val="116000"/>
              </a:lnSpc>
              <a:spcAft>
                <a:spcPts val="0"/>
              </a:spcAft>
            </a:pPr>
            <a:r>
              <a:rPr sz="790" b="1">
                <a:solidFill>
                  <a:srgbClr val="5B6178"/>
                </a:solidFill>
                <a:latin typeface="Consolas"/>
              </a:rPr>
              <a:t>C6  </a:t>
            </a:r>
            <a:r>
              <a:rPr sz="790" b="0">
                <a:solidFill>
                  <a:srgbClr val="5B6178"/>
                </a:solidFill>
                <a:latin typeface="Segoe UI"/>
              </a:rPr>
              <a:t>caps on activities, daily travel minutes and entry-fee budget</a:t>
            </a:r>
          </a:p>
          <a:p>
            <a:pPr algn="l">
              <a:lnSpc>
                <a:spcPct val="116000"/>
              </a:lnSpc>
              <a:spcAft>
                <a:spcPts val="0"/>
              </a:spcAft>
            </a:pPr>
            <a:r>
              <a:rPr sz="790" b="0">
                <a:solidFill>
                  <a:srgbClr val="5B6178"/>
                </a:solidFill>
                <a:latin typeface="Segoe UI"/>
              </a:rPr>
              <a:t/>
            </a:r>
          </a:p>
          <a:p>
            <a:pPr algn="l">
              <a:lnSpc>
                <a:spcPct val="116000"/>
              </a:lnSpc>
              <a:spcAft>
                <a:spcPts val="0"/>
              </a:spcAft>
            </a:pPr>
            <a:r>
              <a:rPr sz="800" b="1">
                <a:solidFill>
                  <a:srgbClr val="23306B"/>
                </a:solidFill>
                <a:latin typeface="Segoe UI"/>
              </a:rPr>
              <a:t>OBJECTIVE</a:t>
            </a:r>
          </a:p>
          <a:p>
            <a:pPr algn="l">
              <a:lnSpc>
                <a:spcPct val="116000"/>
              </a:lnSpc>
              <a:spcAft>
                <a:spcPts val="0"/>
              </a:spcAft>
            </a:pPr>
            <a:r>
              <a:rPr sz="790" b="1">
                <a:solidFill>
                  <a:srgbClr val="23306B"/>
                </a:solidFill>
                <a:latin typeface="Consolas"/>
              </a:rPr>
              <a:t>maximise  Σ ⌈(pᵢ − shift + 0.05)·1000⌉·v[i]  −  4·Σ tᵢⱼ·x[i][j]</a:t>
            </a:r>
          </a:p>
        </p:txBody>
      </p:sp>
      <p:sp>
        <p:nvSpPr>
          <p:cNvPr id="19" name="Rectangle 18"/>
          <p:cNvSpPr/>
          <p:nvPr/>
        </p:nvSpPr>
        <p:spPr>
          <a:xfrm>
            <a:off x="329184" y="4078224"/>
            <a:ext cx="5760720" cy="274320"/>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20623" y="4128515"/>
            <a:ext cx="5577840"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THREE DECISIONS AN INTERVIEWER WILL PROBE</a:t>
            </a:r>
          </a:p>
        </p:txBody>
      </p:sp>
      <p:sp>
        <p:nvSpPr>
          <p:cNvPr id="21" name="Rectangle 20"/>
          <p:cNvSpPr/>
          <p:nvPr/>
        </p:nvSpPr>
        <p:spPr>
          <a:xfrm>
            <a:off x="329184" y="4352544"/>
            <a:ext cx="5760720" cy="1316736"/>
          </a:xfrm>
          <a:prstGeom prst="rect">
            <a:avLst/>
          </a:prstGeom>
          <a:solidFill>
            <a:srgbClr val="FDF2EA"/>
          </a:solidFill>
          <a:ln w="9525">
            <a:solidFill>
              <a:srgbClr val="FADF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57200" y="4462272"/>
            <a:ext cx="5504688" cy="1133856"/>
          </a:xfrm>
          <a:prstGeom prst="rect">
            <a:avLst/>
          </a:prstGeom>
          <a:noFill/>
        </p:spPr>
        <p:txBody>
          <a:bodyPr wrap="square" lIns="0" rIns="0" tIns="0" bIns="0" anchor="t">
            <a:spAutoFit/>
          </a:bodyPr>
          <a:lstStyle/>
          <a:p>
            <a:pPr algn="l">
              <a:lnSpc>
                <a:spcPct val="118000"/>
              </a:lnSpc>
              <a:spcAft>
                <a:spcPts val="0"/>
              </a:spcAft>
            </a:pPr>
            <a:r>
              <a:rPr sz="810" b="1">
                <a:solidFill>
                  <a:srgbClr val="A44C1F"/>
                </a:solidFill>
                <a:latin typeface="Segoe UI"/>
              </a:rPr>
              <a:t>Why per-day, not trip-wide?  </a:t>
            </a:r>
            <a:r>
              <a:rPr sz="810" b="0">
                <a:solidFill>
                  <a:srgbClr val="5B6178"/>
                </a:solidFill>
                <a:latin typeface="Segoe UI"/>
              </a:rPr>
              <a:t>Trip-wide is O((k·days)²) arcs — 1,296 vs 324 for k=9, 4 days. It also zig-zags, because a global objective only sees total distance.</a:t>
            </a:r>
          </a:p>
          <a:p>
            <a:pPr algn="l">
              <a:lnSpc>
                <a:spcPct val="118000"/>
              </a:lnSpc>
              <a:spcAft>
                <a:spcPts val="0"/>
              </a:spcAft>
            </a:pPr>
            <a:r>
              <a:rPr sz="810" b="1">
                <a:solidFill>
                  <a:srgbClr val="A44C1F"/>
                </a:solidFill>
                <a:latin typeface="Segoe UI"/>
              </a:rPr>
              <a:t>Why the score shift?  </a:t>
            </a:r>
            <a:r>
              <a:rPr sz="810" b="0">
                <a:solidFill>
                  <a:srgbClr val="5B6178"/>
                </a:solidFill>
                <a:latin typeface="Segoe UI"/>
              </a:rPr>
              <a:t>Scores can go negative after penalties; a negative prize makes skipping rewarding and the solver returns an empty day.</a:t>
            </a:r>
          </a:p>
          <a:p>
            <a:pPr algn="l">
              <a:lnSpc>
                <a:spcPct val="118000"/>
              </a:lnSpc>
              <a:spcAft>
                <a:spcPts val="0"/>
              </a:spcAft>
            </a:pPr>
            <a:r>
              <a:rPr sz="810" b="1">
                <a:solidFill>
                  <a:srgbClr val="A44C1F"/>
                </a:solidFill>
                <a:latin typeface="Segoe UI"/>
              </a:rPr>
              <a:t>Why TRAVEL_WEIGHT = 4?  </a:t>
            </a:r>
            <a:r>
              <a:rPr sz="810" b="0">
                <a:solidFill>
                  <a:srgbClr val="5B6178"/>
                </a:solidFill>
                <a:latin typeface="Segoe UI"/>
              </a:rPr>
              <a:t>It is what stops two high-scoring places at opposite ends of a city beating three good ones in a cluster. The single most consequential constant in the model.</a:t>
            </a:r>
          </a:p>
        </p:txBody>
      </p:sp>
      <p:sp>
        <p:nvSpPr>
          <p:cNvPr id="23" name="Rectangle 22"/>
          <p:cNvSpPr/>
          <p:nvPr/>
        </p:nvSpPr>
        <p:spPr>
          <a:xfrm>
            <a:off x="6291072" y="1298448"/>
            <a:ext cx="5571439" cy="274320"/>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382512" y="1348739"/>
            <a:ext cx="5388559"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MEASURED — OR-TOOLS vs A FAIR GREEDY BASELINE</a:t>
            </a:r>
          </a:p>
        </p:txBody>
      </p:sp>
      <p:graphicFrame>
        <p:nvGraphicFramePr>
          <p:cNvPr id="25" name="Table 24"/>
          <p:cNvGraphicFramePr>
            <a:graphicFrameLocks noGrp="1"/>
          </p:cNvGraphicFramePr>
          <p:nvPr/>
        </p:nvGraphicFramePr>
        <p:xfrm>
          <a:off x="6291072" y="1591056"/>
          <a:ext cx="5571437" cy="1693464"/>
        </p:xfrm>
        <a:graphic>
          <a:graphicData uri="http://schemas.openxmlformats.org/drawingml/2006/table">
            <a:tbl>
              <a:tblPr>
                <a:tableStyleId>{5C22544A-7EE6-4342-B048-85BDC9FD1C3A}</a:tableStyleId>
              </a:tblPr>
              <a:tblGrid>
                <a:gridCol w="2301246"/>
                <a:gridCol w="1150623"/>
                <a:gridCol w="1211182"/>
                <a:gridCol w="908386"/>
              </a:tblGrid>
              <a:tr h="256032">
                <a:tc>
                  <a:txBody>
                    <a:bodyPr wrap="square"/>
                    <a:lstStyle/>
                    <a:p>
                      <a:pPr algn="l"/>
                      <a:r>
                        <a:rPr sz="740" b="1">
                          <a:solidFill>
                            <a:srgbClr val="FFFFFF"/>
                          </a:solidFill>
                          <a:latin typeface="Segoe UI"/>
                        </a:rPr>
                        <a:t>METRIC</a:t>
                      </a:r>
                    </a:p>
                  </a:txBody>
                  <a:tcPr marL="54864" marR="54864" marT="18288" marB="18288" anchor="ctr">
                    <a:solidFill>
                      <a:srgbClr val="0F7B6C"/>
                    </a:solidFill>
                  </a:tcPr>
                </a:tc>
                <a:tc>
                  <a:txBody>
                    <a:bodyPr wrap="square"/>
                    <a:lstStyle/>
                    <a:p>
                      <a:pPr algn="l"/>
                      <a:r>
                        <a:rPr sz="740" b="1">
                          <a:solidFill>
                            <a:srgbClr val="FFFFFF"/>
                          </a:solidFill>
                          <a:latin typeface="Segoe UI"/>
                        </a:rPr>
                        <a:t>GREEDY</a:t>
                      </a:r>
                    </a:p>
                  </a:txBody>
                  <a:tcPr marL="54864" marR="54864" marT="18288" marB="18288" anchor="ctr">
                    <a:solidFill>
                      <a:srgbClr val="0F7B6C"/>
                    </a:solidFill>
                  </a:tcPr>
                </a:tc>
                <a:tc>
                  <a:txBody>
                    <a:bodyPr wrap="square"/>
                    <a:lstStyle/>
                    <a:p>
                      <a:pPr algn="l"/>
                      <a:r>
                        <a:rPr sz="740" b="1">
                          <a:solidFill>
                            <a:srgbClr val="FFFFFF"/>
                          </a:solidFill>
                          <a:latin typeface="Segoe UI"/>
                        </a:rPr>
                        <a:t>CP-SAT</a:t>
                      </a:r>
                    </a:p>
                  </a:txBody>
                  <a:tcPr marL="54864" marR="54864" marT="18288" marB="18288" anchor="ctr">
                    <a:solidFill>
                      <a:srgbClr val="0F7B6C"/>
                    </a:solidFill>
                  </a:tcPr>
                </a:tc>
                <a:tc>
                  <a:txBody>
                    <a:bodyPr wrap="square"/>
                    <a:lstStyle/>
                    <a:p>
                      <a:pPr algn="l"/>
                      <a:r>
                        <a:rPr sz="740" b="1">
                          <a:solidFill>
                            <a:srgbClr val="FFFFFF"/>
                          </a:solidFill>
                          <a:latin typeface="Segoe UI"/>
                        </a:rPr>
                        <a:t>Δ</a:t>
                      </a:r>
                    </a:p>
                  </a:txBody>
                  <a:tcPr marL="54864" marR="54864" marT="18288" marB="18288" anchor="ctr">
                    <a:solidFill>
                      <a:srgbClr val="0F7B6C"/>
                    </a:solidFill>
                  </a:tcPr>
                </a:tc>
              </a:tr>
              <a:tr h="239572">
                <a:tc>
                  <a:txBody>
                    <a:bodyPr wrap="square"/>
                    <a:lstStyle/>
                    <a:p>
                      <a:pPr algn="l"/>
                      <a:r>
                        <a:rPr sz="760" b="1">
                          <a:solidFill>
                            <a:srgbClr val="1A1D2E"/>
                          </a:solidFill>
                          <a:latin typeface="Segoe UI"/>
                        </a:rPr>
                        <a:t>Total travel distance</a:t>
                      </a:r>
                    </a:p>
                  </a:txBody>
                  <a:tcPr marL="54864" marR="54864" marT="18288" marB="18288" anchor="ctr">
                    <a:solidFill>
                      <a:srgbClr val="FFFFFF"/>
                    </a:solidFill>
                  </a:tcPr>
                </a:tc>
                <a:tc>
                  <a:txBody>
                    <a:bodyPr wrap="square"/>
                    <a:lstStyle/>
                    <a:p>
                      <a:pPr algn="l"/>
                      <a:r>
                        <a:rPr sz="760" b="0">
                          <a:solidFill>
                            <a:srgbClr val="1A1D2E"/>
                          </a:solidFill>
                          <a:latin typeface="Consolas"/>
                        </a:rPr>
                        <a:t>149.8 km</a:t>
                      </a:r>
                    </a:p>
                  </a:txBody>
                  <a:tcPr marL="54864" marR="54864" marT="18288" marB="18288" anchor="ctr">
                    <a:solidFill>
                      <a:srgbClr val="FFFFFF"/>
                    </a:solidFill>
                  </a:tcPr>
                </a:tc>
                <a:tc>
                  <a:txBody>
                    <a:bodyPr wrap="square"/>
                    <a:lstStyle/>
                    <a:p>
                      <a:pPr algn="l"/>
                      <a:r>
                        <a:rPr sz="760" b="1">
                          <a:solidFill>
                            <a:srgbClr val="1A1D2E"/>
                          </a:solidFill>
                          <a:latin typeface="Consolas"/>
                        </a:rPr>
                        <a:t>64.0 km</a:t>
                      </a:r>
                    </a:p>
                  </a:txBody>
                  <a:tcPr marL="54864" marR="54864" marT="18288" marB="18288" anchor="ctr">
                    <a:solidFill>
                      <a:srgbClr val="FFFFFF"/>
                    </a:solidFill>
                  </a:tcPr>
                </a:tc>
                <a:tc>
                  <a:txBody>
                    <a:bodyPr wrap="square"/>
                    <a:lstStyle/>
                    <a:p>
                      <a:pPr algn="l"/>
                      <a:r>
                        <a:rPr sz="760" b="1">
                          <a:solidFill>
                            <a:srgbClr val="0F7B6C"/>
                          </a:solidFill>
                          <a:latin typeface="Consolas"/>
                        </a:rPr>
                        <a:t>−57%</a:t>
                      </a:r>
                    </a:p>
                  </a:txBody>
                  <a:tcPr marL="54864" marR="54864" marT="18288" marB="18288" anchor="ctr">
                    <a:solidFill>
                      <a:srgbClr val="FFFFFF"/>
                    </a:solidFill>
                  </a:tcPr>
                </a:tc>
              </a:tr>
              <a:tr h="239572">
                <a:tc>
                  <a:txBody>
                    <a:bodyPr wrap="square"/>
                    <a:lstStyle/>
                    <a:p>
                      <a:pPr algn="l"/>
                      <a:r>
                        <a:rPr sz="760" b="1">
                          <a:solidFill>
                            <a:srgbClr val="1A1D2E"/>
                          </a:solidFill>
                          <a:latin typeface="Segoe UI"/>
                        </a:rPr>
                        <a:t>Total travel time</a:t>
                      </a:r>
                    </a:p>
                  </a:txBody>
                  <a:tcPr marL="54864" marR="54864" marT="18288" marB="18288" anchor="ctr">
                    <a:solidFill>
                      <a:srgbClr val="FDFBF7"/>
                    </a:solidFill>
                  </a:tcPr>
                </a:tc>
                <a:tc>
                  <a:txBody>
                    <a:bodyPr wrap="square"/>
                    <a:lstStyle/>
                    <a:p>
                      <a:pPr algn="l"/>
                      <a:r>
                        <a:rPr sz="760" b="0">
                          <a:solidFill>
                            <a:srgbClr val="1A1D2E"/>
                          </a:solidFill>
                          <a:latin typeface="Consolas"/>
                        </a:rPr>
                        <a:t>487 min</a:t>
                      </a:r>
                    </a:p>
                  </a:txBody>
                  <a:tcPr marL="54864" marR="54864" marT="18288" marB="18288" anchor="ctr">
                    <a:solidFill>
                      <a:srgbClr val="FDFBF7"/>
                    </a:solidFill>
                  </a:tcPr>
                </a:tc>
                <a:tc>
                  <a:txBody>
                    <a:bodyPr wrap="square"/>
                    <a:lstStyle/>
                    <a:p>
                      <a:pPr algn="l"/>
                      <a:r>
                        <a:rPr sz="760" b="1">
                          <a:solidFill>
                            <a:srgbClr val="1A1D2E"/>
                          </a:solidFill>
                          <a:latin typeface="Consolas"/>
                        </a:rPr>
                        <a:t>275 min</a:t>
                      </a:r>
                    </a:p>
                  </a:txBody>
                  <a:tcPr marL="54864" marR="54864" marT="18288" marB="18288" anchor="ctr">
                    <a:solidFill>
                      <a:srgbClr val="FDFBF7"/>
                    </a:solidFill>
                  </a:tcPr>
                </a:tc>
                <a:tc>
                  <a:txBody>
                    <a:bodyPr wrap="square"/>
                    <a:lstStyle/>
                    <a:p>
                      <a:pPr algn="l"/>
                      <a:r>
                        <a:rPr sz="760" b="1">
                          <a:solidFill>
                            <a:srgbClr val="0F7B6C"/>
                          </a:solidFill>
                          <a:latin typeface="Consolas"/>
                        </a:rPr>
                        <a:t>−43%</a:t>
                      </a:r>
                    </a:p>
                  </a:txBody>
                  <a:tcPr marL="54864" marR="54864" marT="18288" marB="18288" anchor="ctr">
                    <a:solidFill>
                      <a:srgbClr val="FDFBF7"/>
                    </a:solidFill>
                  </a:tcPr>
                </a:tc>
              </a:tr>
              <a:tr h="239572">
                <a:tc>
                  <a:txBody>
                    <a:bodyPr wrap="square"/>
                    <a:lstStyle/>
                    <a:p>
                      <a:pPr algn="l"/>
                      <a:r>
                        <a:rPr sz="760" b="1">
                          <a:solidFill>
                            <a:srgbClr val="1A1D2E"/>
                          </a:solidFill>
                          <a:latin typeface="Segoe UI"/>
                        </a:rPr>
                        <a:t>Travel km per activity</a:t>
                      </a:r>
                    </a:p>
                  </a:txBody>
                  <a:tcPr marL="54864" marR="54864" marT="18288" marB="18288" anchor="ctr">
                    <a:solidFill>
                      <a:srgbClr val="FFFFFF"/>
                    </a:solidFill>
                  </a:tcPr>
                </a:tc>
                <a:tc>
                  <a:txBody>
                    <a:bodyPr wrap="square"/>
                    <a:lstStyle/>
                    <a:p>
                      <a:pPr algn="l"/>
                      <a:r>
                        <a:rPr sz="760" b="0">
                          <a:solidFill>
                            <a:srgbClr val="1A1D2E"/>
                          </a:solidFill>
                          <a:latin typeface="Consolas"/>
                        </a:rPr>
                        <a:t>15.61</a:t>
                      </a:r>
                    </a:p>
                  </a:txBody>
                  <a:tcPr marL="54864" marR="54864" marT="18288" marB="18288" anchor="ctr">
                    <a:solidFill>
                      <a:srgbClr val="FFFFFF"/>
                    </a:solidFill>
                  </a:tcPr>
                </a:tc>
                <a:tc>
                  <a:txBody>
                    <a:bodyPr wrap="square"/>
                    <a:lstStyle/>
                    <a:p>
                      <a:pPr algn="l"/>
                      <a:r>
                        <a:rPr sz="760" b="1">
                          <a:solidFill>
                            <a:srgbClr val="1A1D2E"/>
                          </a:solidFill>
                          <a:latin typeface="Consolas"/>
                        </a:rPr>
                        <a:t>6.01</a:t>
                      </a:r>
                    </a:p>
                  </a:txBody>
                  <a:tcPr marL="54864" marR="54864" marT="18288" marB="18288" anchor="ctr">
                    <a:solidFill>
                      <a:srgbClr val="FFFFFF"/>
                    </a:solidFill>
                  </a:tcPr>
                </a:tc>
                <a:tc>
                  <a:txBody>
                    <a:bodyPr wrap="square"/>
                    <a:lstStyle/>
                    <a:p>
                      <a:pPr algn="l"/>
                      <a:r>
                        <a:rPr sz="760" b="1">
                          <a:solidFill>
                            <a:srgbClr val="0F7B6C"/>
                          </a:solidFill>
                          <a:latin typeface="Consolas"/>
                        </a:rPr>
                        <a:t>−61%</a:t>
                      </a:r>
                    </a:p>
                  </a:txBody>
                  <a:tcPr marL="54864" marR="54864" marT="18288" marB="18288" anchor="ctr">
                    <a:solidFill>
                      <a:srgbClr val="FFFFFF"/>
                    </a:solidFill>
                  </a:tcPr>
                </a:tc>
              </a:tr>
              <a:tr h="239572">
                <a:tc>
                  <a:txBody>
                    <a:bodyPr wrap="square"/>
                    <a:lstStyle/>
                    <a:p>
                      <a:pPr algn="l"/>
                      <a:r>
                        <a:rPr sz="760" b="1">
                          <a:solidFill>
                            <a:srgbClr val="1A1D2E"/>
                          </a:solidFill>
                          <a:latin typeface="Segoe UI"/>
                        </a:rPr>
                        <a:t>Activities scheduled</a:t>
                      </a:r>
                    </a:p>
                  </a:txBody>
                  <a:tcPr marL="54864" marR="54864" marT="18288" marB="18288" anchor="ctr">
                    <a:solidFill>
                      <a:srgbClr val="FDFBF7"/>
                    </a:solidFill>
                  </a:tcPr>
                </a:tc>
                <a:tc>
                  <a:txBody>
                    <a:bodyPr wrap="square"/>
                    <a:lstStyle/>
                    <a:p>
                      <a:pPr algn="l"/>
                      <a:r>
                        <a:rPr sz="760" b="0">
                          <a:solidFill>
                            <a:srgbClr val="1A1D2E"/>
                          </a:solidFill>
                          <a:latin typeface="Consolas"/>
                        </a:rPr>
                        <a:t>9.8</a:t>
                      </a:r>
                    </a:p>
                  </a:txBody>
                  <a:tcPr marL="54864" marR="54864" marT="18288" marB="18288" anchor="ctr">
                    <a:solidFill>
                      <a:srgbClr val="FDFBF7"/>
                    </a:solidFill>
                  </a:tcPr>
                </a:tc>
                <a:tc>
                  <a:txBody>
                    <a:bodyPr wrap="square"/>
                    <a:lstStyle/>
                    <a:p>
                      <a:pPr algn="l"/>
                      <a:r>
                        <a:rPr sz="760" b="0">
                          <a:solidFill>
                            <a:srgbClr val="1A1D2E"/>
                          </a:solidFill>
                          <a:latin typeface="Consolas"/>
                        </a:rPr>
                        <a:t>10.3</a:t>
                      </a:r>
                    </a:p>
                  </a:txBody>
                  <a:tcPr marL="54864" marR="54864" marT="18288" marB="18288" anchor="ctr">
                    <a:solidFill>
                      <a:srgbClr val="FDFBF7"/>
                    </a:solidFill>
                  </a:tcPr>
                </a:tc>
                <a:tc>
                  <a:txBody>
                    <a:bodyPr wrap="square"/>
                    <a:lstStyle/>
                    <a:p>
                      <a:pPr algn="l"/>
                      <a:r>
                        <a:rPr sz="760" b="0">
                          <a:solidFill>
                            <a:srgbClr val="1A1D2E"/>
                          </a:solidFill>
                          <a:latin typeface="Consolas"/>
                        </a:rPr>
                        <a:t>+0.5</a:t>
                      </a:r>
                    </a:p>
                  </a:txBody>
                  <a:tcPr marL="54864" marR="54864" marT="18288" marB="18288" anchor="ctr">
                    <a:solidFill>
                      <a:srgbClr val="FDFBF7"/>
                    </a:solidFill>
                  </a:tcPr>
                </a:tc>
              </a:tr>
              <a:tr h="239572">
                <a:tc>
                  <a:txBody>
                    <a:bodyPr wrap="square"/>
                    <a:lstStyle/>
                    <a:p>
                      <a:pPr algn="l"/>
                      <a:r>
                        <a:rPr sz="760" b="1">
                          <a:solidFill>
                            <a:srgbClr val="1A1D2E"/>
                          </a:solidFill>
                          <a:latin typeface="Segoe UI"/>
                        </a:rPr>
                        <a:t>Constraint violations</a:t>
                      </a:r>
                    </a:p>
                  </a:txBody>
                  <a:tcPr marL="54864" marR="54864" marT="18288" marB="18288" anchor="ctr">
                    <a:solidFill>
                      <a:srgbClr val="FFFFFF"/>
                    </a:solidFill>
                  </a:tcPr>
                </a:tc>
                <a:tc>
                  <a:txBody>
                    <a:bodyPr wrap="square"/>
                    <a:lstStyle/>
                    <a:p>
                      <a:pPr algn="l"/>
                      <a:r>
                        <a:rPr sz="760" b="0">
                          <a:solidFill>
                            <a:srgbClr val="1A1D2E"/>
                          </a:solidFill>
                          <a:latin typeface="Consolas"/>
                        </a:rPr>
                        <a:t>0.0</a:t>
                      </a:r>
                    </a:p>
                  </a:txBody>
                  <a:tcPr marL="54864" marR="54864" marT="18288" marB="18288" anchor="ctr">
                    <a:solidFill>
                      <a:srgbClr val="FFFFFF"/>
                    </a:solidFill>
                  </a:tcPr>
                </a:tc>
                <a:tc>
                  <a:txBody>
                    <a:bodyPr wrap="square"/>
                    <a:lstStyle/>
                    <a:p>
                      <a:pPr algn="l"/>
                      <a:r>
                        <a:rPr sz="760" b="0">
                          <a:solidFill>
                            <a:srgbClr val="1A1D2E"/>
                          </a:solidFill>
                          <a:latin typeface="Consolas"/>
                        </a:rPr>
                        <a:t>0.0</a:t>
                      </a:r>
                    </a:p>
                  </a:txBody>
                  <a:tcPr marL="54864" marR="54864" marT="18288" marB="18288" anchor="ctr">
                    <a:solidFill>
                      <a:srgbClr val="FFFFFF"/>
                    </a:solidFill>
                  </a:tcPr>
                </a:tc>
                <a:tc>
                  <a:txBody>
                    <a:bodyPr wrap="square"/>
                    <a:lstStyle/>
                    <a:p>
                      <a:pPr algn="l"/>
                      <a:r>
                        <a:rPr sz="760" b="0">
                          <a:solidFill>
                            <a:srgbClr val="1A1D2E"/>
                          </a:solidFill>
                          <a:latin typeface="Consolas"/>
                        </a:rPr>
                        <a:t>—</a:t>
                      </a:r>
                    </a:p>
                  </a:txBody>
                  <a:tcPr marL="54864" marR="54864" marT="18288" marB="18288" anchor="ctr">
                    <a:solidFill>
                      <a:srgbClr val="FFFFFF"/>
                    </a:solidFill>
                  </a:tcPr>
                </a:tc>
              </a:tr>
              <a:tr h="239572">
                <a:tc>
                  <a:txBody>
                    <a:bodyPr wrap="square"/>
                    <a:lstStyle/>
                    <a:p>
                      <a:pPr algn="l"/>
                      <a:r>
                        <a:rPr sz="760" b="1">
                          <a:solidFill>
                            <a:srgbClr val="1A1D2E"/>
                          </a:solidFill>
                          <a:latin typeface="Segoe UI"/>
                        </a:rPr>
                        <a:t>Median solve time</a:t>
                      </a:r>
                    </a:p>
                  </a:txBody>
                  <a:tcPr marL="54864" marR="54864" marT="18288" marB="18288" anchor="ctr">
                    <a:solidFill>
                      <a:srgbClr val="FDFBF7"/>
                    </a:solidFill>
                  </a:tcPr>
                </a:tc>
                <a:tc>
                  <a:txBody>
                    <a:bodyPr wrap="square"/>
                    <a:lstStyle/>
                    <a:p>
                      <a:pPr algn="l"/>
                      <a:r>
                        <a:rPr sz="760" b="0">
                          <a:solidFill>
                            <a:srgbClr val="1A1D2E"/>
                          </a:solidFill>
                          <a:latin typeface="Consolas"/>
                        </a:rPr>
                        <a:t>8.8 ms</a:t>
                      </a:r>
                    </a:p>
                  </a:txBody>
                  <a:tcPr marL="54864" marR="54864" marT="18288" marB="18288" anchor="ctr">
                    <a:solidFill>
                      <a:srgbClr val="FDFBF7"/>
                    </a:solidFill>
                  </a:tcPr>
                </a:tc>
                <a:tc>
                  <a:txBody>
                    <a:bodyPr wrap="square"/>
                    <a:lstStyle/>
                    <a:p>
                      <a:pPr algn="l"/>
                      <a:r>
                        <a:rPr sz="760" b="0">
                          <a:solidFill>
                            <a:srgbClr val="1A1D2E"/>
                          </a:solidFill>
                          <a:latin typeface="Consolas"/>
                        </a:rPr>
                        <a:t>48.2 ms</a:t>
                      </a:r>
                    </a:p>
                  </a:txBody>
                  <a:tcPr marL="54864" marR="54864" marT="18288" marB="18288" anchor="ctr">
                    <a:solidFill>
                      <a:srgbClr val="FDFBF7"/>
                    </a:solidFill>
                  </a:tcPr>
                </a:tc>
                <a:tc>
                  <a:txBody>
                    <a:bodyPr wrap="square"/>
                    <a:lstStyle/>
                    <a:p>
                      <a:pPr algn="l"/>
                      <a:r>
                        <a:rPr sz="760" b="0">
                          <a:solidFill>
                            <a:srgbClr val="A44C1F"/>
                          </a:solidFill>
                          <a:latin typeface="Consolas"/>
                        </a:rPr>
                        <a:t>+39 ms</a:t>
                      </a:r>
                    </a:p>
                  </a:txBody>
                  <a:tcPr marL="54864" marR="54864" marT="18288" marB="18288" anchor="ctr">
                    <a:solidFill>
                      <a:srgbClr val="FDFBF7"/>
                    </a:solidFill>
                  </a:tcPr>
                </a:tc>
              </a:tr>
            </a:tbl>
          </a:graphicData>
        </a:graphic>
      </p:graphicFrame>
      <p:sp>
        <p:nvSpPr>
          <p:cNvPr id="26" name="Rectangle 25"/>
          <p:cNvSpPr/>
          <p:nvPr/>
        </p:nvSpPr>
        <p:spPr>
          <a:xfrm>
            <a:off x="6291072" y="3310128"/>
            <a:ext cx="5571439" cy="640080"/>
          </a:xfrm>
          <a:prstGeom prst="rect">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19088" y="3401568"/>
            <a:ext cx="5315407" cy="502920"/>
          </a:xfrm>
          <a:prstGeom prst="rect">
            <a:avLst/>
          </a:prstGeom>
          <a:noFill/>
        </p:spPr>
        <p:txBody>
          <a:bodyPr wrap="square" lIns="0" rIns="0" tIns="0" bIns="0" anchor="t">
            <a:spAutoFit/>
          </a:bodyPr>
          <a:lstStyle/>
          <a:p>
            <a:pPr algn="l">
              <a:lnSpc>
                <a:spcPct val="118000"/>
              </a:lnSpc>
              <a:spcAft>
                <a:spcPts val="0"/>
              </a:spcAft>
            </a:pPr>
            <a:r>
              <a:rPr sz="810" b="1">
                <a:solidFill>
                  <a:srgbClr val="23306B"/>
                </a:solidFill>
                <a:latin typeface="Segoe UI"/>
              </a:rPr>
              <a:t>The baseline is not a strawman.  </a:t>
            </a:r>
            <a:r>
              <a:rPr sz="810" b="0">
                <a:solidFill>
                  <a:srgbClr val="5B6178"/>
                </a:solidFill>
                <a:latin typeface="Segoe UI"/>
              </a:rPr>
              <a:t>It honours identical opening hours, budget, activity and travel caps, and inserts each candidate at its earliest feasible start. The 57% gap measures sequencing quality alone.</a:t>
            </a:r>
          </a:p>
        </p:txBody>
      </p:sp>
      <p:sp>
        <p:nvSpPr>
          <p:cNvPr id="28" name="Rectangle 27"/>
          <p:cNvSpPr/>
          <p:nvPr/>
        </p:nvSpPr>
        <p:spPr>
          <a:xfrm>
            <a:off x="6291072" y="4078224"/>
            <a:ext cx="5571439" cy="274320"/>
          </a:xfrm>
          <a:prstGeom prst="rect">
            <a:avLst/>
          </a:prstGeom>
          <a:solidFill>
            <a:srgbClr val="4256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82512" y="4128515"/>
            <a:ext cx="5388559"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RELAXATION LADDER — WHY IT NEVER JUST SAYS "NO PLAN"</a:t>
            </a:r>
          </a:p>
        </p:txBody>
      </p:sp>
      <p:graphicFrame>
        <p:nvGraphicFramePr>
          <p:cNvPr id="30" name="Table 29"/>
          <p:cNvGraphicFramePr>
            <a:graphicFrameLocks noGrp="1"/>
          </p:cNvGraphicFramePr>
          <p:nvPr/>
        </p:nvGraphicFramePr>
        <p:xfrm>
          <a:off x="6291072" y="4370832"/>
          <a:ext cx="5571439" cy="1266444"/>
        </p:xfrm>
        <a:graphic>
          <a:graphicData uri="http://schemas.openxmlformats.org/drawingml/2006/table">
            <a:tbl>
              <a:tblPr>
                <a:tableStyleId>{5C22544A-7EE6-4342-B048-85BDC9FD1C3A}</a:tableStyleId>
              </a:tblPr>
              <a:tblGrid>
                <a:gridCol w="756615"/>
                <a:gridCol w="4814824"/>
              </a:tblGrid>
              <a:tr h="237744">
                <a:tc>
                  <a:txBody>
                    <a:bodyPr wrap="square"/>
                    <a:lstStyle/>
                    <a:p>
                      <a:pPr algn="l"/>
                      <a:r>
                        <a:rPr sz="740" b="1">
                          <a:solidFill>
                            <a:srgbClr val="FFFFFF"/>
                          </a:solidFill>
                          <a:latin typeface="Segoe UI"/>
                        </a:rPr>
                        <a:t>TRY</a:t>
                      </a:r>
                    </a:p>
                  </a:txBody>
                  <a:tcPr marL="54864" marR="54864" marT="18288" marB="18288" anchor="ctr">
                    <a:solidFill>
                      <a:srgbClr val="42569F"/>
                    </a:solidFill>
                  </a:tcPr>
                </a:tc>
                <a:tc>
                  <a:txBody>
                    <a:bodyPr wrap="square"/>
                    <a:lstStyle/>
                    <a:p>
                      <a:pPr algn="l"/>
                      <a:r>
                        <a:rPr sz="740" b="1">
                          <a:solidFill>
                            <a:srgbClr val="FFFFFF"/>
                          </a:solidFill>
                          <a:latin typeface="Segoe UI"/>
                        </a:rPr>
                        <a:t>WHAT IS RELAXED</a:t>
                      </a:r>
                    </a:p>
                  </a:txBody>
                  <a:tcPr marL="54864" marR="54864" marT="18288" marB="18288" anchor="ctr">
                    <a:solidFill>
                      <a:srgbClr val="42569F"/>
                    </a:solidFill>
                  </a:tcPr>
                </a:tc>
              </a:tr>
              <a:tr h="205740">
                <a:tc>
                  <a:txBody>
                    <a:bodyPr wrap="square"/>
                    <a:lstStyle/>
                    <a:p>
                      <a:pPr algn="l"/>
                      <a:r>
                        <a:rPr sz="750" b="1">
                          <a:solidFill>
                            <a:srgbClr val="1A1D2E"/>
                          </a:solidFill>
                          <a:latin typeface="Segoe UI"/>
                        </a:rPr>
                        <a:t>1</a:t>
                      </a:r>
                    </a:p>
                  </a:txBody>
                  <a:tcPr marL="54864" marR="54864" marT="18288" marB="18288" anchor="ctr">
                    <a:solidFill>
                      <a:srgbClr val="FFFFFF"/>
                    </a:solidFill>
                  </a:tcPr>
                </a:tc>
                <a:tc>
                  <a:txBody>
                    <a:bodyPr wrap="square"/>
                    <a:lstStyle/>
                    <a:p>
                      <a:pPr algn="l"/>
                      <a:r>
                        <a:rPr sz="750" b="0">
                          <a:solidFill>
                            <a:srgbClr val="1A1D2E"/>
                          </a:solidFill>
                          <a:latin typeface="Segoe UI"/>
                        </a:rPr>
                        <a:t>Nothing — the full model</a:t>
                      </a:r>
                    </a:p>
                  </a:txBody>
                  <a:tcPr marL="54864" marR="54864" marT="18288" marB="18288" anchor="ctr">
                    <a:solidFill>
                      <a:srgbClr val="FFFFFF"/>
                    </a:solidFill>
                  </a:tcPr>
                </a:tc>
              </a:tr>
              <a:tr h="205740">
                <a:tc>
                  <a:txBody>
                    <a:bodyPr wrap="square"/>
                    <a:lstStyle/>
                    <a:p>
                      <a:pPr algn="l"/>
                      <a:r>
                        <a:rPr sz="750" b="1">
                          <a:solidFill>
                            <a:srgbClr val="1A1D2E"/>
                          </a:solidFill>
                          <a:latin typeface="Segoe UI"/>
                        </a:rPr>
                        <a:t>2</a:t>
                      </a:r>
                    </a:p>
                  </a:txBody>
                  <a:tcPr marL="54864" marR="54864" marT="18288" marB="18288" anchor="ctr">
                    <a:solidFill>
                      <a:srgbClr val="FDFBF7"/>
                    </a:solidFill>
                  </a:tcPr>
                </a:tc>
                <a:tc>
                  <a:txBody>
                    <a:bodyPr wrap="square"/>
                    <a:lstStyle/>
                    <a:p>
                      <a:pPr algn="l"/>
                      <a:r>
                        <a:rPr sz="750" b="0">
                          <a:solidFill>
                            <a:srgbClr val="1A1D2E"/>
                          </a:solidFill>
                          <a:latin typeface="Segoe UI"/>
                        </a:rPr>
                        <a:t>max_activities − 1</a:t>
                      </a:r>
                    </a:p>
                  </a:txBody>
                  <a:tcPr marL="54864" marR="54864" marT="18288" marB="18288" anchor="ctr">
                    <a:solidFill>
                      <a:srgbClr val="FDFBF7"/>
                    </a:solidFill>
                  </a:tcPr>
                </a:tc>
              </a:tr>
              <a:tr h="205740">
                <a:tc>
                  <a:txBody>
                    <a:bodyPr wrap="square"/>
                    <a:lstStyle/>
                    <a:p>
                      <a:pPr algn="l"/>
                      <a:r>
                        <a:rPr sz="750" b="1">
                          <a:solidFill>
                            <a:srgbClr val="1A1D2E"/>
                          </a:solidFill>
                          <a:latin typeface="Segoe UI"/>
                        </a:rPr>
                        <a:t>3</a:t>
                      </a:r>
                    </a:p>
                  </a:txBody>
                  <a:tcPr marL="54864" marR="54864" marT="18288" marB="18288" anchor="ctr">
                    <a:solidFill>
                      <a:srgbClr val="FFFFFF"/>
                    </a:solidFill>
                  </a:tcPr>
                </a:tc>
                <a:tc>
                  <a:txBody>
                    <a:bodyPr wrap="square"/>
                    <a:lstStyle/>
                    <a:p>
                      <a:pPr algn="l"/>
                      <a:r>
                        <a:rPr sz="750" b="0">
                          <a:solidFill>
                            <a:srgbClr val="1A1D2E"/>
                          </a:solidFill>
                          <a:latin typeface="Segoe UI"/>
                        </a:rPr>
                        <a:t>travel cap × 1.25</a:t>
                      </a:r>
                    </a:p>
                  </a:txBody>
                  <a:tcPr marL="54864" marR="54864" marT="18288" marB="18288" anchor="ctr">
                    <a:solidFill>
                      <a:srgbClr val="FFFFFF"/>
                    </a:solidFill>
                  </a:tcPr>
                </a:tc>
              </a:tr>
              <a:tr h="205740">
                <a:tc>
                  <a:txBody>
                    <a:bodyPr wrap="square"/>
                    <a:lstStyle/>
                    <a:p>
                      <a:pPr algn="l"/>
                      <a:r>
                        <a:rPr sz="750" b="1">
                          <a:solidFill>
                            <a:srgbClr val="1A1D2E"/>
                          </a:solidFill>
                          <a:latin typeface="Segoe UI"/>
                        </a:rPr>
                        <a:t>4</a:t>
                      </a:r>
                    </a:p>
                  </a:txBody>
                  <a:tcPr marL="54864" marR="54864" marT="18288" marB="18288" anchor="ctr">
                    <a:solidFill>
                      <a:srgbClr val="FDFBF7"/>
                    </a:solidFill>
                  </a:tcPr>
                </a:tc>
                <a:tc>
                  <a:txBody>
                    <a:bodyPr wrap="square"/>
                    <a:lstStyle/>
                    <a:p>
                      <a:pPr algn="l"/>
                      <a:r>
                        <a:rPr sz="750" b="0">
                          <a:solidFill>
                            <a:srgbClr val="1A1D2E"/>
                          </a:solidFill>
                          <a:latin typeface="Segoe UI"/>
                        </a:rPr>
                        <a:t>drop budget cap; activities − 1; travel × 1.4</a:t>
                      </a:r>
                    </a:p>
                  </a:txBody>
                  <a:tcPr marL="54864" marR="54864" marT="18288" marB="18288" anchor="ctr">
                    <a:solidFill>
                      <a:srgbClr val="FDFBF7"/>
                    </a:solidFill>
                  </a:tcPr>
                </a:tc>
              </a:tr>
              <a:tr h="205740">
                <a:tc>
                  <a:txBody>
                    <a:bodyPr wrap="square"/>
                    <a:lstStyle/>
                    <a:p>
                      <a:pPr algn="l"/>
                      <a:r>
                        <a:rPr sz="750" b="1">
                          <a:solidFill>
                            <a:srgbClr val="1A1D2E"/>
                          </a:solidFill>
                          <a:latin typeface="Segoe UI"/>
                        </a:rPr>
                        <a:t>5</a:t>
                      </a:r>
                    </a:p>
                  </a:txBody>
                  <a:tcPr marL="54864" marR="54864" marT="18288" marB="18288" anchor="ctr">
                    <a:solidFill>
                      <a:srgbClr val="FFFFFF"/>
                    </a:solidFill>
                  </a:tcPr>
                </a:tc>
                <a:tc>
                  <a:txBody>
                    <a:bodyPr wrap="square"/>
                    <a:lstStyle/>
                    <a:p>
                      <a:pPr algn="l"/>
                      <a:r>
                        <a:rPr sz="750" b="0">
                          <a:solidFill>
                            <a:srgbClr val="1A1D2E"/>
                          </a:solidFill>
                          <a:latin typeface="Segoe UI"/>
                        </a:rPr>
                        <a:t>activities = 2; travel × 1.5</a:t>
                      </a:r>
                    </a:p>
                  </a:txBody>
                  <a:tcPr marL="54864" marR="54864" marT="18288" marB="18288" anchor="ctr">
                    <a:solidFill>
                      <a:srgbClr val="FFFFFF"/>
                    </a:solidFill>
                  </a:tcPr>
                </a:tc>
              </a:tr>
            </a:tbl>
          </a:graphicData>
        </a:graphic>
      </p:graphicFrame>
      <p:sp>
        <p:nvSpPr>
          <p:cNvPr id="31" name="TextBox 30"/>
          <p:cNvSpPr txBox="1"/>
          <p:nvPr/>
        </p:nvSpPr>
        <p:spPr>
          <a:xfrm>
            <a:off x="6291072" y="5669280"/>
            <a:ext cx="5571439" cy="274320"/>
          </a:xfrm>
          <a:prstGeom prst="rect">
            <a:avLst/>
          </a:prstGeom>
          <a:noFill/>
        </p:spPr>
        <p:txBody>
          <a:bodyPr wrap="square" lIns="0" rIns="0" tIns="0" bIns="0" anchor="t">
            <a:spAutoFit/>
          </a:bodyPr>
          <a:lstStyle/>
          <a:p>
            <a:pPr algn="l">
              <a:lnSpc>
                <a:spcPct val="115000"/>
              </a:lnSpc>
              <a:spcAft>
                <a:spcPts val="0"/>
              </a:spcAft>
            </a:pPr>
            <a:r>
              <a:rPr sz="760" b="0">
                <a:solidFill>
                  <a:srgbClr val="5B6178"/>
                </a:solidFill>
                <a:latin typeface="Segoe UI"/>
              </a:rPr>
              <a:t>Travel is relaxed last and least — a six-hour driving day is feasible and useless. Whatever was relaxed is recorded and shown to the user.</a:t>
            </a:r>
          </a:p>
        </p:txBody>
      </p:sp>
      <p:sp>
        <p:nvSpPr>
          <p:cNvPr id="32" name="Rectangle 31"/>
          <p:cNvSpPr/>
          <p:nvPr/>
        </p:nvSpPr>
        <p:spPr>
          <a:xfrm>
            <a:off x="329184" y="5980176"/>
            <a:ext cx="11533327" cy="384048"/>
          </a:xfrm>
          <a:prstGeom prst="rect">
            <a:avLst/>
          </a:prstGeom>
          <a:solidFill>
            <a:srgbClr val="141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57200" y="6062472"/>
            <a:ext cx="11277295" cy="237744"/>
          </a:xfrm>
          <a:prstGeom prst="rect">
            <a:avLst/>
          </a:prstGeom>
          <a:noFill/>
        </p:spPr>
        <p:txBody>
          <a:bodyPr wrap="square" lIns="0" rIns="0" tIns="0" bIns="0" anchor="t">
            <a:spAutoFit/>
          </a:bodyPr>
          <a:lstStyle/>
          <a:p>
            <a:pPr algn="l">
              <a:lnSpc>
                <a:spcPct val="115000"/>
              </a:lnSpc>
              <a:spcAft>
                <a:spcPts val="0"/>
              </a:spcAft>
            </a:pPr>
            <a:r>
              <a:rPr sz="860" b="1">
                <a:solidFill>
                  <a:srgbClr val="E07A3F"/>
                </a:solidFill>
                <a:latin typeface="Segoe UI"/>
              </a:rPr>
              <a:t>DETERMINISM:  </a:t>
            </a:r>
            <a:r>
              <a:rPr sz="860" b="0">
                <a:solidFill>
                  <a:srgbClr val="FFFFFF"/>
                </a:solidFill>
                <a:latin typeface="Segoe UI"/>
              </a:rPr>
              <a:t>num_workers = 1 and a fixed random seed. Multi-threaded CP-SAT search is non-deterministic; single-worker costs some speed and buys a reproducible plan — asserted by test.</a:t>
            </a:r>
          </a:p>
        </p:txBody>
      </p:sp>
      <p:sp>
        <p:nvSpPr>
          <p:cNvPr id="34" name="Rectangle 33"/>
          <p:cNvSpPr/>
          <p:nvPr/>
        </p:nvSpPr>
        <p:spPr>
          <a:xfrm>
            <a:off x="329184" y="6382512"/>
            <a:ext cx="11533327" cy="10972"/>
          </a:xfrm>
          <a:prstGeom prst="rect">
            <a:avLst/>
          </a:prstGeom>
          <a:solidFill>
            <a:srgbClr val="E6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29184" y="6473952"/>
            <a:ext cx="10893247" cy="256032"/>
          </a:xfrm>
          <a:prstGeom prst="rect">
            <a:avLst/>
          </a:prstGeom>
          <a:noFill/>
        </p:spPr>
        <p:txBody>
          <a:bodyPr wrap="square" lIns="0" rIns="0" tIns="0" bIns="0" anchor="t">
            <a:spAutoFit/>
          </a:bodyPr>
          <a:lstStyle/>
          <a:p>
            <a:pPr algn="l">
              <a:lnSpc>
                <a:spcPct val="100000"/>
              </a:lnSpc>
              <a:spcAft>
                <a:spcPts val="0"/>
              </a:spcAft>
            </a:pPr>
            <a:r>
              <a:rPr sz="680" b="0">
                <a:solidFill>
                  <a:srgbClr val="8A90A6"/>
                </a:solidFill>
                <a:latin typeface="Segoe UI"/>
              </a:rPr>
              <a:t>Source: python ml/experiments/planner_comparison.py — 6 scenarios × 6 clusters × 3 repeats. Constants from services/planner/ortools_scheduler.py.</a:t>
            </a:r>
          </a:p>
        </p:txBody>
      </p:sp>
      <p:sp>
        <p:nvSpPr>
          <p:cNvPr id="36" name="TextBox 35"/>
          <p:cNvSpPr txBox="1"/>
          <p:nvPr/>
        </p:nvSpPr>
        <p:spPr>
          <a:xfrm>
            <a:off x="11313871" y="6455664"/>
            <a:ext cx="548640" cy="274320"/>
          </a:xfrm>
          <a:prstGeom prst="rect">
            <a:avLst/>
          </a:prstGeom>
          <a:noFill/>
        </p:spPr>
        <p:txBody>
          <a:bodyPr wrap="square" lIns="0" rIns="0" tIns="0" bIns="0" anchor="t">
            <a:spAutoFit/>
          </a:bodyPr>
          <a:lstStyle/>
          <a:p>
            <a:pPr algn="r">
              <a:lnSpc>
                <a:spcPct val="100000"/>
              </a:lnSpc>
              <a:spcAft>
                <a:spcPts val="0"/>
              </a:spcAft>
            </a:pPr>
            <a:r>
              <a:rPr sz="1100" b="1">
                <a:solidFill>
                  <a:srgbClr val="42569F"/>
                </a:solidFill>
                <a:latin typeface="Segoe U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29184"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29184"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PROBLEM &amp;</a:t>
            </a:r>
          </a:p>
          <a:p>
            <a:pPr algn="ctr">
              <a:lnSpc>
                <a:spcPct val="95000"/>
              </a:lnSpc>
              <a:spcAft>
                <a:spcPts val="0"/>
              </a:spcAft>
            </a:pPr>
            <a:r>
              <a:rPr sz="750" b="1">
                <a:solidFill>
                  <a:srgbClr val="A44C1F"/>
                </a:solidFill>
                <a:latin typeface="Segoe UI"/>
              </a:rPr>
              <a:t>ARCHITECTURE</a:t>
            </a:r>
          </a:p>
        </p:txBody>
      </p:sp>
      <p:sp>
        <p:nvSpPr>
          <p:cNvPr id="5" name="Rectangle 4"/>
          <p:cNvSpPr/>
          <p:nvPr/>
        </p:nvSpPr>
        <p:spPr>
          <a:xfrm>
            <a:off x="2646822"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646822"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DATA</a:t>
            </a:r>
          </a:p>
          <a:p>
            <a:pPr algn="ctr">
              <a:lnSpc>
                <a:spcPct val="95000"/>
              </a:lnSpc>
              <a:spcAft>
                <a:spcPts val="0"/>
              </a:spcAft>
            </a:pPr>
            <a:r>
              <a:rPr sz="750" b="1">
                <a:solidFill>
                  <a:srgbClr val="A44C1F"/>
                </a:solidFill>
                <a:latin typeface="Segoe UI"/>
              </a:rPr>
              <a:t>FOUNDATION</a:t>
            </a:r>
          </a:p>
        </p:txBody>
      </p:sp>
      <p:sp>
        <p:nvSpPr>
          <p:cNvPr id="7" name="Rectangle 6"/>
          <p:cNvSpPr/>
          <p:nvPr/>
        </p:nvSpPr>
        <p:spPr>
          <a:xfrm>
            <a:off x="4964460"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964460"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RANKING &amp;</a:t>
            </a:r>
          </a:p>
          <a:p>
            <a:pPr algn="ctr">
              <a:lnSpc>
                <a:spcPct val="95000"/>
              </a:lnSpc>
              <a:spcAft>
                <a:spcPts val="0"/>
              </a:spcAft>
            </a:pPr>
            <a:r>
              <a:rPr sz="750" b="1">
                <a:solidFill>
                  <a:srgbClr val="A44C1F"/>
                </a:solidFill>
                <a:latin typeface="Segoe UI"/>
              </a:rPr>
              <a:t>FAIRNESS</a:t>
            </a:r>
          </a:p>
        </p:txBody>
      </p:sp>
      <p:sp>
        <p:nvSpPr>
          <p:cNvPr id="9" name="Rectangle 8"/>
          <p:cNvSpPr/>
          <p:nvPr/>
        </p:nvSpPr>
        <p:spPr>
          <a:xfrm>
            <a:off x="7282098" y="237744"/>
            <a:ext cx="2262774" cy="420624"/>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82098"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FFFFFF"/>
                </a:solidFill>
                <a:latin typeface="Segoe UI"/>
              </a:rPr>
              <a:t>OPTIMISATION</a:t>
            </a:r>
          </a:p>
          <a:p>
            <a:pPr algn="ctr">
              <a:lnSpc>
                <a:spcPct val="95000"/>
              </a:lnSpc>
              <a:spcAft>
                <a:spcPts val="0"/>
              </a:spcAft>
            </a:pPr>
            <a:r>
              <a:rPr sz="750" b="1">
                <a:solidFill>
                  <a:srgbClr val="FFFFFF"/>
                </a:solidFill>
                <a:latin typeface="Segoe UI"/>
              </a:rPr>
              <a:t>&amp; VALIDATION</a:t>
            </a:r>
          </a:p>
        </p:txBody>
      </p:sp>
      <p:sp>
        <p:nvSpPr>
          <p:cNvPr id="11" name="Rectangle 10"/>
          <p:cNvSpPr/>
          <p:nvPr/>
        </p:nvSpPr>
        <p:spPr>
          <a:xfrm>
            <a:off x="9599736"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99736"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RETRIEVAL,</a:t>
            </a:r>
          </a:p>
          <a:p>
            <a:pPr algn="ctr">
              <a:lnSpc>
                <a:spcPct val="95000"/>
              </a:lnSpc>
              <a:spcAft>
                <a:spcPts val="0"/>
              </a:spcAft>
            </a:pPr>
            <a:r>
              <a:rPr sz="750" b="1">
                <a:solidFill>
                  <a:srgbClr val="A44C1F"/>
                </a:solidFill>
                <a:latin typeface="Segoe UI"/>
              </a:rPr>
              <a:t>TRUST &amp; RESULTS</a:t>
            </a:r>
          </a:p>
        </p:txBody>
      </p:sp>
      <p:sp>
        <p:nvSpPr>
          <p:cNvPr id="13" name="TextBox 12"/>
          <p:cNvSpPr txBox="1"/>
          <p:nvPr/>
        </p:nvSpPr>
        <p:spPr>
          <a:xfrm>
            <a:off x="329184" y="804672"/>
            <a:ext cx="11533327" cy="292608"/>
          </a:xfrm>
          <a:prstGeom prst="rect">
            <a:avLst/>
          </a:prstGeom>
          <a:noFill/>
        </p:spPr>
        <p:txBody>
          <a:bodyPr wrap="square" lIns="0" rIns="0" tIns="0" bIns="0" anchor="t">
            <a:spAutoFit/>
          </a:bodyPr>
          <a:lstStyle/>
          <a:p>
            <a:pPr algn="l">
              <a:lnSpc>
                <a:spcPct val="100000"/>
              </a:lnSpc>
              <a:spcAft>
                <a:spcPts val="0"/>
              </a:spcAft>
            </a:pPr>
            <a:r>
              <a:rPr sz="1700" b="1">
                <a:solidFill>
                  <a:srgbClr val="23306B"/>
                </a:solidFill>
                <a:latin typeface="Segoe UI"/>
              </a:rPr>
              <a:t>VALIDATION &amp; DYNAMIC REPLANNING — WHY A WRONG PLAN CANNOT REACH THE SCREEN</a:t>
            </a:r>
          </a:p>
        </p:txBody>
      </p:sp>
      <p:sp>
        <p:nvSpPr>
          <p:cNvPr id="14" name="Rectangle 13"/>
          <p:cNvSpPr/>
          <p:nvPr/>
        </p:nvSpPr>
        <p:spPr>
          <a:xfrm>
            <a:off x="329184" y="1133856"/>
            <a:ext cx="11533327" cy="20116"/>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29184" y="1298448"/>
            <a:ext cx="5623560" cy="274320"/>
          </a:xfrm>
          <a:prstGeom prst="rect">
            <a:avLst/>
          </a:prstGeom>
          <a:solidFill>
            <a:srgbClr val="A9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20623" y="1348739"/>
            <a:ext cx="5440680"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THE VALIDATOR — 15 CHECKS, RE-DERIVED INDEPENDENTLY OF THE SOLVER</a:t>
            </a:r>
          </a:p>
        </p:txBody>
      </p:sp>
      <p:graphicFrame>
        <p:nvGraphicFramePr>
          <p:cNvPr id="17" name="Table 16"/>
          <p:cNvGraphicFramePr>
            <a:graphicFrameLocks noGrp="1"/>
          </p:cNvGraphicFramePr>
          <p:nvPr/>
        </p:nvGraphicFramePr>
        <p:xfrm>
          <a:off x="329184" y="1591056"/>
          <a:ext cx="5623559" cy="2682840"/>
        </p:xfrm>
        <a:graphic>
          <a:graphicData uri="http://schemas.openxmlformats.org/drawingml/2006/table">
            <a:tbl>
              <a:tblPr>
                <a:tableStyleId>{5C22544A-7EE6-4342-B048-85BDC9FD1C3A}</a:tableStyleId>
              </a:tblPr>
              <a:tblGrid>
                <a:gridCol w="4485458"/>
                <a:gridCol w="1138101"/>
              </a:tblGrid>
              <a:tr h="246888">
                <a:tc>
                  <a:txBody>
                    <a:bodyPr wrap="square"/>
                    <a:lstStyle/>
                    <a:p>
                      <a:pPr algn="l"/>
                      <a:r>
                        <a:rPr sz="740" b="1">
                          <a:solidFill>
                            <a:srgbClr val="FFFFFF"/>
                          </a:solidFill>
                          <a:latin typeface="Segoe UI"/>
                        </a:rPr>
                        <a:t>CHECK</a:t>
                      </a:r>
                    </a:p>
                  </a:txBody>
                  <a:tcPr marL="54864" marR="54864" marT="18288" marB="18288" anchor="ctr">
                    <a:solidFill>
                      <a:srgbClr val="A94545"/>
                    </a:solidFill>
                  </a:tcPr>
                </a:tc>
                <a:tc>
                  <a:txBody>
                    <a:bodyPr wrap="square"/>
                    <a:lstStyle/>
                    <a:p>
                      <a:pPr algn="l"/>
                      <a:r>
                        <a:rPr sz="740" b="1">
                          <a:solidFill>
                            <a:srgbClr val="FFFFFF"/>
                          </a:solidFill>
                          <a:latin typeface="Segoe UI"/>
                        </a:rPr>
                        <a:t>SEVERITY</a:t>
                      </a:r>
                    </a:p>
                  </a:txBody>
                  <a:tcPr marL="54864" marR="54864" marT="18288" marB="18288" anchor="ctr">
                    <a:solidFill>
                      <a:srgbClr val="A94545"/>
                    </a:solidFill>
                  </a:tcPr>
                </a:tc>
              </a:tr>
              <a:tr h="202996">
                <a:tc>
                  <a:txBody>
                    <a:bodyPr wrap="square"/>
                    <a:lstStyle/>
                    <a:p>
                      <a:pPr algn="l"/>
                      <a:r>
                        <a:rPr sz="740" b="1">
                          <a:solidFill>
                            <a:srgbClr val="1A1D2E"/>
                          </a:solidFill>
                          <a:latin typeface="Segoe UI"/>
                        </a:rPr>
                        <a:t>Activities ordered and non-overlapping</a:t>
                      </a:r>
                    </a:p>
                  </a:txBody>
                  <a:tcPr marL="54864" marR="54864" marT="18288" marB="18288" anchor="ctr">
                    <a:solidFill>
                      <a:srgbClr val="FFFFFF"/>
                    </a:solidFill>
                  </a:tcPr>
                </a:tc>
                <a:tc>
                  <a:txBody>
                    <a:bodyPr wrap="square"/>
                    <a:lstStyle/>
                    <a:p>
                      <a:pPr algn="l"/>
                      <a:r>
                        <a:rPr sz="740" b="0">
                          <a:solidFill>
                            <a:srgbClr val="A94545"/>
                          </a:solidFill>
                          <a:latin typeface="Segoe UI"/>
                        </a:rPr>
                        <a:t>error</a:t>
                      </a:r>
                    </a:p>
                  </a:txBody>
                  <a:tcPr marL="54864" marR="54864" marT="18288" marB="18288" anchor="ctr">
                    <a:solidFill>
                      <a:srgbClr val="FFFFFF"/>
                    </a:solidFill>
                  </a:tcPr>
                </a:tc>
              </a:tr>
              <a:tr h="202996">
                <a:tc>
                  <a:txBody>
                    <a:bodyPr wrap="square"/>
                    <a:lstStyle/>
                    <a:p>
                      <a:pPr algn="l"/>
                      <a:r>
                        <a:rPr sz="740" b="1">
                          <a:solidFill>
                            <a:srgbClr val="1A1D2E"/>
                          </a:solidFill>
                          <a:latin typeface="Segoe UI"/>
                        </a:rPr>
                        <a:t>Every visit inside a real opening window for that weekday</a:t>
                      </a:r>
                    </a:p>
                  </a:txBody>
                  <a:tcPr marL="54864" marR="54864" marT="18288" marB="18288" anchor="ctr">
                    <a:solidFill>
                      <a:srgbClr val="FDFBF7"/>
                    </a:solidFill>
                  </a:tcPr>
                </a:tc>
                <a:tc>
                  <a:txBody>
                    <a:bodyPr wrap="square"/>
                    <a:lstStyle/>
                    <a:p>
                      <a:pPr algn="l"/>
                      <a:r>
                        <a:rPr sz="740" b="0">
                          <a:solidFill>
                            <a:srgbClr val="A94545"/>
                          </a:solidFill>
                          <a:latin typeface="Segoe UI"/>
                        </a:rPr>
                        <a:t>error</a:t>
                      </a:r>
                    </a:p>
                  </a:txBody>
                  <a:tcPr marL="54864" marR="54864" marT="18288" marB="18288" anchor="ctr">
                    <a:solidFill>
                      <a:srgbClr val="FDFBF7"/>
                    </a:solidFill>
                  </a:tcPr>
                </a:tc>
              </a:tr>
              <a:tr h="202996">
                <a:tc>
                  <a:txBody>
                    <a:bodyPr wrap="square"/>
                    <a:lstStyle/>
                    <a:p>
                      <a:pPr algn="l"/>
                      <a:r>
                        <a:rPr sz="740" b="1">
                          <a:solidFill>
                            <a:srgbClr val="1A1D2E"/>
                          </a:solidFill>
                          <a:latin typeface="Segoe UI"/>
                        </a:rPr>
                        <a:t>Nothing before day start or after day end</a:t>
                      </a:r>
                    </a:p>
                  </a:txBody>
                  <a:tcPr marL="54864" marR="54864" marT="18288" marB="18288" anchor="ctr">
                    <a:solidFill>
                      <a:srgbClr val="FFFFFF"/>
                    </a:solidFill>
                  </a:tcPr>
                </a:tc>
                <a:tc>
                  <a:txBody>
                    <a:bodyPr wrap="square"/>
                    <a:lstStyle/>
                    <a:p>
                      <a:pPr algn="l"/>
                      <a:r>
                        <a:rPr sz="740" b="0">
                          <a:solidFill>
                            <a:srgbClr val="A94545"/>
                          </a:solidFill>
                          <a:latin typeface="Segoe UI"/>
                        </a:rPr>
                        <a:t>error</a:t>
                      </a:r>
                    </a:p>
                  </a:txBody>
                  <a:tcPr marL="54864" marR="54864" marT="18288" marB="18288" anchor="ctr">
                    <a:solidFill>
                      <a:srgbClr val="FFFFFF"/>
                    </a:solidFill>
                  </a:tcPr>
                </a:tc>
              </a:tr>
              <a:tr h="202996">
                <a:tc>
                  <a:txBody>
                    <a:bodyPr wrap="square"/>
                    <a:lstStyle/>
                    <a:p>
                      <a:pPr algn="l"/>
                      <a:r>
                        <a:rPr sz="740" b="1">
                          <a:solidFill>
                            <a:srgbClr val="1A1D2E"/>
                          </a:solidFill>
                          <a:latin typeface="Segoe UI"/>
                        </a:rPr>
                        <a:t>Visit duration within the attraction's min/max</a:t>
                      </a:r>
                    </a:p>
                  </a:txBody>
                  <a:tcPr marL="54864" marR="54864" marT="18288" marB="18288" anchor="ctr">
                    <a:solidFill>
                      <a:srgbClr val="FDFBF7"/>
                    </a:solidFill>
                  </a:tcPr>
                </a:tc>
                <a:tc>
                  <a:txBody>
                    <a:bodyPr wrap="square"/>
                    <a:lstStyle/>
                    <a:p>
                      <a:pPr algn="l"/>
                      <a:r>
                        <a:rPr sz="740" b="0">
                          <a:solidFill>
                            <a:srgbClr val="A94545"/>
                          </a:solidFill>
                          <a:latin typeface="Segoe UI"/>
                        </a:rPr>
                        <a:t>error</a:t>
                      </a:r>
                    </a:p>
                  </a:txBody>
                  <a:tcPr marL="54864" marR="54864" marT="18288" marB="18288" anchor="ctr">
                    <a:solidFill>
                      <a:srgbClr val="FDFBF7"/>
                    </a:solidFill>
                  </a:tcPr>
                </a:tc>
              </a:tr>
              <a:tr h="202996">
                <a:tc>
                  <a:txBody>
                    <a:bodyPr wrap="square"/>
                    <a:lstStyle/>
                    <a:p>
                      <a:pPr algn="l"/>
                      <a:r>
                        <a:rPr sz="740" b="1">
                          <a:solidFill>
                            <a:srgbClr val="1A1D2E"/>
                          </a:solidFill>
                          <a:latin typeface="Segoe UI"/>
                        </a:rPr>
                        <a:t>Travel time between consecutive stops is actually available</a:t>
                      </a:r>
                    </a:p>
                  </a:txBody>
                  <a:tcPr marL="54864" marR="54864" marT="18288" marB="18288" anchor="ctr">
                    <a:solidFill>
                      <a:srgbClr val="FFFFFF"/>
                    </a:solidFill>
                  </a:tcPr>
                </a:tc>
                <a:tc>
                  <a:txBody>
                    <a:bodyPr wrap="square"/>
                    <a:lstStyle/>
                    <a:p>
                      <a:pPr algn="l"/>
                      <a:r>
                        <a:rPr sz="740" b="0">
                          <a:solidFill>
                            <a:srgbClr val="A94545"/>
                          </a:solidFill>
                          <a:latin typeface="Segoe UI"/>
                        </a:rPr>
                        <a:t>error</a:t>
                      </a:r>
                    </a:p>
                  </a:txBody>
                  <a:tcPr marL="54864" marR="54864" marT="18288" marB="18288" anchor="ctr">
                    <a:solidFill>
                      <a:srgbClr val="FFFFFF"/>
                    </a:solidFill>
                  </a:tcPr>
                </a:tc>
              </a:tr>
              <a:tr h="202996">
                <a:tc>
                  <a:txBody>
                    <a:bodyPr wrap="square"/>
                    <a:lstStyle/>
                    <a:p>
                      <a:pPr algn="l"/>
                      <a:r>
                        <a:rPr sz="740" b="1">
                          <a:solidFill>
                            <a:srgbClr val="1A1D2E"/>
                          </a:solidFill>
                          <a:latin typeface="Segoe UI"/>
                        </a:rPr>
                        <a:t>No attraction scheduled twice across the trip</a:t>
                      </a:r>
                    </a:p>
                  </a:txBody>
                  <a:tcPr marL="54864" marR="54864" marT="18288" marB="18288" anchor="ctr">
                    <a:solidFill>
                      <a:srgbClr val="FDFBF7"/>
                    </a:solidFill>
                  </a:tcPr>
                </a:tc>
                <a:tc>
                  <a:txBody>
                    <a:bodyPr wrap="square"/>
                    <a:lstStyle/>
                    <a:p>
                      <a:pPr algn="l"/>
                      <a:r>
                        <a:rPr sz="740" b="0">
                          <a:solidFill>
                            <a:srgbClr val="A94545"/>
                          </a:solidFill>
                          <a:latin typeface="Segoe UI"/>
                        </a:rPr>
                        <a:t>error</a:t>
                      </a:r>
                    </a:p>
                  </a:txBody>
                  <a:tcPr marL="54864" marR="54864" marT="18288" marB="18288" anchor="ctr">
                    <a:solidFill>
                      <a:srgbClr val="FDFBF7"/>
                    </a:solidFill>
                  </a:tcPr>
                </a:tc>
              </a:tr>
              <a:tr h="202996">
                <a:tc>
                  <a:txBody>
                    <a:bodyPr wrap="square"/>
                    <a:lstStyle/>
                    <a:p>
                      <a:pPr algn="l"/>
                      <a:r>
                        <a:rPr sz="740" b="1">
                          <a:solidFill>
                            <a:srgbClr val="1A1D2E"/>
                          </a:solidFill>
                          <a:latin typeface="Segoe UI"/>
                        </a:rPr>
                        <a:t>Every mandatory attraction is scheduled</a:t>
                      </a:r>
                    </a:p>
                  </a:txBody>
                  <a:tcPr marL="54864" marR="54864" marT="18288" marB="18288" anchor="ctr">
                    <a:solidFill>
                      <a:srgbClr val="FFFFFF"/>
                    </a:solidFill>
                  </a:tcPr>
                </a:tc>
                <a:tc>
                  <a:txBody>
                    <a:bodyPr wrap="square"/>
                    <a:lstStyle/>
                    <a:p>
                      <a:pPr algn="l"/>
                      <a:r>
                        <a:rPr sz="740" b="0">
                          <a:solidFill>
                            <a:srgbClr val="A94545"/>
                          </a:solidFill>
                          <a:latin typeface="Segoe UI"/>
                        </a:rPr>
                        <a:t>error</a:t>
                      </a:r>
                    </a:p>
                  </a:txBody>
                  <a:tcPr marL="54864" marR="54864" marT="18288" marB="18288" anchor="ctr">
                    <a:solidFill>
                      <a:srgbClr val="FFFFFF"/>
                    </a:solidFill>
                  </a:tcPr>
                </a:tc>
              </a:tr>
              <a:tr h="202996">
                <a:tc>
                  <a:txBody>
                    <a:bodyPr wrap="square"/>
                    <a:lstStyle/>
                    <a:p>
                      <a:pPr algn="l"/>
                      <a:r>
                        <a:rPr sz="740" b="1">
                          <a:solidFill>
                            <a:srgbClr val="1A1D2E"/>
                          </a:solidFill>
                          <a:latin typeface="Segoe UI"/>
                        </a:rPr>
                        <a:t>Accessibility requirements respected</a:t>
                      </a:r>
                    </a:p>
                  </a:txBody>
                  <a:tcPr marL="54864" marR="54864" marT="18288" marB="18288" anchor="ctr">
                    <a:solidFill>
                      <a:srgbClr val="FDFBF7"/>
                    </a:solidFill>
                  </a:tcPr>
                </a:tc>
                <a:tc>
                  <a:txBody>
                    <a:bodyPr wrap="square"/>
                    <a:lstStyle/>
                    <a:p>
                      <a:pPr algn="l"/>
                      <a:r>
                        <a:rPr sz="740" b="0">
                          <a:solidFill>
                            <a:srgbClr val="A94545"/>
                          </a:solidFill>
                          <a:latin typeface="Segoe UI"/>
                        </a:rPr>
                        <a:t>error</a:t>
                      </a:r>
                    </a:p>
                  </a:txBody>
                  <a:tcPr marL="54864" marR="54864" marT="18288" marB="18288" anchor="ctr">
                    <a:solidFill>
                      <a:srgbClr val="FDFBF7"/>
                    </a:solidFill>
                  </a:tcPr>
                </a:tc>
              </a:tr>
              <a:tr h="202996">
                <a:tc>
                  <a:txBody>
                    <a:bodyPr wrap="square"/>
                    <a:lstStyle/>
                    <a:p>
                      <a:pPr algn="l"/>
                      <a:r>
                        <a:rPr sz="740" b="1">
                          <a:solidFill>
                            <a:srgbClr val="1A1D2E"/>
                          </a:solidFill>
                          <a:latin typeface="Segoe UI"/>
                        </a:rPr>
                        <a:t>Nothing scheduled on a day the attraction is closed</a:t>
                      </a:r>
                    </a:p>
                  </a:txBody>
                  <a:tcPr marL="54864" marR="54864" marT="18288" marB="18288" anchor="ctr">
                    <a:solidFill>
                      <a:srgbClr val="FFFFFF"/>
                    </a:solidFill>
                  </a:tcPr>
                </a:tc>
                <a:tc>
                  <a:txBody>
                    <a:bodyPr wrap="square"/>
                    <a:lstStyle/>
                    <a:p>
                      <a:pPr algn="l"/>
                      <a:r>
                        <a:rPr sz="740" b="0">
                          <a:solidFill>
                            <a:srgbClr val="A94545"/>
                          </a:solidFill>
                          <a:latin typeface="Segoe UI"/>
                        </a:rPr>
                        <a:t>error</a:t>
                      </a:r>
                    </a:p>
                  </a:txBody>
                  <a:tcPr marL="54864" marR="54864" marT="18288" marB="18288" anchor="ctr">
                    <a:solidFill>
                      <a:srgbClr val="FFFFFF"/>
                    </a:solidFill>
                  </a:tcPr>
                </a:tc>
              </a:tr>
              <a:tr h="202996">
                <a:tc>
                  <a:txBody>
                    <a:bodyPr wrap="square"/>
                    <a:lstStyle/>
                    <a:p>
                      <a:pPr algn="l"/>
                      <a:r>
                        <a:rPr sz="740" b="1">
                          <a:solidFill>
                            <a:srgbClr val="1A1D2E"/>
                          </a:solidFill>
                          <a:latin typeface="Segoe UI"/>
                        </a:rPr>
                        <a:t>Daily travel / activities within the pace guideline</a:t>
                      </a:r>
                    </a:p>
                  </a:txBody>
                  <a:tcPr marL="54864" marR="54864" marT="18288" marB="18288" anchor="ctr">
                    <a:solidFill>
                      <a:srgbClr val="FDFBF7"/>
                    </a:solidFill>
                  </a:tcPr>
                </a:tc>
                <a:tc>
                  <a:txBody>
                    <a:bodyPr wrap="square"/>
                    <a:lstStyle/>
                    <a:p>
                      <a:pPr algn="l"/>
                      <a:r>
                        <a:rPr sz="740" b="0">
                          <a:solidFill>
                            <a:srgbClr val="A44C1F"/>
                          </a:solidFill>
                          <a:latin typeface="Segoe UI"/>
                        </a:rPr>
                        <a:t>warning</a:t>
                      </a:r>
                    </a:p>
                  </a:txBody>
                  <a:tcPr marL="54864" marR="54864" marT="18288" marB="18288" anchor="ctr">
                    <a:solidFill>
                      <a:srgbClr val="FDFBF7"/>
                    </a:solidFill>
                  </a:tcPr>
                </a:tc>
              </a:tr>
              <a:tr h="202996">
                <a:tc>
                  <a:txBody>
                    <a:bodyPr wrap="square"/>
                    <a:lstStyle/>
                    <a:p>
                      <a:pPr algn="l"/>
                      <a:r>
                        <a:rPr sz="740" b="1">
                          <a:solidFill>
                            <a:srgbClr val="1A1D2E"/>
                          </a:solidFill>
                          <a:latin typeface="Segoe UI"/>
                        </a:rPr>
                        <a:t>Meal break exists on any day longer than 6 h</a:t>
                      </a:r>
                    </a:p>
                  </a:txBody>
                  <a:tcPr marL="54864" marR="54864" marT="18288" marB="18288" anchor="ctr">
                    <a:solidFill>
                      <a:srgbClr val="FFFFFF"/>
                    </a:solidFill>
                  </a:tcPr>
                </a:tc>
                <a:tc>
                  <a:txBody>
                    <a:bodyPr wrap="square"/>
                    <a:lstStyle/>
                    <a:p>
                      <a:pPr algn="l"/>
                      <a:r>
                        <a:rPr sz="740" b="0">
                          <a:solidFill>
                            <a:srgbClr val="A44C1F"/>
                          </a:solidFill>
                          <a:latin typeface="Segoe UI"/>
                        </a:rPr>
                        <a:t>warning</a:t>
                      </a:r>
                    </a:p>
                  </a:txBody>
                  <a:tcPr marL="54864" marR="54864" marT="18288" marB="18288" anchor="ctr">
                    <a:solidFill>
                      <a:srgbClr val="FFFFFF"/>
                    </a:solidFill>
                  </a:tcPr>
                </a:tc>
              </a:tr>
              <a:tr h="202996">
                <a:tc>
                  <a:txBody>
                    <a:bodyPr wrap="square"/>
                    <a:lstStyle/>
                    <a:p>
                      <a:pPr algn="l"/>
                      <a:r>
                        <a:rPr sz="740" b="1">
                          <a:solidFill>
                            <a:srgbClr val="1A1D2E"/>
                          </a:solidFill>
                          <a:latin typeface="Segoe UI"/>
                        </a:rPr>
                        <a:t>Total estimated cost within budget</a:t>
                      </a:r>
                    </a:p>
                  </a:txBody>
                  <a:tcPr marL="54864" marR="54864" marT="18288" marB="18288" anchor="ctr">
                    <a:solidFill>
                      <a:srgbClr val="FDFBF7"/>
                    </a:solidFill>
                  </a:tcPr>
                </a:tc>
                <a:tc>
                  <a:txBody>
                    <a:bodyPr wrap="square"/>
                    <a:lstStyle/>
                    <a:p>
                      <a:pPr algn="l"/>
                      <a:r>
                        <a:rPr sz="740" b="0">
                          <a:solidFill>
                            <a:srgbClr val="A44C1F"/>
                          </a:solidFill>
                          <a:latin typeface="Segoe UI"/>
                        </a:rPr>
                        <a:t>warning</a:t>
                      </a:r>
                    </a:p>
                  </a:txBody>
                  <a:tcPr marL="54864" marR="54864" marT="18288" marB="18288" anchor="ctr">
                    <a:solidFill>
                      <a:srgbClr val="FDFBF7"/>
                    </a:solidFill>
                  </a:tcPr>
                </a:tc>
              </a:tr>
            </a:tbl>
          </a:graphicData>
        </a:graphic>
      </p:graphicFrame>
      <p:sp>
        <p:nvSpPr>
          <p:cNvPr id="18" name="Rectangle 17"/>
          <p:cNvSpPr/>
          <p:nvPr/>
        </p:nvSpPr>
        <p:spPr>
          <a:xfrm>
            <a:off x="329184" y="4315968"/>
            <a:ext cx="5623560" cy="841248"/>
          </a:xfrm>
          <a:prstGeom prst="rect">
            <a:avLst/>
          </a:prstGeom>
          <a:solidFill>
            <a:srgbClr val="EEF1FA"/>
          </a:solidFill>
          <a:ln w="9525">
            <a:solidFill>
              <a:srgbClr val="D6DC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7200" y="4425696"/>
            <a:ext cx="5367528" cy="694944"/>
          </a:xfrm>
          <a:prstGeom prst="rect">
            <a:avLst/>
          </a:prstGeom>
          <a:noFill/>
        </p:spPr>
        <p:txBody>
          <a:bodyPr wrap="square" lIns="0" rIns="0" tIns="0" bIns="0" anchor="t">
            <a:spAutoFit/>
          </a:bodyPr>
          <a:lstStyle/>
          <a:p>
            <a:pPr algn="l">
              <a:lnSpc>
                <a:spcPct val="118000"/>
              </a:lnSpc>
              <a:spcAft>
                <a:spcPts val="0"/>
              </a:spcAft>
            </a:pPr>
            <a:r>
              <a:rPr sz="819" b="1">
                <a:solidFill>
                  <a:srgbClr val="23306B"/>
                </a:solidFill>
                <a:latin typeface="Segoe UI"/>
              </a:rPr>
              <a:t>Independent by design.  </a:t>
            </a:r>
            <a:r>
              <a:rPr sz="819" b="0">
                <a:solidFill>
                  <a:srgbClr val="5B6178"/>
                </a:solidFill>
                <a:latin typeface="Segoe UI"/>
              </a:rPr>
              <a:t>The validator re-reads the persisted rows and re-derives every constraint from scratch. A modelling bug therefore surfaces as a failed validation, not as an impossible itinerary shown to a user.</a:t>
            </a:r>
          </a:p>
          <a:p>
            <a:pPr algn="l">
              <a:lnSpc>
                <a:spcPct val="118000"/>
              </a:lnSpc>
              <a:spcAft>
                <a:spcPts val="0"/>
              </a:spcAft>
            </a:pPr>
            <a:r>
              <a:rPr sz="819" b="1">
                <a:solidFill>
                  <a:srgbClr val="A44C1F"/>
                </a:solidFill>
                <a:latin typeface="Segoe UI"/>
              </a:rPr>
              <a:t>Budget is a warning, not an error — </a:t>
            </a:r>
            <a:r>
              <a:rPr sz="819" b="0">
                <a:solidFill>
                  <a:srgbClr val="5B6178"/>
                </a:solidFill>
                <a:latin typeface="Segoe UI"/>
              </a:rPr>
              <a:t>overspending is information the traveller should act on, not a reason to withhold the plan.</a:t>
            </a:r>
          </a:p>
        </p:txBody>
      </p:sp>
      <p:sp>
        <p:nvSpPr>
          <p:cNvPr id="20" name="Rectangle 19"/>
          <p:cNvSpPr/>
          <p:nvPr/>
        </p:nvSpPr>
        <p:spPr>
          <a:xfrm>
            <a:off x="6144768" y="1298448"/>
            <a:ext cx="5717743" cy="274320"/>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236207" y="1348739"/>
            <a:ext cx="5534863"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ELEVEN REPLANNING ACTIONS — EXPRESSED AS INPUTS, NEVER AS EDITS</a:t>
            </a:r>
          </a:p>
        </p:txBody>
      </p:sp>
      <p:sp>
        <p:nvSpPr>
          <p:cNvPr id="22" name="Rectangle 21"/>
          <p:cNvSpPr/>
          <p:nvPr/>
        </p:nvSpPr>
        <p:spPr>
          <a:xfrm>
            <a:off x="6144768" y="1591056"/>
            <a:ext cx="5717743" cy="1207008"/>
          </a:xfrm>
          <a:prstGeom prst="rect">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72784" y="1700784"/>
            <a:ext cx="5461711" cy="1042415"/>
          </a:xfrm>
          <a:prstGeom prst="rect">
            <a:avLst/>
          </a:prstGeom>
          <a:noFill/>
        </p:spPr>
        <p:txBody>
          <a:bodyPr wrap="square" lIns="0" rIns="0" tIns="0" bIns="0" anchor="t">
            <a:spAutoFit/>
          </a:bodyPr>
          <a:lstStyle/>
          <a:p>
            <a:pPr algn="l">
              <a:lnSpc>
                <a:spcPct val="120000"/>
              </a:lnSpc>
              <a:spcAft>
                <a:spcPts val="0"/>
              </a:spcAft>
            </a:pPr>
            <a:r>
              <a:rPr sz="760" b="0">
                <a:solidFill>
                  <a:srgbClr val="23306B"/>
                </a:solidFill>
                <a:latin typeface="Consolas"/>
              </a:rPr>
              <a:t>remove_activity · replace_activity · regenerate_day · make_day_relaxed · reduce_cost · reduce_travel · add_theme · shift_start_time · weather_replan · member_opted_out · attraction_unavailable</a:t>
            </a:r>
          </a:p>
          <a:p>
            <a:pPr algn="l">
              <a:lnSpc>
                <a:spcPct val="120000"/>
              </a:lnSpc>
              <a:spcAft>
                <a:spcPts val="0"/>
              </a:spcAft>
            </a:pPr>
            <a:r>
              <a:rPr sz="819" b="0">
                <a:solidFill>
                  <a:srgbClr val="5B6178"/>
                </a:solidFill>
                <a:latin typeface="Segoe UI"/>
              </a:rPr>
              <a:t/>
            </a:r>
          </a:p>
          <a:p>
            <a:pPr algn="l">
              <a:lnSpc>
                <a:spcPct val="120000"/>
              </a:lnSpc>
              <a:spcAft>
                <a:spcPts val="0"/>
              </a:spcAft>
            </a:pPr>
            <a:r>
              <a:rPr sz="819" b="1">
                <a:solidFill>
                  <a:srgbClr val="23306B"/>
                </a:solidFill>
                <a:latin typeface="Segoe UI"/>
              </a:rPr>
              <a:t>Nothing edits a schedule in place.  </a:t>
            </a:r>
            <a:r>
              <a:rPr sz="819" b="0">
                <a:solidFill>
                  <a:srgbClr val="5B6178"/>
                </a:solidFill>
                <a:latin typeface="Segoe UI"/>
              </a:rPr>
              <a:t>Each action changes planner inputs, then the whole pipeline re-runs and re-validates. A modification therefore cannot produce a state the optimiser would never have generated.</a:t>
            </a:r>
          </a:p>
        </p:txBody>
      </p:sp>
      <p:sp>
        <p:nvSpPr>
          <p:cNvPr id="24" name="Rectangle 23"/>
          <p:cNvSpPr/>
          <p:nvPr/>
        </p:nvSpPr>
        <p:spPr>
          <a:xfrm>
            <a:off x="6144768" y="2944368"/>
            <a:ext cx="5717743" cy="274320"/>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236207" y="2994660"/>
            <a:ext cx="5534863"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GROUP CONTROL — A CHANGE IS A PROPOSAL, NOT A FAIT ACCOMPLI</a:t>
            </a:r>
          </a:p>
        </p:txBody>
      </p:sp>
      <p:sp>
        <p:nvSpPr>
          <p:cNvPr id="26" name="Rectangle 25"/>
          <p:cNvSpPr/>
          <p:nvPr/>
        </p:nvSpPr>
        <p:spPr>
          <a:xfrm>
            <a:off x="6144768" y="3236976"/>
            <a:ext cx="5717743" cy="1060704"/>
          </a:xfrm>
          <a:prstGeom prst="rect">
            <a:avLst/>
          </a:prstGeom>
          <a:solidFill>
            <a:srgbClr val="E9F7F4"/>
          </a:solidFill>
          <a:ln w="9525">
            <a:solidFill>
              <a:srgbClr val="C6EB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272784" y="3346704"/>
            <a:ext cx="5461711" cy="914400"/>
          </a:xfrm>
          <a:prstGeom prst="rect">
            <a:avLst/>
          </a:prstGeom>
          <a:noFill/>
        </p:spPr>
        <p:txBody>
          <a:bodyPr wrap="square" lIns="0" rIns="0" tIns="0" bIns="0" anchor="t">
            <a:spAutoFit/>
          </a:bodyPr>
          <a:lstStyle/>
          <a:p>
            <a:pPr algn="l">
              <a:lnSpc>
                <a:spcPct val="120000"/>
              </a:lnSpc>
              <a:spcAft>
                <a:spcPts val="0"/>
              </a:spcAft>
            </a:pPr>
            <a:r>
              <a:rPr sz="819" b="0">
                <a:solidFill>
                  <a:srgbClr val="5B6178"/>
                </a:solidFill>
                <a:latin typeface="Segoe UI"/>
              </a:rPr>
              <a:t>On a trip with more than one active member, a modification becomes a ChangeProposal with an approval threshold. Members vote; reaching the threshold auto-applies it. The owner can override, and the override is written to the append-only audit log.</a:t>
            </a:r>
          </a:p>
          <a:p>
            <a:pPr algn="l">
              <a:lnSpc>
                <a:spcPct val="120000"/>
              </a:lnSpc>
              <a:spcAft>
                <a:spcPts val="0"/>
              </a:spcAft>
            </a:pPr>
            <a:r>
              <a:rPr sz="819" b="0">
                <a:solidFill>
                  <a:srgbClr val="5B6178"/>
                </a:solidFill>
                <a:latin typeface="Segoe UI"/>
              </a:rPr>
              <a:t/>
            </a:r>
          </a:p>
          <a:p>
            <a:pPr algn="l">
              <a:lnSpc>
                <a:spcPct val="120000"/>
              </a:lnSpc>
              <a:spcAft>
                <a:spcPts val="0"/>
              </a:spcAft>
            </a:pPr>
            <a:r>
              <a:rPr sz="819" b="1">
                <a:solidFill>
                  <a:srgbClr val="0F7B6C"/>
                </a:solidFill>
                <a:latin typeface="Segoe UI"/>
              </a:rPr>
              <a:t>The API returns requires_group_approval: true and a proposal_id rather than silently applying one member's preference.</a:t>
            </a:r>
          </a:p>
        </p:txBody>
      </p:sp>
      <p:sp>
        <p:nvSpPr>
          <p:cNvPr id="28" name="Rectangle 27"/>
          <p:cNvSpPr/>
          <p:nvPr/>
        </p:nvSpPr>
        <p:spPr>
          <a:xfrm>
            <a:off x="6144768" y="4443984"/>
            <a:ext cx="5717743" cy="274320"/>
          </a:xfrm>
          <a:prstGeom prst="rect">
            <a:avLst/>
          </a:prstGeom>
          <a:solidFill>
            <a:srgbClr val="4256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236207" y="4494276"/>
            <a:ext cx="5534863"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LIVE SOLVER TRACE — SURFACED IN THE UI, NOT JUST LOGGED</a:t>
            </a:r>
          </a:p>
        </p:txBody>
      </p:sp>
      <p:graphicFrame>
        <p:nvGraphicFramePr>
          <p:cNvPr id="30" name="Table 29"/>
          <p:cNvGraphicFramePr>
            <a:graphicFrameLocks noGrp="1"/>
          </p:cNvGraphicFramePr>
          <p:nvPr/>
        </p:nvGraphicFramePr>
        <p:xfrm>
          <a:off x="6144768" y="4736592"/>
          <a:ext cx="5717741" cy="932688"/>
        </p:xfrm>
        <a:graphic>
          <a:graphicData uri="http://schemas.openxmlformats.org/drawingml/2006/table">
            <a:tbl>
              <a:tblPr>
                <a:tableStyleId>{5C22544A-7EE6-4342-B048-85BDC9FD1C3A}</a:tableStyleId>
              </a:tblPr>
              <a:tblGrid>
                <a:gridCol w="688884"/>
                <a:gridCol w="1446657"/>
                <a:gridCol w="1171104"/>
                <a:gridCol w="1377769"/>
                <a:gridCol w="1033327"/>
              </a:tblGrid>
              <a:tr h="246888">
                <a:tc>
                  <a:txBody>
                    <a:bodyPr wrap="square"/>
                    <a:lstStyle/>
                    <a:p>
                      <a:pPr algn="l"/>
                      <a:r>
                        <a:rPr sz="740" b="1">
                          <a:solidFill>
                            <a:srgbClr val="FFFFFF"/>
                          </a:solidFill>
                          <a:latin typeface="Segoe UI"/>
                        </a:rPr>
                        <a:t>DAY</a:t>
                      </a:r>
                    </a:p>
                  </a:txBody>
                  <a:tcPr marL="54864" marR="54864" marT="18288" marB="18288" anchor="ctr">
                    <a:solidFill>
                      <a:srgbClr val="42569F"/>
                    </a:solidFill>
                  </a:tcPr>
                </a:tc>
                <a:tc>
                  <a:txBody>
                    <a:bodyPr wrap="square"/>
                    <a:lstStyle/>
                    <a:p>
                      <a:pPr algn="l"/>
                      <a:r>
                        <a:rPr sz="740" b="1">
                          <a:solidFill>
                            <a:srgbClr val="FFFFFF"/>
                          </a:solidFill>
                          <a:latin typeface="Segoe UI"/>
                        </a:rPr>
                        <a:t>STATUS</a:t>
                      </a:r>
                    </a:p>
                  </a:txBody>
                  <a:tcPr marL="54864" marR="54864" marT="18288" marB="18288" anchor="ctr">
                    <a:solidFill>
                      <a:srgbClr val="42569F"/>
                    </a:solidFill>
                  </a:tcPr>
                </a:tc>
                <a:tc>
                  <a:txBody>
                    <a:bodyPr wrap="square"/>
                    <a:lstStyle/>
                    <a:p>
                      <a:pPr algn="l"/>
                      <a:r>
                        <a:rPr sz="740" b="1">
                          <a:solidFill>
                            <a:srgbClr val="FFFFFF"/>
                          </a:solidFill>
                          <a:latin typeface="Segoe UI"/>
                        </a:rPr>
                        <a:t>CHOSEN</a:t>
                      </a:r>
                    </a:p>
                  </a:txBody>
                  <a:tcPr marL="54864" marR="54864" marT="18288" marB="18288" anchor="ctr">
                    <a:solidFill>
                      <a:srgbClr val="42569F"/>
                    </a:solidFill>
                  </a:tcPr>
                </a:tc>
                <a:tc>
                  <a:txBody>
                    <a:bodyPr wrap="square"/>
                    <a:lstStyle/>
                    <a:p>
                      <a:pPr algn="l"/>
                      <a:r>
                        <a:rPr sz="740" b="1">
                          <a:solidFill>
                            <a:srgbClr val="FFFFFF"/>
                          </a:solidFill>
                          <a:latin typeface="Segoe UI"/>
                        </a:rPr>
                        <a:t>OBJECTIVE</a:t>
                      </a:r>
                    </a:p>
                  </a:txBody>
                  <a:tcPr marL="54864" marR="54864" marT="18288" marB="18288" anchor="ctr">
                    <a:solidFill>
                      <a:srgbClr val="42569F"/>
                    </a:solidFill>
                  </a:tcPr>
                </a:tc>
                <a:tc>
                  <a:txBody>
                    <a:bodyPr wrap="square"/>
                    <a:lstStyle/>
                    <a:p>
                      <a:pPr algn="l"/>
                      <a:r>
                        <a:rPr sz="740" b="1">
                          <a:solidFill>
                            <a:srgbClr val="FFFFFF"/>
                          </a:solidFill>
                          <a:latin typeface="Segoe UI"/>
                        </a:rPr>
                        <a:t>SOLVE</a:t>
                      </a:r>
                    </a:p>
                  </a:txBody>
                  <a:tcPr marL="54864" marR="54864" marT="18288" marB="18288" anchor="ctr">
                    <a:solidFill>
                      <a:srgbClr val="42569F"/>
                    </a:solidFill>
                  </a:tcPr>
                </a:tc>
              </a:tr>
              <a:tr h="228600">
                <a:tc>
                  <a:txBody>
                    <a:bodyPr wrap="square"/>
                    <a:lstStyle/>
                    <a:p>
                      <a:pPr algn="l"/>
                      <a:r>
                        <a:rPr sz="760" b="1">
                          <a:solidFill>
                            <a:srgbClr val="1A1D2E"/>
                          </a:solidFill>
                          <a:latin typeface="Segoe UI"/>
                        </a:rPr>
                        <a:t>1</a:t>
                      </a:r>
                    </a:p>
                  </a:txBody>
                  <a:tcPr marL="54864" marR="54864" marT="18288" marB="18288" anchor="ctr">
                    <a:solidFill>
                      <a:srgbClr val="FFFFFF"/>
                    </a:solidFill>
                  </a:tcPr>
                </a:tc>
                <a:tc>
                  <a:txBody>
                    <a:bodyPr wrap="square"/>
                    <a:lstStyle/>
                    <a:p>
                      <a:pPr algn="l"/>
                      <a:r>
                        <a:rPr sz="760" b="0">
                          <a:solidFill>
                            <a:srgbClr val="0F7B6C"/>
                          </a:solidFill>
                          <a:latin typeface="Consolas"/>
                        </a:rPr>
                        <a:t>OPTIMAL</a:t>
                      </a:r>
                    </a:p>
                  </a:txBody>
                  <a:tcPr marL="54864" marR="54864" marT="18288" marB="18288" anchor="ctr">
                    <a:solidFill>
                      <a:srgbClr val="FFFFFF"/>
                    </a:solidFill>
                  </a:tcPr>
                </a:tc>
                <a:tc>
                  <a:txBody>
                    <a:bodyPr wrap="square"/>
                    <a:lstStyle/>
                    <a:p>
                      <a:pPr algn="l"/>
                      <a:r>
                        <a:rPr sz="760" b="0">
                          <a:solidFill>
                            <a:srgbClr val="1A1D2E"/>
                          </a:solidFill>
                          <a:latin typeface="Consolas"/>
                        </a:rPr>
                        <a:t>4 / 9</a:t>
                      </a:r>
                    </a:p>
                  </a:txBody>
                  <a:tcPr marL="54864" marR="54864" marT="18288" marB="18288" anchor="ctr">
                    <a:solidFill>
                      <a:srgbClr val="FFFFFF"/>
                    </a:solidFill>
                  </a:tcPr>
                </a:tc>
                <a:tc>
                  <a:txBody>
                    <a:bodyPr wrap="square"/>
                    <a:lstStyle/>
                    <a:p>
                      <a:pPr algn="l"/>
                      <a:r>
                        <a:rPr sz="760" b="0">
                          <a:solidFill>
                            <a:srgbClr val="1A1D2E"/>
                          </a:solidFill>
                          <a:latin typeface="Consolas"/>
                        </a:rPr>
                        <a:t>6,393</a:t>
                      </a:r>
                    </a:p>
                  </a:txBody>
                  <a:tcPr marL="54864" marR="54864" marT="18288" marB="18288" anchor="ctr">
                    <a:solidFill>
                      <a:srgbClr val="FFFFFF"/>
                    </a:solidFill>
                  </a:tcPr>
                </a:tc>
                <a:tc>
                  <a:txBody>
                    <a:bodyPr wrap="square"/>
                    <a:lstStyle/>
                    <a:p>
                      <a:pPr algn="l"/>
                      <a:r>
                        <a:rPr sz="760" b="0">
                          <a:solidFill>
                            <a:srgbClr val="1A1D2E"/>
                          </a:solidFill>
                          <a:latin typeface="Consolas"/>
                        </a:rPr>
                        <a:t>59.3 ms</a:t>
                      </a:r>
                    </a:p>
                  </a:txBody>
                  <a:tcPr marL="54864" marR="54864" marT="18288" marB="18288" anchor="ctr">
                    <a:solidFill>
                      <a:srgbClr val="FFFFFF"/>
                    </a:solidFill>
                  </a:tcPr>
                </a:tc>
              </a:tr>
              <a:tr h="228600">
                <a:tc>
                  <a:txBody>
                    <a:bodyPr wrap="square"/>
                    <a:lstStyle/>
                    <a:p>
                      <a:pPr algn="l"/>
                      <a:r>
                        <a:rPr sz="760" b="1">
                          <a:solidFill>
                            <a:srgbClr val="1A1D2E"/>
                          </a:solidFill>
                          <a:latin typeface="Segoe UI"/>
                        </a:rPr>
                        <a:t>2</a:t>
                      </a:r>
                    </a:p>
                  </a:txBody>
                  <a:tcPr marL="54864" marR="54864" marT="18288" marB="18288" anchor="ctr">
                    <a:solidFill>
                      <a:srgbClr val="FDFBF7"/>
                    </a:solidFill>
                  </a:tcPr>
                </a:tc>
                <a:tc>
                  <a:txBody>
                    <a:bodyPr wrap="square"/>
                    <a:lstStyle/>
                    <a:p>
                      <a:pPr algn="l"/>
                      <a:r>
                        <a:rPr sz="760" b="0">
                          <a:solidFill>
                            <a:srgbClr val="0F7B6C"/>
                          </a:solidFill>
                          <a:latin typeface="Consolas"/>
                        </a:rPr>
                        <a:t>OPTIMAL</a:t>
                      </a:r>
                    </a:p>
                  </a:txBody>
                  <a:tcPr marL="54864" marR="54864" marT="18288" marB="18288" anchor="ctr">
                    <a:solidFill>
                      <a:srgbClr val="FDFBF7"/>
                    </a:solidFill>
                  </a:tcPr>
                </a:tc>
                <a:tc>
                  <a:txBody>
                    <a:bodyPr wrap="square"/>
                    <a:lstStyle/>
                    <a:p>
                      <a:pPr algn="l"/>
                      <a:r>
                        <a:rPr sz="760" b="0">
                          <a:solidFill>
                            <a:srgbClr val="1A1D2E"/>
                          </a:solidFill>
                          <a:latin typeface="Consolas"/>
                        </a:rPr>
                        <a:t>4 / 6</a:t>
                      </a:r>
                    </a:p>
                  </a:txBody>
                  <a:tcPr marL="54864" marR="54864" marT="18288" marB="18288" anchor="ctr">
                    <a:solidFill>
                      <a:srgbClr val="FDFBF7"/>
                    </a:solidFill>
                  </a:tcPr>
                </a:tc>
                <a:tc>
                  <a:txBody>
                    <a:bodyPr wrap="square"/>
                    <a:lstStyle/>
                    <a:p>
                      <a:pPr algn="l"/>
                      <a:r>
                        <a:rPr sz="760" b="0">
                          <a:solidFill>
                            <a:srgbClr val="1A1D2E"/>
                          </a:solidFill>
                          <a:latin typeface="Consolas"/>
                        </a:rPr>
                        <a:t>2,468</a:t>
                      </a:r>
                    </a:p>
                  </a:txBody>
                  <a:tcPr marL="54864" marR="54864" marT="18288" marB="18288" anchor="ctr">
                    <a:solidFill>
                      <a:srgbClr val="FDFBF7"/>
                    </a:solidFill>
                  </a:tcPr>
                </a:tc>
                <a:tc>
                  <a:txBody>
                    <a:bodyPr wrap="square"/>
                    <a:lstStyle/>
                    <a:p>
                      <a:pPr algn="l"/>
                      <a:r>
                        <a:rPr sz="760" b="0">
                          <a:solidFill>
                            <a:srgbClr val="1A1D2E"/>
                          </a:solidFill>
                          <a:latin typeface="Consolas"/>
                        </a:rPr>
                        <a:t>48.2 ms</a:t>
                      </a:r>
                    </a:p>
                  </a:txBody>
                  <a:tcPr marL="54864" marR="54864" marT="18288" marB="18288" anchor="ctr">
                    <a:solidFill>
                      <a:srgbClr val="FDFBF7"/>
                    </a:solidFill>
                  </a:tcPr>
                </a:tc>
              </a:tr>
              <a:tr h="228600">
                <a:tc>
                  <a:txBody>
                    <a:bodyPr wrap="square"/>
                    <a:lstStyle/>
                    <a:p>
                      <a:pPr algn="l"/>
                      <a:r>
                        <a:rPr sz="760" b="1">
                          <a:solidFill>
                            <a:srgbClr val="1A1D2E"/>
                          </a:solidFill>
                          <a:latin typeface="Segoe UI"/>
                        </a:rPr>
                        <a:t>3</a:t>
                      </a:r>
                    </a:p>
                  </a:txBody>
                  <a:tcPr marL="54864" marR="54864" marT="18288" marB="18288" anchor="ctr">
                    <a:solidFill>
                      <a:srgbClr val="FFFFFF"/>
                    </a:solidFill>
                  </a:tcPr>
                </a:tc>
                <a:tc>
                  <a:txBody>
                    <a:bodyPr wrap="square"/>
                    <a:lstStyle/>
                    <a:p>
                      <a:pPr algn="l"/>
                      <a:r>
                        <a:rPr sz="760" b="0">
                          <a:solidFill>
                            <a:srgbClr val="0F7B6C"/>
                          </a:solidFill>
                          <a:latin typeface="Consolas"/>
                        </a:rPr>
                        <a:t>OPTIMAL</a:t>
                      </a:r>
                    </a:p>
                  </a:txBody>
                  <a:tcPr marL="54864" marR="54864" marT="18288" marB="18288" anchor="ctr">
                    <a:solidFill>
                      <a:srgbClr val="FFFFFF"/>
                    </a:solidFill>
                  </a:tcPr>
                </a:tc>
                <a:tc>
                  <a:txBody>
                    <a:bodyPr wrap="square"/>
                    <a:lstStyle/>
                    <a:p>
                      <a:pPr algn="l"/>
                      <a:r>
                        <a:rPr sz="760" b="0">
                          <a:solidFill>
                            <a:srgbClr val="1A1D2E"/>
                          </a:solidFill>
                          <a:latin typeface="Consolas"/>
                        </a:rPr>
                        <a:t>1 / 1</a:t>
                      </a:r>
                    </a:p>
                  </a:txBody>
                  <a:tcPr marL="54864" marR="54864" marT="18288" marB="18288" anchor="ctr">
                    <a:solidFill>
                      <a:srgbClr val="FFFFFF"/>
                    </a:solidFill>
                  </a:tcPr>
                </a:tc>
                <a:tc>
                  <a:txBody>
                    <a:bodyPr wrap="square"/>
                    <a:lstStyle/>
                    <a:p>
                      <a:pPr algn="l"/>
                      <a:r>
                        <a:rPr sz="760" b="0">
                          <a:solidFill>
                            <a:srgbClr val="1A1D2E"/>
                          </a:solidFill>
                          <a:latin typeface="Consolas"/>
                        </a:rPr>
                        <a:t>712</a:t>
                      </a:r>
                    </a:p>
                  </a:txBody>
                  <a:tcPr marL="54864" marR="54864" marT="18288" marB="18288" anchor="ctr">
                    <a:solidFill>
                      <a:srgbClr val="FFFFFF"/>
                    </a:solidFill>
                  </a:tcPr>
                </a:tc>
                <a:tc>
                  <a:txBody>
                    <a:bodyPr wrap="square"/>
                    <a:lstStyle/>
                    <a:p>
                      <a:pPr algn="l"/>
                      <a:r>
                        <a:rPr sz="760" b="0">
                          <a:solidFill>
                            <a:srgbClr val="1A1D2E"/>
                          </a:solidFill>
                          <a:latin typeface="Consolas"/>
                        </a:rPr>
                        <a:t>3.4 ms</a:t>
                      </a:r>
                    </a:p>
                  </a:txBody>
                  <a:tcPr marL="54864" marR="54864" marT="18288" marB="18288" anchor="ctr">
                    <a:solidFill>
                      <a:srgbClr val="FFFFFF"/>
                    </a:solidFill>
                  </a:tcPr>
                </a:tc>
              </a:tr>
            </a:tbl>
          </a:graphicData>
        </a:graphic>
      </p:graphicFrame>
      <p:sp>
        <p:nvSpPr>
          <p:cNvPr id="31" name="Rectangle 30"/>
          <p:cNvSpPr/>
          <p:nvPr/>
        </p:nvSpPr>
        <p:spPr>
          <a:xfrm>
            <a:off x="329184" y="5943600"/>
            <a:ext cx="11533327" cy="420624"/>
          </a:xfrm>
          <a:prstGeom prst="rect">
            <a:avLst/>
          </a:prstGeom>
          <a:solidFill>
            <a:srgbClr val="141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7200" y="6025896"/>
            <a:ext cx="11277295" cy="274320"/>
          </a:xfrm>
          <a:prstGeom prst="rect">
            <a:avLst/>
          </a:prstGeom>
          <a:noFill/>
        </p:spPr>
        <p:txBody>
          <a:bodyPr wrap="square" lIns="0" rIns="0" tIns="0" bIns="0" anchor="t">
            <a:spAutoFit/>
          </a:bodyPr>
          <a:lstStyle/>
          <a:p>
            <a:pPr algn="l">
              <a:lnSpc>
                <a:spcPct val="115000"/>
              </a:lnSpc>
              <a:spcAft>
                <a:spcPts val="0"/>
              </a:spcAft>
            </a:pPr>
            <a:r>
              <a:rPr sz="860" b="1">
                <a:solidFill>
                  <a:srgbClr val="E07A3F"/>
                </a:solidFill>
                <a:latin typeface="Segoe UI"/>
              </a:rPr>
              <a:t>WHAT THIS DEMONSTRATES:  </a:t>
            </a:r>
            <a:r>
              <a:rPr sz="860" b="0">
                <a:solidFill>
                  <a:srgbClr val="FFFFFF"/>
                </a:solidFill>
                <a:latin typeface="Segoe UI"/>
              </a:rPr>
              <a:t>the product shows its own working. Per-day CP-SAT status, wall-clock, objective value, candidates considered and any relaxation are rendered on the itinerary page, alongside an input fingerprint proving the same inputs reproduce the same plan.</a:t>
            </a:r>
          </a:p>
        </p:txBody>
      </p:sp>
      <p:sp>
        <p:nvSpPr>
          <p:cNvPr id="33" name="Rectangle 32"/>
          <p:cNvSpPr/>
          <p:nvPr/>
        </p:nvSpPr>
        <p:spPr>
          <a:xfrm>
            <a:off x="329184" y="6382512"/>
            <a:ext cx="11533327" cy="10972"/>
          </a:xfrm>
          <a:prstGeom prst="rect">
            <a:avLst/>
          </a:prstGeom>
          <a:solidFill>
            <a:srgbClr val="E6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329184" y="6473952"/>
            <a:ext cx="10893247" cy="256032"/>
          </a:xfrm>
          <a:prstGeom prst="rect">
            <a:avLst/>
          </a:prstGeom>
          <a:noFill/>
        </p:spPr>
        <p:txBody>
          <a:bodyPr wrap="square" lIns="0" rIns="0" tIns="0" bIns="0" anchor="t">
            <a:spAutoFit/>
          </a:bodyPr>
          <a:lstStyle/>
          <a:p>
            <a:pPr algn="l">
              <a:lnSpc>
                <a:spcPct val="100000"/>
              </a:lnSpc>
              <a:spcAft>
                <a:spcPts val="0"/>
              </a:spcAft>
            </a:pPr>
            <a:r>
              <a:rPr sz="680" b="0">
                <a:solidFill>
                  <a:srgbClr val="8A90A6"/>
                </a:solidFill>
                <a:latin typeface="Segoe UI"/>
              </a:rPr>
              <a:t>Sources: services/planner/validator.py; services/trips.py; live itinerary for the demo trip (Bengaluru, 3 days).</a:t>
            </a:r>
          </a:p>
        </p:txBody>
      </p:sp>
      <p:sp>
        <p:nvSpPr>
          <p:cNvPr id="35" name="TextBox 34"/>
          <p:cNvSpPr txBox="1"/>
          <p:nvPr/>
        </p:nvSpPr>
        <p:spPr>
          <a:xfrm>
            <a:off x="11313871" y="6455664"/>
            <a:ext cx="548640" cy="274320"/>
          </a:xfrm>
          <a:prstGeom prst="rect">
            <a:avLst/>
          </a:prstGeom>
          <a:noFill/>
        </p:spPr>
        <p:txBody>
          <a:bodyPr wrap="square" lIns="0" rIns="0" tIns="0" bIns="0" anchor="t">
            <a:spAutoFit/>
          </a:bodyPr>
          <a:lstStyle/>
          <a:p>
            <a:pPr algn="r">
              <a:lnSpc>
                <a:spcPct val="100000"/>
              </a:lnSpc>
              <a:spcAft>
                <a:spcPts val="0"/>
              </a:spcAft>
            </a:pPr>
            <a:r>
              <a:rPr sz="1100" b="1">
                <a:solidFill>
                  <a:srgbClr val="42569F"/>
                </a:solidFill>
                <a:latin typeface="Segoe U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29184"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29184"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PROBLEM &amp;</a:t>
            </a:r>
          </a:p>
          <a:p>
            <a:pPr algn="ctr">
              <a:lnSpc>
                <a:spcPct val="95000"/>
              </a:lnSpc>
              <a:spcAft>
                <a:spcPts val="0"/>
              </a:spcAft>
            </a:pPr>
            <a:r>
              <a:rPr sz="750" b="1">
                <a:solidFill>
                  <a:srgbClr val="A44C1F"/>
                </a:solidFill>
                <a:latin typeface="Segoe UI"/>
              </a:rPr>
              <a:t>ARCHITECTURE</a:t>
            </a:r>
          </a:p>
        </p:txBody>
      </p:sp>
      <p:sp>
        <p:nvSpPr>
          <p:cNvPr id="5" name="Rectangle 4"/>
          <p:cNvSpPr/>
          <p:nvPr/>
        </p:nvSpPr>
        <p:spPr>
          <a:xfrm>
            <a:off x="2646822"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646822"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DATA</a:t>
            </a:r>
          </a:p>
          <a:p>
            <a:pPr algn="ctr">
              <a:lnSpc>
                <a:spcPct val="95000"/>
              </a:lnSpc>
              <a:spcAft>
                <a:spcPts val="0"/>
              </a:spcAft>
            </a:pPr>
            <a:r>
              <a:rPr sz="750" b="1">
                <a:solidFill>
                  <a:srgbClr val="A44C1F"/>
                </a:solidFill>
                <a:latin typeface="Segoe UI"/>
              </a:rPr>
              <a:t>FOUNDATION</a:t>
            </a:r>
          </a:p>
        </p:txBody>
      </p:sp>
      <p:sp>
        <p:nvSpPr>
          <p:cNvPr id="7" name="Rectangle 6"/>
          <p:cNvSpPr/>
          <p:nvPr/>
        </p:nvSpPr>
        <p:spPr>
          <a:xfrm>
            <a:off x="4964460"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964460"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RANKING &amp;</a:t>
            </a:r>
          </a:p>
          <a:p>
            <a:pPr algn="ctr">
              <a:lnSpc>
                <a:spcPct val="95000"/>
              </a:lnSpc>
              <a:spcAft>
                <a:spcPts val="0"/>
              </a:spcAft>
            </a:pPr>
            <a:r>
              <a:rPr sz="750" b="1">
                <a:solidFill>
                  <a:srgbClr val="A44C1F"/>
                </a:solidFill>
                <a:latin typeface="Segoe UI"/>
              </a:rPr>
              <a:t>FAIRNESS</a:t>
            </a:r>
          </a:p>
        </p:txBody>
      </p:sp>
      <p:sp>
        <p:nvSpPr>
          <p:cNvPr id="9" name="Rectangle 8"/>
          <p:cNvSpPr/>
          <p:nvPr/>
        </p:nvSpPr>
        <p:spPr>
          <a:xfrm>
            <a:off x="7282098"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82098"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OPTIMISATION</a:t>
            </a:r>
          </a:p>
          <a:p>
            <a:pPr algn="ctr">
              <a:lnSpc>
                <a:spcPct val="95000"/>
              </a:lnSpc>
              <a:spcAft>
                <a:spcPts val="0"/>
              </a:spcAft>
            </a:pPr>
            <a:r>
              <a:rPr sz="750" b="1">
                <a:solidFill>
                  <a:srgbClr val="A44C1F"/>
                </a:solidFill>
                <a:latin typeface="Segoe UI"/>
              </a:rPr>
              <a:t>&amp; VALIDATION</a:t>
            </a:r>
          </a:p>
        </p:txBody>
      </p:sp>
      <p:sp>
        <p:nvSpPr>
          <p:cNvPr id="11" name="Rectangle 10"/>
          <p:cNvSpPr/>
          <p:nvPr/>
        </p:nvSpPr>
        <p:spPr>
          <a:xfrm>
            <a:off x="9599736" y="237744"/>
            <a:ext cx="2262774" cy="420624"/>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99736"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FFFFFF"/>
                </a:solidFill>
                <a:latin typeface="Segoe UI"/>
              </a:rPr>
              <a:t>RETRIEVAL,</a:t>
            </a:r>
          </a:p>
          <a:p>
            <a:pPr algn="ctr">
              <a:lnSpc>
                <a:spcPct val="95000"/>
              </a:lnSpc>
              <a:spcAft>
                <a:spcPts val="0"/>
              </a:spcAft>
            </a:pPr>
            <a:r>
              <a:rPr sz="750" b="1">
                <a:solidFill>
                  <a:srgbClr val="FFFFFF"/>
                </a:solidFill>
                <a:latin typeface="Segoe UI"/>
              </a:rPr>
              <a:t>TRUST &amp; RESULTS</a:t>
            </a:r>
          </a:p>
        </p:txBody>
      </p:sp>
      <p:sp>
        <p:nvSpPr>
          <p:cNvPr id="13" name="TextBox 12"/>
          <p:cNvSpPr txBox="1"/>
          <p:nvPr/>
        </p:nvSpPr>
        <p:spPr>
          <a:xfrm>
            <a:off x="329184" y="804672"/>
            <a:ext cx="11533327" cy="292608"/>
          </a:xfrm>
          <a:prstGeom prst="rect">
            <a:avLst/>
          </a:prstGeom>
          <a:noFill/>
        </p:spPr>
        <p:txBody>
          <a:bodyPr wrap="square" lIns="0" rIns="0" tIns="0" bIns="0" anchor="t">
            <a:spAutoFit/>
          </a:bodyPr>
          <a:lstStyle/>
          <a:p>
            <a:pPr algn="l">
              <a:lnSpc>
                <a:spcPct val="100000"/>
              </a:lnSpc>
              <a:spcAft>
                <a:spcPts val="0"/>
              </a:spcAft>
            </a:pPr>
            <a:r>
              <a:rPr sz="1700" b="1">
                <a:solidFill>
                  <a:srgbClr val="23306B"/>
                </a:solidFill>
                <a:latin typeface="Segoe UI"/>
              </a:rPr>
              <a:t>RETRIEVAL — ANSWERING FROM EVIDENCE, OR REFUSING TO ANSWER AT ALL</a:t>
            </a:r>
          </a:p>
        </p:txBody>
      </p:sp>
      <p:sp>
        <p:nvSpPr>
          <p:cNvPr id="14" name="Rectangle 13"/>
          <p:cNvSpPr/>
          <p:nvPr/>
        </p:nvSpPr>
        <p:spPr>
          <a:xfrm>
            <a:off x="329184" y="1133856"/>
            <a:ext cx="11533327" cy="20116"/>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29184" y="1298448"/>
            <a:ext cx="5349240" cy="274320"/>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20623" y="1348739"/>
            <a:ext cx="5166359"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THE PIPELINE</a:t>
            </a:r>
          </a:p>
        </p:txBody>
      </p:sp>
      <p:sp>
        <p:nvSpPr>
          <p:cNvPr id="17" name="Rectangle 16"/>
          <p:cNvSpPr/>
          <p:nvPr/>
        </p:nvSpPr>
        <p:spPr>
          <a:xfrm>
            <a:off x="329184" y="1572768"/>
            <a:ext cx="5349240" cy="2084831"/>
          </a:xfrm>
          <a:prstGeom prst="rect">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38912" y="1682496"/>
            <a:ext cx="50292" cy="201168"/>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85216" y="1664208"/>
            <a:ext cx="4937760" cy="164592"/>
          </a:xfrm>
          <a:prstGeom prst="rect">
            <a:avLst/>
          </a:prstGeom>
          <a:noFill/>
        </p:spPr>
        <p:txBody>
          <a:bodyPr wrap="square" lIns="0" rIns="0" tIns="0" bIns="0" anchor="t">
            <a:spAutoFit/>
          </a:bodyPr>
          <a:lstStyle/>
          <a:p>
            <a:pPr algn="l">
              <a:lnSpc>
                <a:spcPct val="100000"/>
              </a:lnSpc>
              <a:spcAft>
                <a:spcPts val="0"/>
              </a:spcAft>
            </a:pPr>
            <a:r>
              <a:rPr sz="819" b="1">
                <a:solidFill>
                  <a:srgbClr val="1A1D2E"/>
                </a:solidFill>
                <a:latin typeface="Segoe UI"/>
              </a:rPr>
              <a:t>1  Classify</a:t>
            </a:r>
          </a:p>
        </p:txBody>
      </p:sp>
      <p:sp>
        <p:nvSpPr>
          <p:cNvPr id="20" name="TextBox 19"/>
          <p:cNvSpPr txBox="1"/>
          <p:nvPr/>
        </p:nvSpPr>
        <p:spPr>
          <a:xfrm>
            <a:off x="585216" y="1819656"/>
            <a:ext cx="4937760" cy="164592"/>
          </a:xfrm>
          <a:prstGeom prst="rect">
            <a:avLst/>
          </a:prstGeom>
          <a:noFill/>
        </p:spPr>
        <p:txBody>
          <a:bodyPr wrap="square" lIns="0" rIns="0" tIns="0" bIns="0" anchor="t">
            <a:spAutoFit/>
          </a:bodyPr>
          <a:lstStyle/>
          <a:p>
            <a:pPr algn="l">
              <a:lnSpc>
                <a:spcPct val="100000"/>
              </a:lnSpc>
              <a:spcAft>
                <a:spcPts val="0"/>
              </a:spcAft>
            </a:pPr>
            <a:r>
              <a:rPr sz="730" b="0">
                <a:solidFill>
                  <a:srgbClr val="8A90A6"/>
                </a:solidFill>
                <a:latin typeface="Segoe UI"/>
              </a:rPr>
              <a:t>Question → knowledge topic (history, etiquette, access, visiting)</a:t>
            </a:r>
          </a:p>
        </p:txBody>
      </p:sp>
      <p:sp>
        <p:nvSpPr>
          <p:cNvPr id="21" name="Rectangle 20"/>
          <p:cNvSpPr/>
          <p:nvPr/>
        </p:nvSpPr>
        <p:spPr>
          <a:xfrm>
            <a:off x="438912" y="2016252"/>
            <a:ext cx="50292" cy="201168"/>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85216" y="1997964"/>
            <a:ext cx="4937760" cy="164592"/>
          </a:xfrm>
          <a:prstGeom prst="rect">
            <a:avLst/>
          </a:prstGeom>
          <a:noFill/>
        </p:spPr>
        <p:txBody>
          <a:bodyPr wrap="square" lIns="0" rIns="0" tIns="0" bIns="0" anchor="t">
            <a:spAutoFit/>
          </a:bodyPr>
          <a:lstStyle/>
          <a:p>
            <a:pPr algn="l">
              <a:lnSpc>
                <a:spcPct val="100000"/>
              </a:lnSpc>
              <a:spcAft>
                <a:spcPts val="0"/>
              </a:spcAft>
            </a:pPr>
            <a:r>
              <a:rPr sz="819" b="1">
                <a:solidFill>
                  <a:srgbClr val="1A1D2E"/>
                </a:solidFill>
                <a:latin typeface="Segoe UI"/>
              </a:rPr>
              <a:t>2  Filter</a:t>
            </a:r>
          </a:p>
        </p:txBody>
      </p:sp>
      <p:sp>
        <p:nvSpPr>
          <p:cNvPr id="23" name="TextBox 22"/>
          <p:cNvSpPr txBox="1"/>
          <p:nvPr/>
        </p:nvSpPr>
        <p:spPr>
          <a:xfrm>
            <a:off x="585216" y="2153412"/>
            <a:ext cx="4937760" cy="164592"/>
          </a:xfrm>
          <a:prstGeom prst="rect">
            <a:avLst/>
          </a:prstGeom>
          <a:noFill/>
        </p:spPr>
        <p:txBody>
          <a:bodyPr wrap="square" lIns="0" rIns="0" tIns="0" bIns="0" anchor="t">
            <a:spAutoFit/>
          </a:bodyPr>
          <a:lstStyle/>
          <a:p>
            <a:pPr algn="l">
              <a:lnSpc>
                <a:spcPct val="100000"/>
              </a:lnSpc>
              <a:spcAft>
                <a:spcPts val="0"/>
              </a:spcAft>
            </a:pPr>
            <a:r>
              <a:rPr sz="730" b="0">
                <a:solidFill>
                  <a:srgbClr val="8A90A6"/>
                </a:solidFill>
                <a:latin typeface="Segoe UI"/>
              </a:rPr>
              <a:t>Metadata scope by cluster and place — an attraction filter REQUIRES a cluster</a:t>
            </a:r>
          </a:p>
        </p:txBody>
      </p:sp>
      <p:sp>
        <p:nvSpPr>
          <p:cNvPr id="24" name="Rectangle 23"/>
          <p:cNvSpPr/>
          <p:nvPr/>
        </p:nvSpPr>
        <p:spPr>
          <a:xfrm>
            <a:off x="438912" y="2350008"/>
            <a:ext cx="50292" cy="201168"/>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85216" y="2331720"/>
            <a:ext cx="4937760" cy="164592"/>
          </a:xfrm>
          <a:prstGeom prst="rect">
            <a:avLst/>
          </a:prstGeom>
          <a:noFill/>
        </p:spPr>
        <p:txBody>
          <a:bodyPr wrap="square" lIns="0" rIns="0" tIns="0" bIns="0" anchor="t">
            <a:spAutoFit/>
          </a:bodyPr>
          <a:lstStyle/>
          <a:p>
            <a:pPr algn="l">
              <a:lnSpc>
                <a:spcPct val="100000"/>
              </a:lnSpc>
              <a:spcAft>
                <a:spcPts val="0"/>
              </a:spcAft>
            </a:pPr>
            <a:r>
              <a:rPr sz="819" b="1">
                <a:solidFill>
                  <a:srgbClr val="1A1D2E"/>
                </a:solidFill>
                <a:latin typeface="Segoe UI"/>
              </a:rPr>
              <a:t>3  Retrieve ×2</a:t>
            </a:r>
          </a:p>
        </p:txBody>
      </p:sp>
      <p:sp>
        <p:nvSpPr>
          <p:cNvPr id="26" name="TextBox 25"/>
          <p:cNvSpPr txBox="1"/>
          <p:nvPr/>
        </p:nvSpPr>
        <p:spPr>
          <a:xfrm>
            <a:off x="585216" y="2487168"/>
            <a:ext cx="4937760" cy="164592"/>
          </a:xfrm>
          <a:prstGeom prst="rect">
            <a:avLst/>
          </a:prstGeom>
          <a:noFill/>
        </p:spPr>
        <p:txBody>
          <a:bodyPr wrap="square" lIns="0" rIns="0" tIns="0" bIns="0" anchor="t">
            <a:spAutoFit/>
          </a:bodyPr>
          <a:lstStyle/>
          <a:p>
            <a:pPr algn="l">
              <a:lnSpc>
                <a:spcPct val="100000"/>
              </a:lnSpc>
              <a:spcAft>
                <a:spcPts val="0"/>
              </a:spcAft>
            </a:pPr>
            <a:r>
              <a:rPr sz="730" b="0">
                <a:solidFill>
                  <a:srgbClr val="8A90A6"/>
                </a:solidFill>
                <a:latin typeface="Segoe UI"/>
              </a:rPr>
              <a:t>Dense cosine over 790 chunks + BM25, run independently</a:t>
            </a:r>
          </a:p>
        </p:txBody>
      </p:sp>
      <p:sp>
        <p:nvSpPr>
          <p:cNvPr id="27" name="Rectangle 26"/>
          <p:cNvSpPr/>
          <p:nvPr/>
        </p:nvSpPr>
        <p:spPr>
          <a:xfrm>
            <a:off x="438912" y="2683764"/>
            <a:ext cx="50292" cy="201168"/>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85216" y="2665476"/>
            <a:ext cx="4937760" cy="164592"/>
          </a:xfrm>
          <a:prstGeom prst="rect">
            <a:avLst/>
          </a:prstGeom>
          <a:noFill/>
        </p:spPr>
        <p:txBody>
          <a:bodyPr wrap="square" lIns="0" rIns="0" tIns="0" bIns="0" anchor="t">
            <a:spAutoFit/>
          </a:bodyPr>
          <a:lstStyle/>
          <a:p>
            <a:pPr algn="l">
              <a:lnSpc>
                <a:spcPct val="100000"/>
              </a:lnSpc>
              <a:spcAft>
                <a:spcPts val="0"/>
              </a:spcAft>
            </a:pPr>
            <a:r>
              <a:rPr sz="819" b="1">
                <a:solidFill>
                  <a:srgbClr val="1A1D2E"/>
                </a:solidFill>
                <a:latin typeface="Segoe UI"/>
              </a:rPr>
              <a:t>4  Fuse</a:t>
            </a:r>
          </a:p>
        </p:txBody>
      </p:sp>
      <p:sp>
        <p:nvSpPr>
          <p:cNvPr id="29" name="TextBox 28"/>
          <p:cNvSpPr txBox="1"/>
          <p:nvPr/>
        </p:nvSpPr>
        <p:spPr>
          <a:xfrm>
            <a:off x="585216" y="2820924"/>
            <a:ext cx="4937760" cy="164592"/>
          </a:xfrm>
          <a:prstGeom prst="rect">
            <a:avLst/>
          </a:prstGeom>
          <a:noFill/>
        </p:spPr>
        <p:txBody>
          <a:bodyPr wrap="square" lIns="0" rIns="0" tIns="0" bIns="0" anchor="t">
            <a:spAutoFit/>
          </a:bodyPr>
          <a:lstStyle/>
          <a:p>
            <a:pPr algn="l">
              <a:lnSpc>
                <a:spcPct val="100000"/>
              </a:lnSpc>
              <a:spcAft>
                <a:spcPts val="0"/>
              </a:spcAft>
            </a:pPr>
            <a:r>
              <a:rPr sz="730" b="0">
                <a:solidFill>
                  <a:srgbClr val="8A90A6"/>
                </a:solidFill>
                <a:latin typeface="Segoe UI"/>
              </a:rPr>
              <a:t>Reciprocal Rank Fusion, k = 60</a:t>
            </a:r>
          </a:p>
        </p:txBody>
      </p:sp>
      <p:sp>
        <p:nvSpPr>
          <p:cNvPr id="30" name="Rectangle 29"/>
          <p:cNvSpPr/>
          <p:nvPr/>
        </p:nvSpPr>
        <p:spPr>
          <a:xfrm>
            <a:off x="438912" y="3017520"/>
            <a:ext cx="50292" cy="201168"/>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85216" y="2999232"/>
            <a:ext cx="4937760" cy="164592"/>
          </a:xfrm>
          <a:prstGeom prst="rect">
            <a:avLst/>
          </a:prstGeom>
          <a:noFill/>
        </p:spPr>
        <p:txBody>
          <a:bodyPr wrap="square" lIns="0" rIns="0" tIns="0" bIns="0" anchor="t">
            <a:spAutoFit/>
          </a:bodyPr>
          <a:lstStyle/>
          <a:p>
            <a:pPr algn="l">
              <a:lnSpc>
                <a:spcPct val="100000"/>
              </a:lnSpc>
              <a:spcAft>
                <a:spcPts val="0"/>
              </a:spcAft>
            </a:pPr>
            <a:r>
              <a:rPr sz="819" b="1">
                <a:solidFill>
                  <a:srgbClr val="1A1D2E"/>
                </a:solidFill>
                <a:latin typeface="Segoe UI"/>
              </a:rPr>
              <a:t>5  Rerank</a:t>
            </a:r>
          </a:p>
        </p:txBody>
      </p:sp>
      <p:sp>
        <p:nvSpPr>
          <p:cNvPr id="32" name="TextBox 31"/>
          <p:cNvSpPr txBox="1"/>
          <p:nvPr/>
        </p:nvSpPr>
        <p:spPr>
          <a:xfrm>
            <a:off x="585216" y="3154680"/>
            <a:ext cx="4937760" cy="164592"/>
          </a:xfrm>
          <a:prstGeom prst="rect">
            <a:avLst/>
          </a:prstGeom>
          <a:noFill/>
        </p:spPr>
        <p:txBody>
          <a:bodyPr wrap="square" lIns="0" rIns="0" tIns="0" bIns="0" anchor="t">
            <a:spAutoFit/>
          </a:bodyPr>
          <a:lstStyle/>
          <a:p>
            <a:pPr algn="l">
              <a:lnSpc>
                <a:spcPct val="100000"/>
              </a:lnSpc>
              <a:spcAft>
                <a:spcPts val="0"/>
              </a:spcAft>
            </a:pPr>
            <a:r>
              <a:rPr sz="730" b="0">
                <a:solidFill>
                  <a:srgbClr val="8A90A6"/>
                </a:solidFill>
                <a:latin typeface="Segoe UI"/>
              </a:rPr>
              <a:t>Query coverage · heading match · topic agreement · source authority</a:t>
            </a:r>
          </a:p>
        </p:txBody>
      </p:sp>
      <p:sp>
        <p:nvSpPr>
          <p:cNvPr id="33" name="Rectangle 32"/>
          <p:cNvSpPr/>
          <p:nvPr/>
        </p:nvSpPr>
        <p:spPr>
          <a:xfrm>
            <a:off x="438912" y="3351276"/>
            <a:ext cx="50292" cy="201168"/>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85216" y="3332988"/>
            <a:ext cx="4937760" cy="164592"/>
          </a:xfrm>
          <a:prstGeom prst="rect">
            <a:avLst/>
          </a:prstGeom>
          <a:noFill/>
        </p:spPr>
        <p:txBody>
          <a:bodyPr wrap="square" lIns="0" rIns="0" tIns="0" bIns="0" anchor="t">
            <a:spAutoFit/>
          </a:bodyPr>
          <a:lstStyle/>
          <a:p>
            <a:pPr algn="l">
              <a:lnSpc>
                <a:spcPct val="100000"/>
              </a:lnSpc>
              <a:spcAft>
                <a:spcPts val="0"/>
              </a:spcAft>
            </a:pPr>
            <a:r>
              <a:rPr sz="819" b="1">
                <a:solidFill>
                  <a:srgbClr val="1A1D2E"/>
                </a:solidFill>
                <a:latin typeface="Segoe UI"/>
              </a:rPr>
              <a:t>6  Answer or abstain</a:t>
            </a:r>
          </a:p>
        </p:txBody>
      </p:sp>
      <p:sp>
        <p:nvSpPr>
          <p:cNvPr id="35" name="TextBox 34"/>
          <p:cNvSpPr txBox="1"/>
          <p:nvPr/>
        </p:nvSpPr>
        <p:spPr>
          <a:xfrm>
            <a:off x="585216" y="3488436"/>
            <a:ext cx="4937760" cy="164592"/>
          </a:xfrm>
          <a:prstGeom prst="rect">
            <a:avLst/>
          </a:prstGeom>
          <a:noFill/>
        </p:spPr>
        <p:txBody>
          <a:bodyPr wrap="square" lIns="0" rIns="0" tIns="0" bIns="0" anchor="t">
            <a:spAutoFit/>
          </a:bodyPr>
          <a:lstStyle/>
          <a:p>
            <a:pPr algn="l">
              <a:lnSpc>
                <a:spcPct val="100000"/>
              </a:lnSpc>
              <a:spcAft>
                <a:spcPts val="0"/>
              </a:spcAft>
            </a:pPr>
            <a:r>
              <a:rPr sz="730" b="0">
                <a:solidFill>
                  <a:srgbClr val="8A90A6"/>
                </a:solidFill>
                <a:latin typeface="Segoe UI"/>
              </a:rPr>
              <a:t>Absolute evidence score vs threshold 0.26</a:t>
            </a:r>
          </a:p>
        </p:txBody>
      </p:sp>
      <p:sp>
        <p:nvSpPr>
          <p:cNvPr id="36" name="Rectangle 35"/>
          <p:cNvSpPr/>
          <p:nvPr/>
        </p:nvSpPr>
        <p:spPr>
          <a:xfrm>
            <a:off x="329184" y="3767328"/>
            <a:ext cx="5349240" cy="274320"/>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20623" y="3817620"/>
            <a:ext cx="5166359"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TWO MECHANISMS THAT MAKE THE OUTPUT TRUSTWORTHY</a:t>
            </a:r>
          </a:p>
        </p:txBody>
      </p:sp>
      <p:sp>
        <p:nvSpPr>
          <p:cNvPr id="38" name="Rectangle 37"/>
          <p:cNvSpPr/>
          <p:nvPr/>
        </p:nvSpPr>
        <p:spPr>
          <a:xfrm>
            <a:off x="329184" y="4059936"/>
            <a:ext cx="5349240" cy="1609344"/>
          </a:xfrm>
          <a:prstGeom prst="rect">
            <a:avLst/>
          </a:prstGeom>
          <a:solidFill>
            <a:srgbClr val="E9F7F4"/>
          </a:solidFill>
          <a:ln w="9525">
            <a:solidFill>
              <a:srgbClr val="C6EB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7200" y="4169663"/>
            <a:ext cx="5093208" cy="1426464"/>
          </a:xfrm>
          <a:prstGeom prst="rect">
            <a:avLst/>
          </a:prstGeom>
          <a:noFill/>
        </p:spPr>
        <p:txBody>
          <a:bodyPr wrap="square" lIns="0" rIns="0" tIns="0" bIns="0" anchor="t">
            <a:spAutoFit/>
          </a:bodyPr>
          <a:lstStyle/>
          <a:p>
            <a:pPr algn="l">
              <a:lnSpc>
                <a:spcPct val="118000"/>
              </a:lnSpc>
              <a:spcAft>
                <a:spcPts val="0"/>
              </a:spcAft>
            </a:pPr>
            <a:r>
              <a:rPr sz="810" b="1">
                <a:solidFill>
                  <a:srgbClr val="0F7B6C"/>
                </a:solidFill>
                <a:latin typeface="Segoe UI"/>
              </a:rPr>
              <a:t>Citations are computed, not claimed.  </a:t>
            </a:r>
            <a:r>
              <a:rPr sz="810" b="0">
                <a:solidFill>
                  <a:srgbClr val="5B6178"/>
                </a:solidFill>
                <a:latin typeface="Segoe UI"/>
              </a:rPr>
              <a:t>After generation, each answer sentence is matched back to the chunk it overlaps most (threshold 0.30). A sentence the model invented earns no citation. Asking a model to cite itself measures nothing.</a:t>
            </a:r>
          </a:p>
          <a:p>
            <a:pPr algn="l">
              <a:lnSpc>
                <a:spcPct val="118000"/>
              </a:lnSpc>
              <a:spcAft>
                <a:spcPts val="0"/>
              </a:spcAft>
            </a:pPr>
            <a:r>
              <a:rPr sz="810" b="0">
                <a:solidFill>
                  <a:srgbClr val="5B6178"/>
                </a:solidFill>
                <a:latin typeface="Segoe UI"/>
              </a:rPr>
              <a:t/>
            </a:r>
          </a:p>
          <a:p>
            <a:pPr algn="l">
              <a:lnSpc>
                <a:spcPct val="118000"/>
              </a:lnSpc>
              <a:spcAft>
                <a:spcPts val="0"/>
              </a:spcAft>
            </a:pPr>
            <a:r>
              <a:rPr sz="810" b="1">
                <a:solidFill>
                  <a:srgbClr val="0F7B6C"/>
                </a:solidFill>
                <a:latin typeface="Segoe UI"/>
              </a:rPr>
              <a:t>Abstention runs on an absolute score.  </a:t>
            </a:r>
            <a:r>
              <a:rPr sz="810" b="0">
                <a:solidFill>
                  <a:srgbClr val="5B6178"/>
                </a:solidFill>
                <a:latin typeface="Segoe UI"/>
              </a:rPr>
              <a:t>evidence = max(0.35·dense + 0.65·IDF-weighted term coverage). Below 0.26 no model is called at all and the answer is "I don't have verified information", with zero citations.</a:t>
            </a:r>
          </a:p>
        </p:txBody>
      </p:sp>
      <p:sp>
        <p:nvSpPr>
          <p:cNvPr id="40" name="Rectangle 39"/>
          <p:cNvSpPr/>
          <p:nvPr/>
        </p:nvSpPr>
        <p:spPr>
          <a:xfrm>
            <a:off x="5870448" y="1298448"/>
            <a:ext cx="5992063" cy="274320"/>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5961888" y="1348739"/>
            <a:ext cx="5809183"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MEASURED — 34-QUESTION COMMITTED BENCHMARK</a:t>
            </a:r>
          </a:p>
        </p:txBody>
      </p:sp>
      <p:graphicFrame>
        <p:nvGraphicFramePr>
          <p:cNvPr id="42" name="Table 41"/>
          <p:cNvGraphicFramePr>
            <a:graphicFrameLocks noGrp="1"/>
          </p:cNvGraphicFramePr>
          <p:nvPr/>
        </p:nvGraphicFramePr>
        <p:xfrm>
          <a:off x="5870448" y="1591056"/>
          <a:ext cx="5992062" cy="2156148"/>
        </p:xfrm>
        <a:graphic>
          <a:graphicData uri="http://schemas.openxmlformats.org/drawingml/2006/table">
            <a:tbl>
              <a:tblPr>
                <a:tableStyleId>{5C22544A-7EE6-4342-B048-85BDC9FD1C3A}</a:tableStyleId>
              </a:tblPr>
              <a:tblGrid>
                <a:gridCol w="2779823"/>
                <a:gridCol w="1173703"/>
                <a:gridCol w="2038536"/>
              </a:tblGrid>
              <a:tr h="246888">
                <a:tc>
                  <a:txBody>
                    <a:bodyPr wrap="square"/>
                    <a:lstStyle/>
                    <a:p>
                      <a:pPr algn="l"/>
                      <a:r>
                        <a:rPr sz="740" b="1">
                          <a:solidFill>
                            <a:srgbClr val="FFFFFF"/>
                          </a:solidFill>
                          <a:latin typeface="Segoe UI"/>
                        </a:rPr>
                        <a:t>METRIC</a:t>
                      </a:r>
                    </a:p>
                  </a:txBody>
                  <a:tcPr marL="54864" marR="54864" marT="18288" marB="18288" anchor="ctr">
                    <a:solidFill>
                      <a:srgbClr val="23306B"/>
                    </a:solidFill>
                  </a:tcPr>
                </a:tc>
                <a:tc>
                  <a:txBody>
                    <a:bodyPr wrap="square"/>
                    <a:lstStyle/>
                    <a:p>
                      <a:pPr algn="l"/>
                      <a:r>
                        <a:rPr sz="740" b="1">
                          <a:solidFill>
                            <a:srgbClr val="FFFFFF"/>
                          </a:solidFill>
                          <a:latin typeface="Segoe UI"/>
                        </a:rPr>
                        <a:t>VALUE</a:t>
                      </a:r>
                    </a:p>
                  </a:txBody>
                  <a:tcPr marL="54864" marR="54864" marT="18288" marB="18288" anchor="ctr">
                    <a:solidFill>
                      <a:srgbClr val="23306B"/>
                    </a:solidFill>
                  </a:tcPr>
                </a:tc>
                <a:tc>
                  <a:txBody>
                    <a:bodyPr wrap="square"/>
                    <a:lstStyle/>
                    <a:p>
                      <a:pPr algn="l"/>
                      <a:r>
                        <a:rPr sz="740" b="1">
                          <a:solidFill>
                            <a:srgbClr val="FFFFFF"/>
                          </a:solidFill>
                          <a:latin typeface="Segoe UI"/>
                        </a:rPr>
                        <a:t>NOTE</a:t>
                      </a:r>
                    </a:p>
                  </a:txBody>
                  <a:tcPr marL="54864" marR="54864" marT="18288" marB="18288" anchor="ctr">
                    <a:solidFill>
                      <a:srgbClr val="23306B"/>
                    </a:solidFill>
                  </a:tcPr>
                </a:tc>
              </a:tr>
              <a:tr h="212140">
                <a:tc>
                  <a:txBody>
                    <a:bodyPr wrap="square"/>
                    <a:lstStyle/>
                    <a:p>
                      <a:pPr algn="l"/>
                      <a:r>
                        <a:rPr sz="740" b="1">
                          <a:solidFill>
                            <a:srgbClr val="1A1D2E"/>
                          </a:solidFill>
                          <a:latin typeface="Segoe UI"/>
                        </a:rPr>
                        <a:t>Open retrieval top-1</a:t>
                      </a:r>
                    </a:p>
                  </a:txBody>
                  <a:tcPr marL="54864" marR="54864" marT="18288" marB="18288" anchor="ctr">
                    <a:solidFill>
                      <a:srgbClr val="FFFFFF"/>
                    </a:solidFill>
                  </a:tcPr>
                </a:tc>
                <a:tc>
                  <a:txBody>
                    <a:bodyPr wrap="square"/>
                    <a:lstStyle/>
                    <a:p>
                      <a:pPr algn="l"/>
                      <a:r>
                        <a:rPr sz="740" b="0">
                          <a:solidFill>
                            <a:srgbClr val="1A1D2E"/>
                          </a:solidFill>
                          <a:latin typeface="Consolas"/>
                        </a:rPr>
                        <a:t>0.903</a:t>
                      </a:r>
                    </a:p>
                  </a:txBody>
                  <a:tcPr marL="54864" marR="54864" marT="18288" marB="18288" anchor="ctr">
                    <a:solidFill>
                      <a:srgbClr val="FFFFFF"/>
                    </a:solidFill>
                  </a:tcPr>
                </a:tc>
                <a:tc>
                  <a:txBody>
                    <a:bodyPr wrap="square"/>
                    <a:lstStyle/>
                    <a:p>
                      <a:pPr algn="l"/>
                      <a:r>
                        <a:rPr sz="740" b="0">
                          <a:solidFill>
                            <a:srgbClr val="1A1D2E"/>
                          </a:solidFill>
                          <a:latin typeface="Segoe UI"/>
                        </a:rPr>
                        <a:t>no attraction hint given</a:t>
                      </a:r>
                    </a:p>
                  </a:txBody>
                  <a:tcPr marL="54864" marR="54864" marT="18288" marB="18288" anchor="ctr">
                    <a:solidFill>
                      <a:srgbClr val="FFFFFF"/>
                    </a:solidFill>
                  </a:tcPr>
                </a:tc>
              </a:tr>
              <a:tr h="212140">
                <a:tc>
                  <a:txBody>
                    <a:bodyPr wrap="square"/>
                    <a:lstStyle/>
                    <a:p>
                      <a:pPr algn="l"/>
                      <a:r>
                        <a:rPr sz="740" b="1">
                          <a:solidFill>
                            <a:srgbClr val="1A1D2E"/>
                          </a:solidFill>
                          <a:latin typeface="Segoe UI"/>
                        </a:rPr>
                        <a:t>Open retrieval top-3 / MRR</a:t>
                      </a:r>
                    </a:p>
                  </a:txBody>
                  <a:tcPr marL="54864" marR="54864" marT="18288" marB="18288" anchor="ctr">
                    <a:solidFill>
                      <a:srgbClr val="FDFBF7"/>
                    </a:solidFill>
                  </a:tcPr>
                </a:tc>
                <a:tc>
                  <a:txBody>
                    <a:bodyPr wrap="square"/>
                    <a:lstStyle/>
                    <a:p>
                      <a:pPr algn="l"/>
                      <a:r>
                        <a:rPr sz="740" b="0">
                          <a:solidFill>
                            <a:srgbClr val="1A1D2E"/>
                          </a:solidFill>
                          <a:latin typeface="Consolas"/>
                        </a:rPr>
                        <a:t>1.000 / 0.952</a:t>
                      </a:r>
                    </a:p>
                  </a:txBody>
                  <a:tcPr marL="54864" marR="54864" marT="18288" marB="18288" anchor="ctr">
                    <a:solidFill>
                      <a:srgbClr val="FDFBF7"/>
                    </a:solidFill>
                  </a:tcPr>
                </a:tc>
                <a:tc>
                  <a:txBody>
                    <a:bodyPr wrap="square"/>
                    <a:lstStyle/>
                    <a:p>
                      <a:pPr algn="l"/>
                      <a:r>
                        <a:rPr sz="740" b="0">
                          <a:solidFill>
                            <a:srgbClr val="1A1D2E"/>
                          </a:solidFill>
                          <a:latin typeface="Segoe UI"/>
                        </a:rPr>
                        <a:t>the realistic assistant path</a:t>
                      </a:r>
                    </a:p>
                  </a:txBody>
                  <a:tcPr marL="54864" marR="54864" marT="18288" marB="18288" anchor="ctr">
                    <a:solidFill>
                      <a:srgbClr val="FDFBF7"/>
                    </a:solidFill>
                  </a:tcPr>
                </a:tc>
              </a:tr>
              <a:tr h="212140">
                <a:tc>
                  <a:txBody>
                    <a:bodyPr wrap="square"/>
                    <a:lstStyle/>
                    <a:p>
                      <a:pPr algn="l"/>
                      <a:r>
                        <a:rPr sz="740" b="1">
                          <a:solidFill>
                            <a:srgbClr val="1A1D2E"/>
                          </a:solidFill>
                          <a:latin typeface="Segoe UI"/>
                        </a:rPr>
                        <a:t>Retrieval recall</a:t>
                      </a:r>
                    </a:p>
                  </a:txBody>
                  <a:tcPr marL="54864" marR="54864" marT="18288" marB="18288" anchor="ctr">
                    <a:solidFill>
                      <a:srgbClr val="FFFFFF"/>
                    </a:solidFill>
                  </a:tcPr>
                </a:tc>
                <a:tc>
                  <a:txBody>
                    <a:bodyPr wrap="square"/>
                    <a:lstStyle/>
                    <a:p>
                      <a:pPr algn="l"/>
                      <a:r>
                        <a:rPr sz="740" b="0">
                          <a:solidFill>
                            <a:srgbClr val="1A1D2E"/>
                          </a:solidFill>
                          <a:latin typeface="Consolas"/>
                        </a:rPr>
                        <a:t>1.000</a:t>
                      </a:r>
                    </a:p>
                  </a:txBody>
                  <a:tcPr marL="54864" marR="54864" marT="18288" marB="18288" anchor="ctr">
                    <a:solidFill>
                      <a:srgbClr val="FFFFFF"/>
                    </a:solidFill>
                  </a:tcPr>
                </a:tc>
                <a:tc>
                  <a:txBody>
                    <a:bodyPr wrap="square"/>
                    <a:lstStyle/>
                    <a:p>
                      <a:pPr algn="l"/>
                      <a:r>
                        <a:rPr sz="740" b="0">
                          <a:solidFill>
                            <a:srgbClr val="1A1D2E"/>
                          </a:solidFill>
                          <a:latin typeface="Segoe UI"/>
                        </a:rPr>
                        <a:t>expected topic retrieved</a:t>
                      </a:r>
                    </a:p>
                  </a:txBody>
                  <a:tcPr marL="54864" marR="54864" marT="18288" marB="18288" anchor="ctr">
                    <a:solidFill>
                      <a:srgbClr val="FFFFFF"/>
                    </a:solidFill>
                  </a:tcPr>
                </a:tc>
              </a:tr>
              <a:tr h="212140">
                <a:tc>
                  <a:txBody>
                    <a:bodyPr wrap="square"/>
                    <a:lstStyle/>
                    <a:p>
                      <a:pPr algn="l"/>
                      <a:r>
                        <a:rPr sz="740" b="1">
                          <a:solidFill>
                            <a:srgbClr val="1A1D2E"/>
                          </a:solidFill>
                          <a:latin typeface="Segoe UI"/>
                        </a:rPr>
                        <a:t>Topic classification</a:t>
                      </a:r>
                    </a:p>
                  </a:txBody>
                  <a:tcPr marL="54864" marR="54864" marT="18288" marB="18288" anchor="ctr">
                    <a:solidFill>
                      <a:srgbClr val="FDFBF7"/>
                    </a:solidFill>
                  </a:tcPr>
                </a:tc>
                <a:tc>
                  <a:txBody>
                    <a:bodyPr wrap="square"/>
                    <a:lstStyle/>
                    <a:p>
                      <a:pPr algn="l"/>
                      <a:r>
                        <a:rPr sz="740" b="0">
                          <a:solidFill>
                            <a:srgbClr val="1A1D2E"/>
                          </a:solidFill>
                          <a:latin typeface="Consolas"/>
                        </a:rPr>
                        <a:t>0.941</a:t>
                      </a:r>
                    </a:p>
                  </a:txBody>
                  <a:tcPr marL="54864" marR="54864" marT="18288" marB="18288" anchor="ctr">
                    <a:solidFill>
                      <a:srgbClr val="FDFBF7"/>
                    </a:solidFill>
                  </a:tcPr>
                </a:tc>
                <a:tc>
                  <a:txBody>
                    <a:bodyPr wrap="square"/>
                    <a:lstStyle/>
                    <a:p>
                      <a:pPr algn="l"/>
                      <a:r>
                        <a:rPr sz="740" b="0">
                          <a:solidFill>
                            <a:srgbClr val="1A1D2E"/>
                          </a:solidFill>
                          <a:latin typeface="Segoe UI"/>
                        </a:rPr>
                        <a:t>was 0.50 — see defect below</a:t>
                      </a:r>
                    </a:p>
                  </a:txBody>
                  <a:tcPr marL="54864" marR="54864" marT="18288" marB="18288" anchor="ctr">
                    <a:solidFill>
                      <a:srgbClr val="FDFBF7"/>
                    </a:solidFill>
                  </a:tcPr>
                </a:tc>
              </a:tr>
              <a:tr h="212140">
                <a:tc>
                  <a:txBody>
                    <a:bodyPr wrap="square"/>
                    <a:lstStyle/>
                    <a:p>
                      <a:pPr algn="l"/>
                      <a:r>
                        <a:rPr sz="740" b="1">
                          <a:solidFill>
                            <a:srgbClr val="1A1D2E"/>
                          </a:solidFill>
                          <a:latin typeface="Segoe UI"/>
                        </a:rPr>
                        <a:t>Citation correctness / coverage</a:t>
                      </a:r>
                    </a:p>
                  </a:txBody>
                  <a:tcPr marL="54864" marR="54864" marT="18288" marB="18288" anchor="ctr">
                    <a:solidFill>
                      <a:srgbClr val="FFFFFF"/>
                    </a:solidFill>
                  </a:tcPr>
                </a:tc>
                <a:tc>
                  <a:txBody>
                    <a:bodyPr wrap="square"/>
                    <a:lstStyle/>
                    <a:p>
                      <a:pPr algn="l"/>
                      <a:r>
                        <a:rPr sz="740" b="0">
                          <a:solidFill>
                            <a:srgbClr val="1A1D2E"/>
                          </a:solidFill>
                          <a:latin typeface="Consolas"/>
                        </a:rPr>
                        <a:t>1.000 / 1.000</a:t>
                      </a:r>
                    </a:p>
                  </a:txBody>
                  <a:tcPr marL="54864" marR="54864" marT="18288" marB="18288" anchor="ctr">
                    <a:solidFill>
                      <a:srgbClr val="FFFFFF"/>
                    </a:solidFill>
                  </a:tcPr>
                </a:tc>
                <a:tc>
                  <a:txBody>
                    <a:bodyPr wrap="square"/>
                    <a:lstStyle/>
                    <a:p>
                      <a:pPr algn="l"/>
                      <a:r>
                        <a:rPr sz="740" b="0">
                          <a:solidFill>
                            <a:srgbClr val="1A1D2E"/>
                          </a:solidFill>
                          <a:latin typeface="Segoe UI"/>
                        </a:rPr>
                        <a:t>derived, not requested</a:t>
                      </a:r>
                    </a:p>
                  </a:txBody>
                  <a:tcPr marL="54864" marR="54864" marT="18288" marB="18288" anchor="ctr">
                    <a:solidFill>
                      <a:srgbClr val="FFFFFF"/>
                    </a:solidFill>
                  </a:tcPr>
                </a:tc>
              </a:tr>
              <a:tr h="212140">
                <a:tc>
                  <a:txBody>
                    <a:bodyPr wrap="square"/>
                    <a:lstStyle/>
                    <a:p>
                      <a:pPr algn="l"/>
                      <a:r>
                        <a:rPr sz="740" b="1">
                          <a:solidFill>
                            <a:srgbClr val="1A1D2E"/>
                          </a:solidFill>
                          <a:latin typeface="Segoe UI"/>
                        </a:rPr>
                        <a:t>Abstention accuracy</a:t>
                      </a:r>
                    </a:p>
                  </a:txBody>
                  <a:tcPr marL="54864" marR="54864" marT="18288" marB="18288" anchor="ctr">
                    <a:solidFill>
                      <a:srgbClr val="FDFBF7"/>
                    </a:solidFill>
                  </a:tcPr>
                </a:tc>
                <a:tc>
                  <a:txBody>
                    <a:bodyPr wrap="square"/>
                    <a:lstStyle/>
                    <a:p>
                      <a:pPr algn="l"/>
                      <a:r>
                        <a:rPr sz="740" b="1">
                          <a:solidFill>
                            <a:srgbClr val="0F7B6C"/>
                          </a:solidFill>
                          <a:latin typeface="Consolas"/>
                        </a:rPr>
                        <a:t>1.000</a:t>
                      </a:r>
                    </a:p>
                  </a:txBody>
                  <a:tcPr marL="54864" marR="54864" marT="18288" marB="18288" anchor="ctr">
                    <a:solidFill>
                      <a:srgbClr val="FDFBF7"/>
                    </a:solidFill>
                  </a:tcPr>
                </a:tc>
                <a:tc>
                  <a:txBody>
                    <a:bodyPr wrap="square"/>
                    <a:lstStyle/>
                    <a:p>
                      <a:pPr algn="l"/>
                      <a:r>
                        <a:rPr sz="740" b="0">
                          <a:solidFill>
                            <a:srgbClr val="1A1D2E"/>
                          </a:solidFill>
                          <a:latin typeface="Segoe UI"/>
                        </a:rPr>
                        <a:t>refuses when it should</a:t>
                      </a:r>
                    </a:p>
                  </a:txBody>
                  <a:tcPr marL="54864" marR="54864" marT="18288" marB="18288" anchor="ctr">
                    <a:solidFill>
                      <a:srgbClr val="FDFBF7"/>
                    </a:solidFill>
                  </a:tcPr>
                </a:tc>
              </a:tr>
              <a:tr h="212140">
                <a:tc>
                  <a:txBody>
                    <a:bodyPr wrap="square"/>
                    <a:lstStyle/>
                    <a:p>
                      <a:pPr algn="l"/>
                      <a:r>
                        <a:rPr sz="740" b="1">
                          <a:solidFill>
                            <a:srgbClr val="1A1D2E"/>
                          </a:solidFill>
                          <a:latin typeface="Segoe UI"/>
                        </a:rPr>
                        <a:t>Faithfulness</a:t>
                      </a:r>
                    </a:p>
                  </a:txBody>
                  <a:tcPr marL="54864" marR="54864" marT="18288" marB="18288" anchor="ctr">
                    <a:solidFill>
                      <a:srgbClr val="FFFFFF"/>
                    </a:solidFill>
                  </a:tcPr>
                </a:tc>
                <a:tc>
                  <a:txBody>
                    <a:bodyPr wrap="square"/>
                    <a:lstStyle/>
                    <a:p>
                      <a:pPr algn="l"/>
                      <a:r>
                        <a:rPr sz="740" b="0">
                          <a:solidFill>
                            <a:srgbClr val="1A1D2E"/>
                          </a:solidFill>
                          <a:latin typeface="Consolas"/>
                        </a:rPr>
                        <a:t>0.995</a:t>
                      </a:r>
                    </a:p>
                  </a:txBody>
                  <a:tcPr marL="54864" marR="54864" marT="18288" marB="18288" anchor="ctr">
                    <a:solidFill>
                      <a:srgbClr val="FFFFFF"/>
                    </a:solidFill>
                  </a:tcPr>
                </a:tc>
                <a:tc>
                  <a:txBody>
                    <a:bodyPr wrap="square"/>
                    <a:lstStyle/>
                    <a:p>
                      <a:pPr algn="l"/>
                      <a:r>
                        <a:rPr sz="740" b="0">
                          <a:solidFill>
                            <a:srgbClr val="1A1D2E"/>
                          </a:solidFill>
                          <a:latin typeface="Segoe UI"/>
                        </a:rPr>
                        <a:t>our disclaimer counts against</a:t>
                      </a:r>
                    </a:p>
                  </a:txBody>
                  <a:tcPr marL="54864" marR="54864" marT="18288" marB="18288" anchor="ctr">
                    <a:solidFill>
                      <a:srgbClr val="FFFFFF"/>
                    </a:solidFill>
                  </a:tcPr>
                </a:tc>
              </a:tr>
              <a:tr h="212140">
                <a:tc>
                  <a:txBody>
                    <a:bodyPr wrap="square"/>
                    <a:lstStyle/>
                    <a:p>
                      <a:pPr algn="l"/>
                      <a:r>
                        <a:rPr sz="740" b="1">
                          <a:solidFill>
                            <a:srgbClr val="1A1D2E"/>
                          </a:solidFill>
                          <a:latin typeface="Segoe UI"/>
                        </a:rPr>
                        <a:t>Evidence: answerable / out-of-scope</a:t>
                      </a:r>
                    </a:p>
                  </a:txBody>
                  <a:tcPr marL="54864" marR="54864" marT="18288" marB="18288" anchor="ctr">
                    <a:solidFill>
                      <a:srgbClr val="FDFBF7"/>
                    </a:solidFill>
                  </a:tcPr>
                </a:tc>
                <a:tc>
                  <a:txBody>
                    <a:bodyPr wrap="square"/>
                    <a:lstStyle/>
                    <a:p>
                      <a:pPr algn="l"/>
                      <a:r>
                        <a:rPr sz="740" b="0">
                          <a:solidFill>
                            <a:srgbClr val="1A1D2E"/>
                          </a:solidFill>
                          <a:latin typeface="Consolas"/>
                        </a:rPr>
                        <a:t>0.582 / 0.071</a:t>
                      </a:r>
                    </a:p>
                  </a:txBody>
                  <a:tcPr marL="54864" marR="54864" marT="18288" marB="18288" anchor="ctr">
                    <a:solidFill>
                      <a:srgbClr val="FDFBF7"/>
                    </a:solidFill>
                  </a:tcPr>
                </a:tc>
                <a:tc>
                  <a:txBody>
                    <a:bodyPr wrap="square"/>
                    <a:lstStyle/>
                    <a:p>
                      <a:pPr algn="l"/>
                      <a:r>
                        <a:rPr sz="740" b="0">
                          <a:solidFill>
                            <a:srgbClr val="1A1D2E"/>
                          </a:solidFill>
                          <a:latin typeface="Segoe UI"/>
                        </a:rPr>
                        <a:t>what abstention keys on</a:t>
                      </a:r>
                    </a:p>
                  </a:txBody>
                  <a:tcPr marL="54864" marR="54864" marT="18288" marB="18288" anchor="ctr">
                    <a:solidFill>
                      <a:srgbClr val="FDFBF7"/>
                    </a:solidFill>
                  </a:tcPr>
                </a:tc>
              </a:tr>
              <a:tr h="212140">
                <a:tc>
                  <a:txBody>
                    <a:bodyPr wrap="square"/>
                    <a:lstStyle/>
                    <a:p>
                      <a:pPr algn="l"/>
                      <a:r>
                        <a:rPr sz="740" b="1">
                          <a:solidFill>
                            <a:srgbClr val="1A1D2E"/>
                          </a:solidFill>
                          <a:latin typeface="Segoe UI"/>
                        </a:rPr>
                        <a:t>Latency p50 / p95</a:t>
                      </a:r>
                    </a:p>
                  </a:txBody>
                  <a:tcPr marL="54864" marR="54864" marT="18288" marB="18288" anchor="ctr">
                    <a:solidFill>
                      <a:srgbClr val="FFFFFF"/>
                    </a:solidFill>
                  </a:tcPr>
                </a:tc>
                <a:tc>
                  <a:txBody>
                    <a:bodyPr wrap="square"/>
                    <a:lstStyle/>
                    <a:p>
                      <a:pPr algn="l"/>
                      <a:r>
                        <a:rPr sz="740" b="0">
                          <a:solidFill>
                            <a:srgbClr val="1A1D2E"/>
                          </a:solidFill>
                          <a:latin typeface="Consolas"/>
                        </a:rPr>
                        <a:t>8.1 / 34.4 ms</a:t>
                      </a:r>
                    </a:p>
                  </a:txBody>
                  <a:tcPr marL="54864" marR="54864" marT="18288" marB="18288" anchor="ctr">
                    <a:solidFill>
                      <a:srgbClr val="FFFFFF"/>
                    </a:solidFill>
                  </a:tcPr>
                </a:tc>
                <a:tc>
                  <a:txBody>
                    <a:bodyPr wrap="square"/>
                    <a:lstStyle/>
                    <a:p>
                      <a:pPr algn="l"/>
                      <a:r>
                        <a:rPr sz="740" b="0">
                          <a:solidFill>
                            <a:srgbClr val="1A1D2E"/>
                          </a:solidFill>
                          <a:latin typeface="Segoe UI"/>
                        </a:rPr>
                        <a:t>template provider</a:t>
                      </a:r>
                    </a:p>
                  </a:txBody>
                  <a:tcPr marL="54864" marR="54864" marT="18288" marB="18288" anchor="ctr">
                    <a:solidFill>
                      <a:srgbClr val="FFFFFF"/>
                    </a:solidFill>
                  </a:tcPr>
                </a:tc>
              </a:tr>
            </a:tbl>
          </a:graphicData>
        </a:graphic>
      </p:graphicFrame>
      <p:sp>
        <p:nvSpPr>
          <p:cNvPr id="43" name="Rectangle 42"/>
          <p:cNvSpPr/>
          <p:nvPr/>
        </p:nvSpPr>
        <p:spPr>
          <a:xfrm>
            <a:off x="5870448" y="3895344"/>
            <a:ext cx="5992063" cy="274320"/>
          </a:xfrm>
          <a:prstGeom prst="rect">
            <a:avLst/>
          </a:prstGeom>
          <a:solidFill>
            <a:srgbClr val="4256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5961888" y="3945635"/>
            <a:ext cx="5809183"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ABLATION — REAL RE-RUNS, NOT RE-SORTS</a:t>
            </a:r>
          </a:p>
        </p:txBody>
      </p:sp>
      <p:graphicFrame>
        <p:nvGraphicFramePr>
          <p:cNvPr id="45" name="Table 44"/>
          <p:cNvGraphicFramePr>
            <a:graphicFrameLocks noGrp="1"/>
          </p:cNvGraphicFramePr>
          <p:nvPr/>
        </p:nvGraphicFramePr>
        <p:xfrm>
          <a:off x="5870448" y="4187952"/>
          <a:ext cx="5992061" cy="1161288"/>
        </p:xfrm>
        <a:graphic>
          <a:graphicData uri="http://schemas.openxmlformats.org/drawingml/2006/table">
            <a:tbl>
              <a:tblPr>
                <a:tableStyleId>{5C22544A-7EE6-4342-B048-85BDC9FD1C3A}</a:tableStyleId>
              </a:tblPr>
              <a:tblGrid>
                <a:gridCol w="3483757"/>
                <a:gridCol w="1254152"/>
                <a:gridCol w="1254152"/>
              </a:tblGrid>
              <a:tr h="246888">
                <a:tc>
                  <a:txBody>
                    <a:bodyPr wrap="square"/>
                    <a:lstStyle/>
                    <a:p>
                      <a:pPr algn="l"/>
                      <a:r>
                        <a:rPr sz="740" b="1">
                          <a:solidFill>
                            <a:srgbClr val="FFFFFF"/>
                          </a:solidFill>
                          <a:latin typeface="Segoe UI"/>
                        </a:rPr>
                        <a:t>CONFIGURATION</a:t>
                      </a:r>
                    </a:p>
                  </a:txBody>
                  <a:tcPr marL="54864" marR="54864" marT="18288" marB="18288" anchor="ctr">
                    <a:solidFill>
                      <a:srgbClr val="42569F"/>
                    </a:solidFill>
                  </a:tcPr>
                </a:tc>
                <a:tc>
                  <a:txBody>
                    <a:bodyPr wrap="square"/>
                    <a:lstStyle/>
                    <a:p>
                      <a:pPr algn="l"/>
                      <a:r>
                        <a:rPr sz="740" b="1">
                          <a:solidFill>
                            <a:srgbClr val="FFFFFF"/>
                          </a:solidFill>
                          <a:latin typeface="Segoe UI"/>
                        </a:rPr>
                        <a:t>TOP-1</a:t>
                      </a:r>
                    </a:p>
                  </a:txBody>
                  <a:tcPr marL="54864" marR="54864" marT="18288" marB="18288" anchor="ctr">
                    <a:solidFill>
                      <a:srgbClr val="42569F"/>
                    </a:solidFill>
                  </a:tcPr>
                </a:tc>
                <a:tc>
                  <a:txBody>
                    <a:bodyPr wrap="square"/>
                    <a:lstStyle/>
                    <a:p>
                      <a:pPr algn="l"/>
                      <a:r>
                        <a:rPr sz="740" b="1">
                          <a:solidFill>
                            <a:srgbClr val="FFFFFF"/>
                          </a:solidFill>
                          <a:latin typeface="Segoe UI"/>
                        </a:rPr>
                        <a:t>MRR</a:t>
                      </a:r>
                    </a:p>
                  </a:txBody>
                  <a:tcPr marL="54864" marR="54864" marT="18288" marB="18288" anchor="ctr">
                    <a:solidFill>
                      <a:srgbClr val="42569F"/>
                    </a:solidFill>
                  </a:tcPr>
                </a:tc>
              </a:tr>
              <a:tr h="228600">
                <a:tc>
                  <a:txBody>
                    <a:bodyPr wrap="square"/>
                    <a:lstStyle/>
                    <a:p>
                      <a:pPr algn="l"/>
                      <a:r>
                        <a:rPr sz="750" b="1">
                          <a:solidFill>
                            <a:srgbClr val="1A1D2E"/>
                          </a:solidFill>
                          <a:latin typeface="Segoe UI"/>
                        </a:rPr>
                        <a:t>hybrid + rerank (shipped)</a:t>
                      </a:r>
                    </a:p>
                  </a:txBody>
                  <a:tcPr marL="54864" marR="54864" marT="18288" marB="18288" anchor="ctr">
                    <a:solidFill>
                      <a:srgbClr val="FFFFFF"/>
                    </a:solidFill>
                  </a:tcPr>
                </a:tc>
                <a:tc>
                  <a:txBody>
                    <a:bodyPr wrap="square"/>
                    <a:lstStyle/>
                    <a:p>
                      <a:pPr algn="l"/>
                      <a:r>
                        <a:rPr sz="750" b="1">
                          <a:solidFill>
                            <a:srgbClr val="1A1D2E"/>
                          </a:solidFill>
                          <a:latin typeface="Consolas"/>
                        </a:rPr>
                        <a:t>0.903</a:t>
                      </a:r>
                    </a:p>
                  </a:txBody>
                  <a:tcPr marL="54864" marR="54864" marT="18288" marB="18288" anchor="ctr">
                    <a:solidFill>
                      <a:srgbClr val="FFFFFF"/>
                    </a:solidFill>
                  </a:tcPr>
                </a:tc>
                <a:tc>
                  <a:txBody>
                    <a:bodyPr wrap="square"/>
                    <a:lstStyle/>
                    <a:p>
                      <a:pPr algn="l"/>
                      <a:r>
                        <a:rPr sz="750" b="1">
                          <a:solidFill>
                            <a:srgbClr val="1A1D2E"/>
                          </a:solidFill>
                          <a:latin typeface="Consolas"/>
                        </a:rPr>
                        <a:t>0.952</a:t>
                      </a:r>
                    </a:p>
                  </a:txBody>
                  <a:tcPr marL="54864" marR="54864" marT="18288" marB="18288" anchor="ctr">
                    <a:solidFill>
                      <a:srgbClr val="FFFFFF"/>
                    </a:solidFill>
                  </a:tcPr>
                </a:tc>
              </a:tr>
              <a:tr h="228600">
                <a:tc>
                  <a:txBody>
                    <a:bodyPr wrap="square"/>
                    <a:lstStyle/>
                    <a:p>
                      <a:pPr algn="l"/>
                      <a:r>
                        <a:rPr sz="750" b="1">
                          <a:solidFill>
                            <a:srgbClr val="1A1D2E"/>
                          </a:solidFill>
                          <a:latin typeface="Segoe UI"/>
                        </a:rPr>
                        <a:t>hybrid, no rerank</a:t>
                      </a:r>
                    </a:p>
                  </a:txBody>
                  <a:tcPr marL="54864" marR="54864" marT="18288" marB="18288" anchor="ctr">
                    <a:solidFill>
                      <a:srgbClr val="FDFBF7"/>
                    </a:solidFill>
                  </a:tcPr>
                </a:tc>
                <a:tc>
                  <a:txBody>
                    <a:bodyPr wrap="square"/>
                    <a:lstStyle/>
                    <a:p>
                      <a:pPr algn="l"/>
                      <a:r>
                        <a:rPr sz="750" b="0">
                          <a:solidFill>
                            <a:srgbClr val="A94545"/>
                          </a:solidFill>
                          <a:latin typeface="Consolas"/>
                        </a:rPr>
                        <a:t>0.774</a:t>
                      </a:r>
                    </a:p>
                  </a:txBody>
                  <a:tcPr marL="54864" marR="54864" marT="18288" marB="18288" anchor="ctr">
                    <a:solidFill>
                      <a:srgbClr val="FDFBF7"/>
                    </a:solidFill>
                  </a:tcPr>
                </a:tc>
                <a:tc>
                  <a:txBody>
                    <a:bodyPr wrap="square"/>
                    <a:lstStyle/>
                    <a:p>
                      <a:pPr algn="l"/>
                      <a:r>
                        <a:rPr sz="750" b="0">
                          <a:solidFill>
                            <a:srgbClr val="1A1D2E"/>
                          </a:solidFill>
                          <a:latin typeface="Consolas"/>
                        </a:rPr>
                        <a:t>0.874</a:t>
                      </a:r>
                    </a:p>
                  </a:txBody>
                  <a:tcPr marL="54864" marR="54864" marT="18288" marB="18288" anchor="ctr">
                    <a:solidFill>
                      <a:srgbClr val="FDFBF7"/>
                    </a:solidFill>
                  </a:tcPr>
                </a:tc>
              </a:tr>
              <a:tr h="228600">
                <a:tc>
                  <a:txBody>
                    <a:bodyPr wrap="square"/>
                    <a:lstStyle/>
                    <a:p>
                      <a:pPr algn="l"/>
                      <a:r>
                        <a:rPr sz="750" b="1">
                          <a:solidFill>
                            <a:srgbClr val="1A1D2E"/>
                          </a:solidFill>
                          <a:latin typeface="Segoe UI"/>
                        </a:rPr>
                        <a:t>dense only + rerank</a:t>
                      </a:r>
                    </a:p>
                  </a:txBody>
                  <a:tcPr marL="54864" marR="54864" marT="18288" marB="18288" anchor="ctr">
                    <a:solidFill>
                      <a:srgbClr val="FFFFFF"/>
                    </a:solidFill>
                  </a:tcPr>
                </a:tc>
                <a:tc>
                  <a:txBody>
                    <a:bodyPr wrap="square"/>
                    <a:lstStyle/>
                    <a:p>
                      <a:pPr algn="l"/>
                      <a:r>
                        <a:rPr sz="750" b="0">
                          <a:solidFill>
                            <a:srgbClr val="1A1D2E"/>
                          </a:solidFill>
                          <a:latin typeface="Consolas"/>
                        </a:rPr>
                        <a:t>0.871</a:t>
                      </a:r>
                    </a:p>
                  </a:txBody>
                  <a:tcPr marL="54864" marR="54864" marT="18288" marB="18288" anchor="ctr">
                    <a:solidFill>
                      <a:srgbClr val="FFFFFF"/>
                    </a:solidFill>
                  </a:tcPr>
                </a:tc>
                <a:tc>
                  <a:txBody>
                    <a:bodyPr wrap="square"/>
                    <a:lstStyle/>
                    <a:p>
                      <a:pPr algn="l"/>
                      <a:r>
                        <a:rPr sz="750" b="0">
                          <a:solidFill>
                            <a:srgbClr val="1A1D2E"/>
                          </a:solidFill>
                          <a:latin typeface="Consolas"/>
                        </a:rPr>
                        <a:t>0.935</a:t>
                      </a:r>
                    </a:p>
                  </a:txBody>
                  <a:tcPr marL="54864" marR="54864" marT="18288" marB="18288" anchor="ctr">
                    <a:solidFill>
                      <a:srgbClr val="FFFFFF"/>
                    </a:solidFill>
                  </a:tcPr>
                </a:tc>
              </a:tr>
              <a:tr h="228600">
                <a:tc>
                  <a:txBody>
                    <a:bodyPr wrap="square"/>
                    <a:lstStyle/>
                    <a:p>
                      <a:pPr algn="l"/>
                      <a:r>
                        <a:rPr sz="750" b="1">
                          <a:solidFill>
                            <a:srgbClr val="1A1D2E"/>
                          </a:solidFill>
                          <a:latin typeface="Segoe UI"/>
                        </a:rPr>
                        <a:t>lexical only + rerank</a:t>
                      </a:r>
                    </a:p>
                  </a:txBody>
                  <a:tcPr marL="54864" marR="54864" marT="18288" marB="18288" anchor="ctr">
                    <a:solidFill>
                      <a:srgbClr val="FDFBF7"/>
                    </a:solidFill>
                  </a:tcPr>
                </a:tc>
                <a:tc>
                  <a:txBody>
                    <a:bodyPr wrap="square"/>
                    <a:lstStyle/>
                    <a:p>
                      <a:pPr algn="l"/>
                      <a:r>
                        <a:rPr sz="750" b="0">
                          <a:solidFill>
                            <a:srgbClr val="1A1D2E"/>
                          </a:solidFill>
                          <a:latin typeface="Consolas"/>
                        </a:rPr>
                        <a:t>0.903</a:t>
                      </a:r>
                    </a:p>
                  </a:txBody>
                  <a:tcPr marL="54864" marR="54864" marT="18288" marB="18288" anchor="ctr">
                    <a:solidFill>
                      <a:srgbClr val="FDFBF7"/>
                    </a:solidFill>
                  </a:tcPr>
                </a:tc>
                <a:tc>
                  <a:txBody>
                    <a:bodyPr wrap="square"/>
                    <a:lstStyle/>
                    <a:p>
                      <a:pPr algn="l"/>
                      <a:r>
                        <a:rPr sz="750" b="0">
                          <a:solidFill>
                            <a:srgbClr val="1A1D2E"/>
                          </a:solidFill>
                          <a:latin typeface="Consolas"/>
                        </a:rPr>
                        <a:t>0.946</a:t>
                      </a:r>
                    </a:p>
                  </a:txBody>
                  <a:tcPr marL="54864" marR="54864" marT="18288" marB="18288" anchor="ctr">
                    <a:solidFill>
                      <a:srgbClr val="FDFBF7"/>
                    </a:solidFill>
                  </a:tcPr>
                </a:tc>
              </a:tr>
            </a:tbl>
          </a:graphicData>
        </a:graphic>
      </p:graphicFrame>
      <p:sp>
        <p:nvSpPr>
          <p:cNvPr id="46" name="TextBox 45"/>
          <p:cNvSpPr txBox="1"/>
          <p:nvPr/>
        </p:nvSpPr>
        <p:spPr>
          <a:xfrm>
            <a:off x="5870448" y="5394960"/>
            <a:ext cx="5992063" cy="365760"/>
          </a:xfrm>
          <a:prstGeom prst="rect">
            <a:avLst/>
          </a:prstGeom>
          <a:noFill/>
        </p:spPr>
        <p:txBody>
          <a:bodyPr wrap="square" lIns="0" rIns="0" tIns="0" bIns="0" anchor="t">
            <a:spAutoFit/>
          </a:bodyPr>
          <a:lstStyle/>
          <a:p>
            <a:pPr algn="l">
              <a:lnSpc>
                <a:spcPct val="115000"/>
              </a:lnSpc>
              <a:spcAft>
                <a:spcPts val="0"/>
              </a:spcAft>
            </a:pPr>
            <a:r>
              <a:rPr sz="750" b="0">
                <a:solidFill>
                  <a:srgbClr val="5B6178"/>
                </a:solidFill>
                <a:latin typeface="Segoe UI"/>
              </a:rPr>
              <a:t>Reranking is worth +12.9 pp top-1. Lexical-only nearly matches the hybrid — an honest limitation of the hashing embedder (a lexical projection), not a strength of BM25.</a:t>
            </a:r>
          </a:p>
        </p:txBody>
      </p:sp>
      <p:sp>
        <p:nvSpPr>
          <p:cNvPr id="47" name="Rectangle 46"/>
          <p:cNvSpPr/>
          <p:nvPr/>
        </p:nvSpPr>
        <p:spPr>
          <a:xfrm>
            <a:off x="329184" y="5833872"/>
            <a:ext cx="11533327" cy="530352"/>
          </a:xfrm>
          <a:prstGeom prst="rect">
            <a:avLst/>
          </a:prstGeom>
          <a:solidFill>
            <a:srgbClr val="141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7200" y="5916168"/>
            <a:ext cx="11277295" cy="384047"/>
          </a:xfrm>
          <a:prstGeom prst="rect">
            <a:avLst/>
          </a:prstGeom>
          <a:noFill/>
        </p:spPr>
        <p:txBody>
          <a:bodyPr wrap="square" lIns="0" rIns="0" tIns="0" bIns="0" anchor="t">
            <a:spAutoFit/>
          </a:bodyPr>
          <a:lstStyle/>
          <a:p>
            <a:pPr algn="l">
              <a:lnSpc>
                <a:spcPct val="115000"/>
              </a:lnSpc>
              <a:spcAft>
                <a:spcPts val="0"/>
              </a:spcAft>
            </a:pPr>
            <a:r>
              <a:rPr sz="860" b="1">
                <a:solidFill>
                  <a:srgbClr val="E07A3F"/>
                </a:solidFill>
                <a:latin typeface="Segoe UI"/>
              </a:rPr>
              <a:t>THE DEFECT THAT ONLY MEASUREMENT COULD FIND:  </a:t>
            </a:r>
            <a:r>
              <a:rPr sz="860" b="0">
                <a:solidFill>
                  <a:srgbClr val="FFFFFF"/>
                </a:solidFill>
                <a:latin typeface="Segoe UI"/>
              </a:rPr>
              <a:t>"What happened at Sarnath and why does it matter?" abstained at 0.229 — with the correct chunk ranked FIRST — because "happened" and "matter" appear in 0 of 790 chunks and so drew maximum IDF weight. Absent entities signal out-of-scope; absent framing words signal nothing. Fixing that moved abstention 0.912 → 1.000 while out-of-scope evidence stayed at exactly 0.071.</a:t>
            </a:r>
          </a:p>
        </p:txBody>
      </p:sp>
      <p:sp>
        <p:nvSpPr>
          <p:cNvPr id="49" name="Rectangle 48"/>
          <p:cNvSpPr/>
          <p:nvPr/>
        </p:nvSpPr>
        <p:spPr>
          <a:xfrm>
            <a:off x="329184" y="6382512"/>
            <a:ext cx="11533327" cy="10972"/>
          </a:xfrm>
          <a:prstGeom prst="rect">
            <a:avLst/>
          </a:prstGeom>
          <a:solidFill>
            <a:srgbClr val="E6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329184" y="6473952"/>
            <a:ext cx="10893247" cy="256032"/>
          </a:xfrm>
          <a:prstGeom prst="rect">
            <a:avLst/>
          </a:prstGeom>
          <a:noFill/>
        </p:spPr>
        <p:txBody>
          <a:bodyPr wrap="square" lIns="0" rIns="0" tIns="0" bIns="0" anchor="t">
            <a:spAutoFit/>
          </a:bodyPr>
          <a:lstStyle/>
          <a:p>
            <a:pPr algn="l">
              <a:lnSpc>
                <a:spcPct val="100000"/>
              </a:lnSpc>
              <a:spcAft>
                <a:spcPts val="0"/>
              </a:spcAft>
            </a:pPr>
            <a:r>
              <a:rPr sz="680" b="0">
                <a:solidFill>
                  <a:srgbClr val="8A90A6"/>
                </a:solidFill>
                <a:latin typeface="Segoe UI"/>
              </a:rPr>
              <a:t>Source: python evaluation/run_rag_eval.py → evaluation/reports/rag_evaluation.md. Benchmark hand-written by the author and labelled as such.</a:t>
            </a:r>
          </a:p>
        </p:txBody>
      </p:sp>
      <p:sp>
        <p:nvSpPr>
          <p:cNvPr id="51" name="TextBox 50"/>
          <p:cNvSpPr txBox="1"/>
          <p:nvPr/>
        </p:nvSpPr>
        <p:spPr>
          <a:xfrm>
            <a:off x="11313871" y="6455664"/>
            <a:ext cx="548640" cy="274320"/>
          </a:xfrm>
          <a:prstGeom prst="rect">
            <a:avLst/>
          </a:prstGeom>
          <a:noFill/>
        </p:spPr>
        <p:txBody>
          <a:bodyPr wrap="square" lIns="0" rIns="0" tIns="0" bIns="0" anchor="t">
            <a:spAutoFit/>
          </a:bodyPr>
          <a:lstStyle/>
          <a:p>
            <a:pPr algn="r">
              <a:lnSpc>
                <a:spcPct val="100000"/>
              </a:lnSpc>
              <a:spcAft>
                <a:spcPts val="0"/>
              </a:spcAft>
            </a:pPr>
            <a:r>
              <a:rPr sz="1100" b="1">
                <a:solidFill>
                  <a:srgbClr val="42569F"/>
                </a:solidFill>
                <a:latin typeface="Segoe U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29184"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29184"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PROBLEM &amp;</a:t>
            </a:r>
          </a:p>
          <a:p>
            <a:pPr algn="ctr">
              <a:lnSpc>
                <a:spcPct val="95000"/>
              </a:lnSpc>
              <a:spcAft>
                <a:spcPts val="0"/>
              </a:spcAft>
            </a:pPr>
            <a:r>
              <a:rPr sz="750" b="1">
                <a:solidFill>
                  <a:srgbClr val="A44C1F"/>
                </a:solidFill>
                <a:latin typeface="Segoe UI"/>
              </a:rPr>
              <a:t>ARCHITECTURE</a:t>
            </a:r>
          </a:p>
        </p:txBody>
      </p:sp>
      <p:sp>
        <p:nvSpPr>
          <p:cNvPr id="5" name="Rectangle 4"/>
          <p:cNvSpPr/>
          <p:nvPr/>
        </p:nvSpPr>
        <p:spPr>
          <a:xfrm>
            <a:off x="2646822"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646822"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DATA</a:t>
            </a:r>
          </a:p>
          <a:p>
            <a:pPr algn="ctr">
              <a:lnSpc>
                <a:spcPct val="95000"/>
              </a:lnSpc>
              <a:spcAft>
                <a:spcPts val="0"/>
              </a:spcAft>
            </a:pPr>
            <a:r>
              <a:rPr sz="750" b="1">
                <a:solidFill>
                  <a:srgbClr val="A44C1F"/>
                </a:solidFill>
                <a:latin typeface="Segoe UI"/>
              </a:rPr>
              <a:t>FOUNDATION</a:t>
            </a:r>
          </a:p>
        </p:txBody>
      </p:sp>
      <p:sp>
        <p:nvSpPr>
          <p:cNvPr id="7" name="Rectangle 6"/>
          <p:cNvSpPr/>
          <p:nvPr/>
        </p:nvSpPr>
        <p:spPr>
          <a:xfrm>
            <a:off x="4964460"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964460"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RANKING &amp;</a:t>
            </a:r>
          </a:p>
          <a:p>
            <a:pPr algn="ctr">
              <a:lnSpc>
                <a:spcPct val="95000"/>
              </a:lnSpc>
              <a:spcAft>
                <a:spcPts val="0"/>
              </a:spcAft>
            </a:pPr>
            <a:r>
              <a:rPr sz="750" b="1">
                <a:solidFill>
                  <a:srgbClr val="A44C1F"/>
                </a:solidFill>
                <a:latin typeface="Segoe UI"/>
              </a:rPr>
              <a:t>FAIRNESS</a:t>
            </a:r>
          </a:p>
        </p:txBody>
      </p:sp>
      <p:sp>
        <p:nvSpPr>
          <p:cNvPr id="9" name="Rectangle 8"/>
          <p:cNvSpPr/>
          <p:nvPr/>
        </p:nvSpPr>
        <p:spPr>
          <a:xfrm>
            <a:off x="7282098" y="237744"/>
            <a:ext cx="2262774" cy="420624"/>
          </a:xfrm>
          <a:prstGeom prst="rect">
            <a:avLst/>
          </a:prstGeom>
          <a:solidFill>
            <a:srgbClr val="FAD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82098"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A44C1F"/>
                </a:solidFill>
                <a:latin typeface="Segoe UI"/>
              </a:rPr>
              <a:t>OPTIMISATION</a:t>
            </a:r>
          </a:p>
          <a:p>
            <a:pPr algn="ctr">
              <a:lnSpc>
                <a:spcPct val="95000"/>
              </a:lnSpc>
              <a:spcAft>
                <a:spcPts val="0"/>
              </a:spcAft>
            </a:pPr>
            <a:r>
              <a:rPr sz="750" b="1">
                <a:solidFill>
                  <a:srgbClr val="A44C1F"/>
                </a:solidFill>
                <a:latin typeface="Segoe UI"/>
              </a:rPr>
              <a:t>&amp; VALIDATION</a:t>
            </a:r>
          </a:p>
        </p:txBody>
      </p:sp>
      <p:sp>
        <p:nvSpPr>
          <p:cNvPr id="11" name="Rectangle 10"/>
          <p:cNvSpPr/>
          <p:nvPr/>
        </p:nvSpPr>
        <p:spPr>
          <a:xfrm>
            <a:off x="9599736" y="237744"/>
            <a:ext cx="2262774" cy="420624"/>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99736" y="301752"/>
            <a:ext cx="2262774" cy="310896"/>
          </a:xfrm>
          <a:prstGeom prst="rect">
            <a:avLst/>
          </a:prstGeom>
          <a:noFill/>
        </p:spPr>
        <p:txBody>
          <a:bodyPr wrap="square" lIns="0" rIns="0" tIns="0" bIns="0" anchor="t">
            <a:spAutoFit/>
          </a:bodyPr>
          <a:lstStyle/>
          <a:p>
            <a:pPr algn="ctr">
              <a:lnSpc>
                <a:spcPct val="95000"/>
              </a:lnSpc>
              <a:spcAft>
                <a:spcPts val="0"/>
              </a:spcAft>
            </a:pPr>
            <a:r>
              <a:rPr sz="750" b="1">
                <a:solidFill>
                  <a:srgbClr val="FFFFFF"/>
                </a:solidFill>
                <a:latin typeface="Segoe UI"/>
              </a:rPr>
              <a:t>RETRIEVAL,</a:t>
            </a:r>
          </a:p>
          <a:p>
            <a:pPr algn="ctr">
              <a:lnSpc>
                <a:spcPct val="95000"/>
              </a:lnSpc>
              <a:spcAft>
                <a:spcPts val="0"/>
              </a:spcAft>
            </a:pPr>
            <a:r>
              <a:rPr sz="750" b="1">
                <a:solidFill>
                  <a:srgbClr val="FFFFFF"/>
                </a:solidFill>
                <a:latin typeface="Segoe UI"/>
              </a:rPr>
              <a:t>TRUST &amp; RESULTS</a:t>
            </a:r>
          </a:p>
        </p:txBody>
      </p:sp>
      <p:sp>
        <p:nvSpPr>
          <p:cNvPr id="13" name="TextBox 12"/>
          <p:cNvSpPr txBox="1"/>
          <p:nvPr/>
        </p:nvSpPr>
        <p:spPr>
          <a:xfrm>
            <a:off x="329184" y="804672"/>
            <a:ext cx="11533327" cy="292608"/>
          </a:xfrm>
          <a:prstGeom prst="rect">
            <a:avLst/>
          </a:prstGeom>
          <a:noFill/>
        </p:spPr>
        <p:txBody>
          <a:bodyPr wrap="square" lIns="0" rIns="0" tIns="0" bIns="0" anchor="t">
            <a:spAutoFit/>
          </a:bodyPr>
          <a:lstStyle/>
          <a:p>
            <a:pPr algn="l">
              <a:lnSpc>
                <a:spcPct val="100000"/>
              </a:lnSpc>
              <a:spcAft>
                <a:spcPts val="0"/>
              </a:spcAft>
            </a:pPr>
            <a:r>
              <a:rPr sz="1700" b="1">
                <a:solidFill>
                  <a:srgbClr val="23306B"/>
                </a:solidFill>
                <a:latin typeface="Segoe UI"/>
              </a:rPr>
              <a:t>SECURITY, PRIVACY &amp; THE HONESTY CONTRACT</a:t>
            </a:r>
          </a:p>
        </p:txBody>
      </p:sp>
      <p:sp>
        <p:nvSpPr>
          <p:cNvPr id="14" name="Rectangle 13"/>
          <p:cNvSpPr/>
          <p:nvPr/>
        </p:nvSpPr>
        <p:spPr>
          <a:xfrm>
            <a:off x="329184" y="1133856"/>
            <a:ext cx="11533327" cy="20116"/>
          </a:xfrm>
          <a:prstGeom prst="rect">
            <a:avLst/>
          </a:prstGeom>
          <a:solidFill>
            <a:srgbClr val="233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29184" y="1298448"/>
            <a:ext cx="5577840" cy="274320"/>
          </a:xfrm>
          <a:prstGeom prst="rect">
            <a:avLst/>
          </a:prstGeom>
          <a:solidFill>
            <a:srgbClr val="A9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20623" y="1348739"/>
            <a:ext cx="5394959"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SECURITY — THREATS THAT ACTUALLY APPLY, AND THE CONTROL FOR EACH</a:t>
            </a:r>
          </a:p>
        </p:txBody>
      </p:sp>
      <p:graphicFrame>
        <p:nvGraphicFramePr>
          <p:cNvPr id="17" name="Table 16"/>
          <p:cNvGraphicFramePr>
            <a:graphicFrameLocks noGrp="1"/>
          </p:cNvGraphicFramePr>
          <p:nvPr/>
        </p:nvGraphicFramePr>
        <p:xfrm>
          <a:off x="329184" y="1591056"/>
          <a:ext cx="5577839" cy="2231136"/>
        </p:xfrm>
        <a:graphic>
          <a:graphicData uri="http://schemas.openxmlformats.org/drawingml/2006/table">
            <a:tbl>
              <a:tblPr>
                <a:tableStyleId>{5C22544A-7EE6-4342-B048-85BDC9FD1C3A}</a:tableStyleId>
              </a:tblPr>
              <a:tblGrid>
                <a:gridCol w="2038056"/>
                <a:gridCol w="3539783"/>
              </a:tblGrid>
              <a:tr h="246888">
                <a:tc>
                  <a:txBody>
                    <a:bodyPr wrap="square"/>
                    <a:lstStyle/>
                    <a:p>
                      <a:pPr algn="l"/>
                      <a:r>
                        <a:rPr sz="740" b="1">
                          <a:solidFill>
                            <a:srgbClr val="FFFFFF"/>
                          </a:solidFill>
                          <a:latin typeface="Segoe UI"/>
                        </a:rPr>
                        <a:t>THREAT</a:t>
                      </a:r>
                    </a:p>
                  </a:txBody>
                  <a:tcPr marL="54864" marR="54864" marT="18288" marB="18288" anchor="ctr">
                    <a:solidFill>
                      <a:srgbClr val="A94545"/>
                    </a:solidFill>
                  </a:tcPr>
                </a:tc>
                <a:tc>
                  <a:txBody>
                    <a:bodyPr wrap="square"/>
                    <a:lstStyle/>
                    <a:p>
                      <a:pPr algn="l"/>
                      <a:r>
                        <a:rPr sz="740" b="1">
                          <a:solidFill>
                            <a:srgbClr val="FFFFFF"/>
                          </a:solidFill>
                          <a:latin typeface="Segoe UI"/>
                        </a:rPr>
                        <a:t>CONTROL</a:t>
                      </a:r>
                    </a:p>
                  </a:txBody>
                  <a:tcPr marL="54864" marR="54864" marT="18288" marB="18288" anchor="ctr">
                    <a:solidFill>
                      <a:srgbClr val="A94545"/>
                    </a:solidFill>
                  </a:tcPr>
                </a:tc>
              </a:tr>
              <a:tr h="283464">
                <a:tc>
                  <a:txBody>
                    <a:bodyPr wrap="square"/>
                    <a:lstStyle/>
                    <a:p>
                      <a:pPr algn="l"/>
                      <a:r>
                        <a:rPr sz="730" b="1">
                          <a:solidFill>
                            <a:srgbClr val="1A1D2E"/>
                          </a:solidFill>
                          <a:latin typeface="Segoe UI"/>
                        </a:rPr>
                        <a:t>Credential compromise</a:t>
                      </a:r>
                    </a:p>
                  </a:txBody>
                  <a:tcPr marL="54864" marR="54864" marT="18288" marB="18288" anchor="ctr">
                    <a:solidFill>
                      <a:srgbClr val="FFFFFF"/>
                    </a:solidFill>
                  </a:tcPr>
                </a:tc>
                <a:tc>
                  <a:txBody>
                    <a:bodyPr wrap="square"/>
                    <a:lstStyle/>
                    <a:p>
                      <a:pPr algn="l"/>
                      <a:r>
                        <a:rPr sz="730" b="0">
                          <a:solidFill>
                            <a:srgbClr val="1A1D2E"/>
                          </a:solidFill>
                          <a:latin typeface="Segoe UI"/>
                        </a:rPr>
                        <a:t>bcrypt (rounds=12) with a SHA-256 pre-hash — bcrypt silently truncates at 72 bytes</a:t>
                      </a:r>
                    </a:p>
                  </a:txBody>
                  <a:tcPr marL="54864" marR="54864" marT="18288" marB="18288" anchor="ctr">
                    <a:solidFill>
                      <a:srgbClr val="FFFFFF"/>
                    </a:solidFill>
                  </a:tcPr>
                </a:tc>
              </a:tr>
              <a:tr h="283464">
                <a:tc>
                  <a:txBody>
                    <a:bodyPr wrap="square"/>
                    <a:lstStyle/>
                    <a:p>
                      <a:pPr algn="l"/>
                      <a:r>
                        <a:rPr sz="730" b="1">
                          <a:solidFill>
                            <a:srgbClr val="1A1D2E"/>
                          </a:solidFill>
                          <a:latin typeface="Segoe UI"/>
                        </a:rPr>
                        <a:t>Token forgery</a:t>
                      </a:r>
                    </a:p>
                  </a:txBody>
                  <a:tcPr marL="54864" marR="54864" marT="18288" marB="18288" anchor="ctr">
                    <a:solidFill>
                      <a:srgbClr val="FDFBF7"/>
                    </a:solidFill>
                  </a:tcPr>
                </a:tc>
                <a:tc>
                  <a:txBody>
                    <a:bodyPr wrap="square"/>
                    <a:lstStyle/>
                    <a:p>
                      <a:pPr algn="l"/>
                      <a:r>
                        <a:rPr sz="730" b="0">
                          <a:solidFill>
                            <a:srgbClr val="1A1D2E"/>
                          </a:solidFill>
                          <a:latin typeface="Segoe UI"/>
                        </a:rPr>
                        <a:t>HS256 JWT, signature + issuer + expiry verified; Supabase tokens accepted</a:t>
                      </a:r>
                    </a:p>
                  </a:txBody>
                  <a:tcPr marL="54864" marR="54864" marT="18288" marB="18288" anchor="ctr">
                    <a:solidFill>
                      <a:srgbClr val="FDFBF7"/>
                    </a:solidFill>
                  </a:tcPr>
                </a:tc>
              </a:tr>
              <a:tr h="283464">
                <a:tc>
                  <a:txBody>
                    <a:bodyPr wrap="square"/>
                    <a:lstStyle/>
                    <a:p>
                      <a:pPr algn="l"/>
                      <a:r>
                        <a:rPr sz="730" b="1">
                          <a:solidFill>
                            <a:srgbClr val="1A1D2E"/>
                          </a:solidFill>
                          <a:latin typeface="Segoe UI"/>
                        </a:rPr>
                        <a:t>Horizontal escalation</a:t>
                      </a:r>
                    </a:p>
                  </a:txBody>
                  <a:tcPr marL="54864" marR="54864" marT="18288" marB="18288" anchor="ctr">
                    <a:solidFill>
                      <a:srgbClr val="FFFFFF"/>
                    </a:solidFill>
                  </a:tcPr>
                </a:tc>
                <a:tc>
                  <a:txBody>
                    <a:bodyPr wrap="square"/>
                    <a:lstStyle/>
                    <a:p>
                      <a:pPr algn="l"/>
                      <a:r>
                        <a:rPr sz="730" b="0">
                          <a:solidFill>
                            <a:srgbClr val="1A1D2E"/>
                          </a:solidFill>
                          <a:latin typeface="Segoe UI"/>
                        </a:rPr>
                        <a:t>require_trip_member / require_trip_owner as dependencies on every trip route</a:t>
                      </a:r>
                    </a:p>
                  </a:txBody>
                  <a:tcPr marL="54864" marR="54864" marT="18288" marB="18288" anchor="ctr">
                    <a:solidFill>
                      <a:srgbClr val="FFFFFF"/>
                    </a:solidFill>
                  </a:tcPr>
                </a:tc>
              </a:tr>
              <a:tr h="283464">
                <a:tc>
                  <a:txBody>
                    <a:bodyPr wrap="square"/>
                    <a:lstStyle/>
                    <a:p>
                      <a:pPr algn="l"/>
                      <a:r>
                        <a:rPr sz="730" b="1">
                          <a:solidFill>
                            <a:srgbClr val="1A1D2E"/>
                          </a:solidFill>
                          <a:latin typeface="Segoe UI"/>
                        </a:rPr>
                        <a:t>Cost / DoS</a:t>
                      </a:r>
                    </a:p>
                  </a:txBody>
                  <a:tcPr marL="54864" marR="54864" marT="18288" marB="18288" anchor="ctr">
                    <a:solidFill>
                      <a:srgbClr val="FDFBF7"/>
                    </a:solidFill>
                  </a:tcPr>
                </a:tc>
                <a:tc>
                  <a:txBody>
                    <a:bodyPr wrap="square"/>
                    <a:lstStyle/>
                    <a:p>
                      <a:pPr algn="l"/>
                      <a:r>
                        <a:rPr sz="730" b="0">
                          <a:solidFill>
                            <a:srgbClr val="1A1D2E"/>
                          </a:solidFill>
                          <a:latin typeface="Segoe UI"/>
                        </a:rPr>
                        <a:t>Two-tier sliding window — 120 req/min default, 15 req/min on optimiser and RAG</a:t>
                      </a:r>
                    </a:p>
                  </a:txBody>
                  <a:tcPr marL="54864" marR="54864" marT="18288" marB="18288" anchor="ctr">
                    <a:solidFill>
                      <a:srgbClr val="FDFBF7"/>
                    </a:solidFill>
                  </a:tcPr>
                </a:tc>
              </a:tr>
              <a:tr h="283464">
                <a:tc>
                  <a:txBody>
                    <a:bodyPr wrap="square"/>
                    <a:lstStyle/>
                    <a:p>
                      <a:pPr algn="l"/>
                      <a:r>
                        <a:rPr sz="730" b="1">
                          <a:solidFill>
                            <a:srgbClr val="1A1D2E"/>
                          </a:solidFill>
                          <a:latin typeface="Segoe UI"/>
                        </a:rPr>
                        <a:t>Prompt injection</a:t>
                      </a:r>
                    </a:p>
                  </a:txBody>
                  <a:tcPr marL="54864" marR="54864" marT="18288" marB="18288" anchor="ctr">
                    <a:solidFill>
                      <a:srgbClr val="FFFFFF"/>
                    </a:solidFill>
                  </a:tcPr>
                </a:tc>
                <a:tc>
                  <a:txBody>
                    <a:bodyPr wrap="square"/>
                    <a:lstStyle/>
                    <a:p>
                      <a:pPr algn="l"/>
                      <a:r>
                        <a:rPr sz="730" b="0">
                          <a:solidFill>
                            <a:srgbClr val="1A1D2E"/>
                          </a:solidFill>
                          <a:latin typeface="Segoe UI"/>
                        </a:rPr>
                        <a:t>Detected on the question, neutralised on every retrieved chunk, injection-aware system prompt</a:t>
                      </a:r>
                    </a:p>
                  </a:txBody>
                  <a:tcPr marL="54864" marR="54864" marT="18288" marB="18288" anchor="ctr">
                    <a:solidFill>
                      <a:srgbClr val="FFFFFF"/>
                    </a:solidFill>
                  </a:tcPr>
                </a:tc>
              </a:tr>
              <a:tr h="283464">
                <a:tc>
                  <a:txBody>
                    <a:bodyPr wrap="square"/>
                    <a:lstStyle/>
                    <a:p>
                      <a:pPr algn="l"/>
                      <a:r>
                        <a:rPr sz="730" b="1">
                          <a:solidFill>
                            <a:srgbClr val="1A1D2E"/>
                          </a:solidFill>
                          <a:latin typeface="Segoe UI"/>
                        </a:rPr>
                        <a:t>Data poisoning</a:t>
                      </a:r>
                    </a:p>
                  </a:txBody>
                  <a:tcPr marL="54864" marR="54864" marT="18288" marB="18288" anchor="ctr">
                    <a:solidFill>
                      <a:srgbClr val="FDFBF7"/>
                    </a:solidFill>
                  </a:tcPr>
                </a:tc>
                <a:tc>
                  <a:txBody>
                    <a:bodyPr wrap="square"/>
                    <a:lstStyle/>
                    <a:p>
                      <a:pPr algn="l"/>
                      <a:r>
                        <a:rPr sz="730" b="0">
                          <a:solidFill>
                            <a:srgbClr val="1A1D2E"/>
                          </a:solidFill>
                          <a:latin typeface="Segoe UI"/>
                        </a:rPr>
                        <a:t>Source-domain allow-list enforced at the Silver gate</a:t>
                      </a:r>
                    </a:p>
                  </a:txBody>
                  <a:tcPr marL="54864" marR="54864" marT="18288" marB="18288" anchor="ctr">
                    <a:solidFill>
                      <a:srgbClr val="FDFBF7"/>
                    </a:solidFill>
                  </a:tcPr>
                </a:tc>
              </a:tr>
              <a:tr h="283464">
                <a:tc>
                  <a:txBody>
                    <a:bodyPr wrap="square"/>
                    <a:lstStyle/>
                    <a:p>
                      <a:pPr algn="l"/>
                      <a:r>
                        <a:rPr sz="730" b="1">
                          <a:solidFill>
                            <a:srgbClr val="1A1D2E"/>
                          </a:solidFill>
                          <a:latin typeface="Segoe UI"/>
                        </a:rPr>
                        <a:t>Secret leakage</a:t>
                      </a:r>
                    </a:p>
                  </a:txBody>
                  <a:tcPr marL="54864" marR="54864" marT="18288" marB="18288" anchor="ctr">
                    <a:solidFill>
                      <a:srgbClr val="FFFFFF"/>
                    </a:solidFill>
                  </a:tcPr>
                </a:tc>
                <a:tc>
                  <a:txBody>
                    <a:bodyPr wrap="square"/>
                    <a:lstStyle/>
                    <a:p>
                      <a:pPr algn="l"/>
                      <a:r>
                        <a:rPr sz="730" b="0">
                          <a:solidFill>
                            <a:srgbClr val="1A1D2E"/>
                          </a:solidFill>
                          <a:latin typeface="Segoe UI"/>
                        </a:rPr>
                        <a:t>.env git-ignored; .env.example holds names only; production boot guard refuses weak config</a:t>
                      </a:r>
                    </a:p>
                  </a:txBody>
                  <a:tcPr marL="54864" marR="54864" marT="18288" marB="18288" anchor="ctr">
                    <a:solidFill>
                      <a:srgbClr val="FFFFFF"/>
                    </a:solidFill>
                  </a:tcPr>
                </a:tc>
              </a:tr>
            </a:tbl>
          </a:graphicData>
        </a:graphic>
      </p:graphicFrame>
      <p:sp>
        <p:nvSpPr>
          <p:cNvPr id="18" name="Rectangle 17"/>
          <p:cNvSpPr/>
          <p:nvPr/>
        </p:nvSpPr>
        <p:spPr>
          <a:xfrm>
            <a:off x="329184" y="3913632"/>
            <a:ext cx="5577840" cy="274320"/>
          </a:xfrm>
          <a:prstGeom prst="rect">
            <a:avLst/>
          </a:prstGeom>
          <a:solidFill>
            <a:srgbClr val="4256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20623" y="3963924"/>
            <a:ext cx="5394959"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PRODUCTION BOOT GUARD</a:t>
            </a:r>
          </a:p>
        </p:txBody>
      </p:sp>
      <p:sp>
        <p:nvSpPr>
          <p:cNvPr id="20" name="Rectangle 19"/>
          <p:cNvSpPr/>
          <p:nvPr/>
        </p:nvSpPr>
        <p:spPr>
          <a:xfrm>
            <a:off x="329184" y="4187952"/>
            <a:ext cx="5577840" cy="914400"/>
          </a:xfrm>
          <a:prstGeom prst="rect">
            <a:avLst/>
          </a:prstGeom>
          <a:solidFill>
            <a:srgbClr val="FFFFFF"/>
          </a:solidFill>
          <a:ln w="9525">
            <a:solidFill>
              <a:srgbClr val="E6E1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57200" y="4297680"/>
            <a:ext cx="5321808" cy="768096"/>
          </a:xfrm>
          <a:prstGeom prst="rect">
            <a:avLst/>
          </a:prstGeom>
          <a:noFill/>
        </p:spPr>
        <p:txBody>
          <a:bodyPr wrap="square" lIns="0" rIns="0" tIns="0" bIns="0" anchor="t">
            <a:spAutoFit/>
          </a:bodyPr>
          <a:lstStyle/>
          <a:p>
            <a:pPr algn="l">
              <a:lnSpc>
                <a:spcPct val="118000"/>
              </a:lnSpc>
              <a:spcAft>
                <a:spcPts val="0"/>
              </a:spcAft>
            </a:pPr>
            <a:r>
              <a:rPr sz="810" b="1">
                <a:solidFill>
                  <a:srgbClr val="23306B"/>
                </a:solidFill>
                <a:latin typeface="Segoe UI"/>
              </a:rPr>
              <a:t>With YATRA_ENV=production the API refuses to start if:</a:t>
            </a:r>
          </a:p>
          <a:p>
            <a:pPr algn="l">
              <a:lnSpc>
                <a:spcPct val="118000"/>
              </a:lnSpc>
              <a:spcAft>
                <a:spcPts val="0"/>
              </a:spcAft>
            </a:pPr>
            <a:r>
              <a:rPr sz="810" b="0">
                <a:solidFill>
                  <a:srgbClr val="5B6178"/>
                </a:solidFill>
                <a:latin typeface="Segoe UI"/>
              </a:rPr>
              <a:t>JWT_SECRET is under 32 chars or contains 'dev-only' · DATABASE_URL is unset (the SQLite fallback is refused) · any non-localhost CORS origin uses plain http:// · a named LLM provider has no API key.</a:t>
            </a:r>
          </a:p>
        </p:txBody>
      </p:sp>
      <p:sp>
        <p:nvSpPr>
          <p:cNvPr id="22" name="Rectangle 21"/>
          <p:cNvSpPr/>
          <p:nvPr/>
        </p:nvSpPr>
        <p:spPr>
          <a:xfrm>
            <a:off x="6126480" y="1298448"/>
            <a:ext cx="5736031" cy="274320"/>
          </a:xfrm>
          <a:prstGeom prst="rect">
            <a:avLst/>
          </a:prstGeom>
          <a:solidFill>
            <a:srgbClr val="0F7B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17920" y="1348739"/>
            <a:ext cx="5553151"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PRIVACY — EVERY GUARANTEE IS ENFORCED IN CODE AND COVERED BY A TEST</a:t>
            </a:r>
          </a:p>
        </p:txBody>
      </p:sp>
      <p:graphicFrame>
        <p:nvGraphicFramePr>
          <p:cNvPr id="24" name="Table 23"/>
          <p:cNvGraphicFramePr>
            <a:graphicFrameLocks noGrp="1"/>
          </p:cNvGraphicFramePr>
          <p:nvPr/>
        </p:nvGraphicFramePr>
        <p:xfrm>
          <a:off x="6126480" y="1591056"/>
          <a:ext cx="5736030" cy="2029968"/>
        </p:xfrm>
        <a:graphic>
          <a:graphicData uri="http://schemas.openxmlformats.org/drawingml/2006/table">
            <a:tbl>
              <a:tblPr>
                <a:tableStyleId>{5C22544A-7EE6-4342-B048-85BDC9FD1C3A}</a:tableStyleId>
              </a:tblPr>
              <a:tblGrid>
                <a:gridCol w="1954032"/>
                <a:gridCol w="3781998"/>
              </a:tblGrid>
              <a:tr h="246888">
                <a:tc>
                  <a:txBody>
                    <a:bodyPr wrap="square"/>
                    <a:lstStyle/>
                    <a:p>
                      <a:pPr algn="l"/>
                      <a:r>
                        <a:rPr sz="740" b="1">
                          <a:solidFill>
                            <a:srgbClr val="FFFFFF"/>
                          </a:solidFill>
                          <a:latin typeface="Segoe UI"/>
                        </a:rPr>
                        <a:t>GUARANTEE</a:t>
                      </a:r>
                    </a:p>
                  </a:txBody>
                  <a:tcPr marL="54864" marR="54864" marT="18288" marB="18288" anchor="ctr">
                    <a:solidFill>
                      <a:srgbClr val="0F7B6C"/>
                    </a:solidFill>
                  </a:tcPr>
                </a:tc>
                <a:tc>
                  <a:txBody>
                    <a:bodyPr wrap="square"/>
                    <a:lstStyle/>
                    <a:p>
                      <a:pPr algn="l"/>
                      <a:r>
                        <a:rPr sz="740" b="1">
                          <a:solidFill>
                            <a:srgbClr val="FFFFFF"/>
                          </a:solidFill>
                          <a:latin typeface="Segoe UI"/>
                        </a:rPr>
                        <a:t>IMPLEMENTATION</a:t>
                      </a:r>
                    </a:p>
                  </a:txBody>
                  <a:tcPr marL="54864" marR="54864" marT="18288" marB="18288" anchor="ctr">
                    <a:solidFill>
                      <a:srgbClr val="0F7B6C"/>
                    </a:solidFill>
                  </a:tcPr>
                </a:tc>
              </a:tr>
              <a:tr h="297180">
                <a:tc>
                  <a:txBody>
                    <a:bodyPr wrap="square"/>
                    <a:lstStyle/>
                    <a:p>
                      <a:pPr algn="l"/>
                      <a:r>
                        <a:rPr sz="730" b="1">
                          <a:solidFill>
                            <a:srgbClr val="1A1D2E"/>
                          </a:solidFill>
                          <a:latin typeface="Segoe UI"/>
                        </a:rPr>
                        <a:t>Opt-in only</a:t>
                      </a:r>
                    </a:p>
                  </a:txBody>
                  <a:tcPr marL="54864" marR="54864" marT="18288" marB="18288" anchor="ctr">
                    <a:solidFill>
                      <a:srgbClr val="FFFFFF"/>
                    </a:solidFill>
                  </a:tcPr>
                </a:tc>
                <a:tc>
                  <a:txBody>
                    <a:bodyPr wrap="square"/>
                    <a:lstStyle/>
                    <a:p>
                      <a:pPr algn="l"/>
                      <a:r>
                        <a:rPr sz="730" b="0">
                          <a:solidFill>
                            <a:srgbClr val="1A1D2E"/>
                          </a:solidFill>
                          <a:latin typeface="Segoe UI"/>
                        </a:rPr>
                        <a:t>No session without consent_granted_at + a stored consent-text version</a:t>
                      </a:r>
                    </a:p>
                  </a:txBody>
                  <a:tcPr marL="54864" marR="54864" marT="18288" marB="18288" anchor="ctr">
                    <a:solidFill>
                      <a:srgbClr val="FFFFFF"/>
                    </a:solidFill>
                  </a:tcPr>
                </a:tc>
              </a:tr>
              <a:tr h="297180">
                <a:tc>
                  <a:txBody>
                    <a:bodyPr wrap="square"/>
                    <a:lstStyle/>
                    <a:p>
                      <a:pPr algn="l"/>
                      <a:r>
                        <a:rPr sz="730" b="1">
                          <a:solidFill>
                            <a:srgbClr val="1A1D2E"/>
                          </a:solidFill>
                          <a:latin typeface="Segoe UI"/>
                        </a:rPr>
                        <a:t>Approximate by default</a:t>
                      </a:r>
                    </a:p>
                  </a:txBody>
                  <a:tcPr marL="54864" marR="54864" marT="18288" marB="18288" anchor="ctr">
                    <a:solidFill>
                      <a:srgbClr val="FDFBF7"/>
                    </a:solidFill>
                  </a:tcPr>
                </a:tc>
                <a:tc>
                  <a:txBody>
                    <a:bodyPr wrap="square"/>
                    <a:lstStyle/>
                    <a:p>
                      <a:pPr algn="l"/>
                      <a:r>
                        <a:rPr sz="730" b="0">
                          <a:solidFill>
                            <a:srgbClr val="1A1D2E"/>
                          </a:solidFill>
                          <a:latin typeface="Segoe UI"/>
                        </a:rPr>
                        <a:t>Snapped to a ~500 m grid BEFORE storage — the exact point is never written</a:t>
                      </a:r>
                    </a:p>
                  </a:txBody>
                  <a:tcPr marL="54864" marR="54864" marT="18288" marB="18288" anchor="ctr">
                    <a:solidFill>
                      <a:srgbClr val="FDFBF7"/>
                    </a:solidFill>
                  </a:tcPr>
                </a:tc>
              </a:tr>
              <a:tr h="297180">
                <a:tc>
                  <a:txBody>
                    <a:bodyPr wrap="square"/>
                    <a:lstStyle/>
                    <a:p>
                      <a:pPr algn="l"/>
                      <a:r>
                        <a:rPr sz="730" b="1">
                          <a:solidFill>
                            <a:srgbClr val="1A1D2E"/>
                          </a:solidFill>
                          <a:latin typeface="Segoe UI"/>
                        </a:rPr>
                        <a:t>Always expiring</a:t>
                      </a:r>
                    </a:p>
                  </a:txBody>
                  <a:tcPr marL="54864" marR="54864" marT="18288" marB="18288" anchor="ctr">
                    <a:solidFill>
                      <a:srgbClr val="FFFFFF"/>
                    </a:solidFill>
                  </a:tcPr>
                </a:tc>
                <a:tc>
                  <a:txBody>
                    <a:bodyPr wrap="square"/>
                    <a:lstStyle/>
                    <a:p>
                      <a:pPr algn="l"/>
                      <a:r>
                        <a:rPr sz="730" b="0">
                          <a:solidFill>
                            <a:srgbClr val="1A1D2E"/>
                          </a:solidFill>
                          <a:latin typeface="Segoe UI"/>
                        </a:rPr>
                        <a:t>12 h hard cap per session; every point carries its own expiry</a:t>
                      </a:r>
                    </a:p>
                  </a:txBody>
                  <a:tcPr marL="54864" marR="54864" marT="18288" marB="18288" anchor="ctr">
                    <a:solidFill>
                      <a:srgbClr val="FFFFFF"/>
                    </a:solidFill>
                  </a:tcPr>
                </a:tc>
              </a:tr>
              <a:tr h="297180">
                <a:tc>
                  <a:txBody>
                    <a:bodyPr wrap="square"/>
                    <a:lstStyle/>
                    <a:p>
                      <a:pPr algn="l"/>
                      <a:r>
                        <a:rPr sz="730" b="1">
                          <a:solidFill>
                            <a:srgbClr val="1A1D2E"/>
                          </a:solidFill>
                          <a:latin typeface="Segoe UI"/>
                        </a:rPr>
                        <a:t>Stop means delete</a:t>
                      </a:r>
                    </a:p>
                  </a:txBody>
                  <a:tcPr marL="54864" marR="54864" marT="18288" marB="18288" anchor="ctr">
                    <a:solidFill>
                      <a:srgbClr val="FDFBF7"/>
                    </a:solidFill>
                  </a:tcPr>
                </a:tc>
                <a:tc>
                  <a:txBody>
                    <a:bodyPr wrap="square"/>
                    <a:lstStyle/>
                    <a:p>
                      <a:pPr algn="l"/>
                      <a:r>
                        <a:rPr sz="730" b="0">
                          <a:solidFill>
                            <a:srgbClr val="1A1D2E"/>
                          </a:solidFill>
                          <a:latin typeface="Segoe UI"/>
                        </a:rPr>
                        <a:t>Stopping deletes the trail immediately, not just hides it</a:t>
                      </a:r>
                    </a:p>
                  </a:txBody>
                  <a:tcPr marL="54864" marR="54864" marT="18288" marB="18288" anchor="ctr">
                    <a:solidFill>
                      <a:srgbClr val="FDFBF7"/>
                    </a:solidFill>
                  </a:tcPr>
                </a:tc>
              </a:tr>
              <a:tr h="297180">
                <a:tc>
                  <a:txBody>
                    <a:bodyPr wrap="square"/>
                    <a:lstStyle/>
                    <a:p>
                      <a:pPr algn="l"/>
                      <a:r>
                        <a:rPr sz="730" b="1">
                          <a:solidFill>
                            <a:srgbClr val="1A1D2E"/>
                          </a:solidFill>
                          <a:latin typeface="Segoe UI"/>
                        </a:rPr>
                        <a:t>Never in analytics</a:t>
                      </a:r>
                    </a:p>
                  </a:txBody>
                  <a:tcPr marL="54864" marR="54864" marT="18288" marB="18288" anchor="ctr">
                    <a:solidFill>
                      <a:srgbClr val="FFFFFF"/>
                    </a:solidFill>
                  </a:tcPr>
                </a:tc>
                <a:tc>
                  <a:txBody>
                    <a:bodyPr wrap="square"/>
                    <a:lstStyle/>
                    <a:p>
                      <a:pPr algn="l"/>
                      <a:r>
                        <a:rPr sz="730" b="0">
                          <a:solidFill>
                            <a:srgbClr val="1A1D2E"/>
                          </a:solidFill>
                          <a:latin typeface="Segoe UI"/>
                        </a:rPr>
                        <a:t>Coordinate-like keys stripped at write time; a test posts a real coordinate and asserts it appears nowhere</a:t>
                      </a:r>
                    </a:p>
                  </a:txBody>
                  <a:tcPr marL="54864" marR="54864" marT="18288" marB="18288" anchor="ctr">
                    <a:solidFill>
                      <a:srgbClr val="FFFFFF"/>
                    </a:solidFill>
                  </a:tcPr>
                </a:tc>
              </a:tr>
              <a:tr h="297180">
                <a:tc>
                  <a:txBody>
                    <a:bodyPr wrap="square"/>
                    <a:lstStyle/>
                    <a:p>
                      <a:pPr algn="l"/>
                      <a:r>
                        <a:rPr sz="730" b="1">
                          <a:solidFill>
                            <a:srgbClr val="1A1D2E"/>
                          </a:solidFill>
                          <a:latin typeface="Segoe UI"/>
                        </a:rPr>
                        <a:t>No location history</a:t>
                      </a:r>
                    </a:p>
                  </a:txBody>
                  <a:tcPr marL="54864" marR="54864" marT="18288" marB="18288" anchor="ctr">
                    <a:solidFill>
                      <a:srgbClr val="FDFBF7"/>
                    </a:solidFill>
                  </a:tcPr>
                </a:tc>
                <a:tc>
                  <a:txBody>
                    <a:bodyPr wrap="square"/>
                    <a:lstStyle/>
                    <a:p>
                      <a:pPr algn="l"/>
                      <a:r>
                        <a:rPr sz="730" b="0">
                          <a:solidFill>
                            <a:srgbClr val="1A1D2E"/>
                          </a:solidFill>
                          <a:latin typeface="Segoe UI"/>
                        </a:rPr>
                        <a:t>There is no table that could hold one</a:t>
                      </a:r>
                    </a:p>
                  </a:txBody>
                  <a:tcPr marL="54864" marR="54864" marT="18288" marB="18288" anchor="ctr">
                    <a:solidFill>
                      <a:srgbClr val="FDFBF7"/>
                    </a:solidFill>
                  </a:tcPr>
                </a:tc>
              </a:tr>
            </a:tbl>
          </a:graphicData>
        </a:graphic>
      </p:graphicFrame>
      <p:sp>
        <p:nvSpPr>
          <p:cNvPr id="25" name="Rectangle 24"/>
          <p:cNvSpPr/>
          <p:nvPr/>
        </p:nvSpPr>
        <p:spPr>
          <a:xfrm>
            <a:off x="6126480" y="3712463"/>
            <a:ext cx="5736031" cy="274320"/>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17920" y="3762755"/>
            <a:ext cx="5553151" cy="201167"/>
          </a:xfrm>
          <a:prstGeom prst="rect">
            <a:avLst/>
          </a:prstGeom>
          <a:noFill/>
        </p:spPr>
        <p:txBody>
          <a:bodyPr wrap="square" lIns="0" rIns="0" tIns="0" bIns="0" anchor="t">
            <a:spAutoFit/>
          </a:bodyPr>
          <a:lstStyle/>
          <a:p>
            <a:pPr algn="l">
              <a:lnSpc>
                <a:spcPct val="100000"/>
              </a:lnSpc>
              <a:spcAft>
                <a:spcPts val="0"/>
              </a:spcAft>
            </a:pPr>
            <a:r>
              <a:rPr sz="950" b="1">
                <a:solidFill>
                  <a:srgbClr val="FFFFFF"/>
                </a:solidFill>
                <a:latin typeface="Segoe UI"/>
              </a:rPr>
              <a:t>THE HONESTY CONTRACT — FOUR CLAIMS THE CODE ENFORCES</a:t>
            </a:r>
          </a:p>
        </p:txBody>
      </p:sp>
      <p:sp>
        <p:nvSpPr>
          <p:cNvPr id="27" name="Rectangle 26"/>
          <p:cNvSpPr/>
          <p:nvPr/>
        </p:nvSpPr>
        <p:spPr>
          <a:xfrm>
            <a:off x="6126480" y="4005072"/>
            <a:ext cx="5736031" cy="1700784"/>
          </a:xfrm>
          <a:prstGeom prst="rect">
            <a:avLst/>
          </a:prstGeom>
          <a:solidFill>
            <a:srgbClr val="FDF2EA"/>
          </a:solidFill>
          <a:ln w="9525">
            <a:solidFill>
              <a:srgbClr val="FADFC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54496" y="4114800"/>
            <a:ext cx="5479999" cy="1517904"/>
          </a:xfrm>
          <a:prstGeom prst="rect">
            <a:avLst/>
          </a:prstGeom>
          <a:noFill/>
        </p:spPr>
        <p:txBody>
          <a:bodyPr wrap="square" lIns="0" rIns="0" tIns="0" bIns="0" anchor="t">
            <a:spAutoFit/>
          </a:bodyPr>
          <a:lstStyle/>
          <a:p>
            <a:pPr algn="l">
              <a:lnSpc>
                <a:spcPct val="118000"/>
              </a:lnSpc>
              <a:spcAft>
                <a:spcPts val="0"/>
              </a:spcAft>
            </a:pPr>
            <a:r>
              <a:rPr sz="810" b="1">
                <a:solidFill>
                  <a:srgbClr val="A44C1F"/>
                </a:solidFill>
                <a:latin typeface="Segoe UI"/>
              </a:rPr>
              <a:t>1  No verified hours or fees.  </a:t>
            </a:r>
            <a:r>
              <a:rPr sz="810" b="0">
                <a:solidFill>
                  <a:srgbClr val="5B6178"/>
                </a:solidFill>
                <a:latin typeface="Segoe UI"/>
              </a:rPr>
              <a:t>A data-quality test fails the build if a row ever claims otherwise.</a:t>
            </a:r>
          </a:p>
          <a:p>
            <a:pPr algn="l">
              <a:lnSpc>
                <a:spcPct val="118000"/>
              </a:lnSpc>
              <a:spcAft>
                <a:spcPts val="0"/>
              </a:spcAft>
            </a:pPr>
            <a:r>
              <a:rPr sz="810" b="1">
                <a:solidFill>
                  <a:srgbClr val="A44C1F"/>
                </a:solidFill>
                <a:latin typeface="Segoe UI"/>
              </a:rPr>
              <a:t>2  Cited or silent.  </a:t>
            </a:r>
            <a:r>
              <a:rPr sz="810" b="0">
                <a:solidFill>
                  <a:srgbClr val="5B6178"/>
                </a:solidFill>
                <a:latin typeface="Segoe UI"/>
              </a:rPr>
              <a:t>The assistant abstains rather than guessing, and states plainly when a value is recorded rather than live.</a:t>
            </a:r>
          </a:p>
          <a:p>
            <a:pPr algn="l">
              <a:lnSpc>
                <a:spcPct val="118000"/>
              </a:lnSpc>
              <a:spcAft>
                <a:spcPts val="0"/>
              </a:spcAft>
            </a:pPr>
            <a:r>
              <a:rPr sz="810" b="1">
                <a:solidFill>
                  <a:srgbClr val="A44C1F"/>
                </a:solidFill>
                <a:latin typeface="Segoe UI"/>
              </a:rPr>
              <a:t>3  SOS is a demonstration.  </a:t>
            </a:r>
            <a:r>
              <a:rPr sz="810" b="0">
                <a:solidFill>
                  <a:srgbClr val="5B6178"/>
                </a:solidFill>
                <a:latin typeface="Segoe UI"/>
              </a:rPr>
              <a:t>It contacts nobody — stated in the OpenAPI description, the response body, the UI, and the chat message it posts, and it refuses to fire without an explicit acknowledgement flag.</a:t>
            </a:r>
          </a:p>
          <a:p>
            <a:pPr algn="l">
              <a:lnSpc>
                <a:spcPct val="118000"/>
              </a:lnSpc>
              <a:spcAft>
                <a:spcPts val="0"/>
              </a:spcAft>
            </a:pPr>
            <a:r>
              <a:rPr sz="810" b="1">
                <a:solidFill>
                  <a:srgbClr val="A44C1F"/>
                </a:solidFill>
                <a:latin typeface="Segoe UI"/>
              </a:rPr>
              <a:t>4  No invented metrics.  </a:t>
            </a:r>
            <a:r>
              <a:rPr sz="810" b="0">
                <a:solidFill>
                  <a:srgbClr val="5B6178"/>
                </a:solidFill>
                <a:latin typeface="Segoe UI"/>
              </a:rPr>
              <a:t>Every number in the README re-runs from a script. Synthetic ML results carry data_kind="synthetic" on every row.</a:t>
            </a:r>
          </a:p>
        </p:txBody>
      </p:sp>
      <p:sp>
        <p:nvSpPr>
          <p:cNvPr id="29" name="Rectangle 28"/>
          <p:cNvSpPr/>
          <p:nvPr/>
        </p:nvSpPr>
        <p:spPr>
          <a:xfrm>
            <a:off x="329184" y="5943600"/>
            <a:ext cx="11533327" cy="420624"/>
          </a:xfrm>
          <a:prstGeom prst="rect">
            <a:avLst/>
          </a:prstGeom>
          <a:solidFill>
            <a:srgbClr val="141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7200" y="6025896"/>
            <a:ext cx="11277295" cy="274320"/>
          </a:xfrm>
          <a:prstGeom prst="rect">
            <a:avLst/>
          </a:prstGeom>
          <a:noFill/>
        </p:spPr>
        <p:txBody>
          <a:bodyPr wrap="square" lIns="0" rIns="0" tIns="0" bIns="0" anchor="t">
            <a:spAutoFit/>
          </a:bodyPr>
          <a:lstStyle/>
          <a:p>
            <a:pPr algn="l">
              <a:lnSpc>
                <a:spcPct val="115000"/>
              </a:lnSpc>
              <a:spcAft>
                <a:spcPts val="0"/>
              </a:spcAft>
            </a:pPr>
            <a:r>
              <a:rPr sz="860" b="1">
                <a:solidFill>
                  <a:srgbClr val="E07A3F"/>
                </a:solidFill>
                <a:latin typeface="Segoe UI"/>
              </a:rPr>
              <a:t>WHY THIS MATTERS IN AN INTERVIEW:  </a:t>
            </a:r>
            <a:r>
              <a:rPr sz="860" b="0">
                <a:solidFill>
                  <a:srgbClr val="FFFFFF"/>
                </a:solidFill>
                <a:latin typeface="Segoe UI"/>
              </a:rPr>
              <a:t>these are the constraints a real product team would impose, and they are the parts most portfolio projects skip. Being able to say "the build fails if that claim is ever made" is stronger than any feature.</a:t>
            </a:r>
          </a:p>
        </p:txBody>
      </p:sp>
      <p:sp>
        <p:nvSpPr>
          <p:cNvPr id="31" name="Rectangle 30"/>
          <p:cNvSpPr/>
          <p:nvPr/>
        </p:nvSpPr>
        <p:spPr>
          <a:xfrm>
            <a:off x="329184" y="6382512"/>
            <a:ext cx="11533327" cy="10972"/>
          </a:xfrm>
          <a:prstGeom prst="rect">
            <a:avLst/>
          </a:prstGeom>
          <a:solidFill>
            <a:srgbClr val="E6E1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29184" y="6473952"/>
            <a:ext cx="10893247" cy="256032"/>
          </a:xfrm>
          <a:prstGeom prst="rect">
            <a:avLst/>
          </a:prstGeom>
          <a:noFill/>
        </p:spPr>
        <p:txBody>
          <a:bodyPr wrap="square" lIns="0" rIns="0" tIns="0" bIns="0" anchor="t">
            <a:spAutoFit/>
          </a:bodyPr>
          <a:lstStyle/>
          <a:p>
            <a:pPr algn="l">
              <a:lnSpc>
                <a:spcPct val="100000"/>
              </a:lnSpc>
              <a:spcAft>
                <a:spcPts val="0"/>
              </a:spcAft>
            </a:pPr>
            <a:r>
              <a:rPr sz="680" b="0">
                <a:solidFill>
                  <a:srgbClr val="8A90A6"/>
                </a:solidFill>
                <a:latin typeface="Segoe UI"/>
              </a:rPr>
              <a:t>Sources: docs/security.md; docs/privacy.md; tests/integration/; yatraai/config.py assert_production_ready().</a:t>
            </a:r>
          </a:p>
        </p:txBody>
      </p:sp>
      <p:sp>
        <p:nvSpPr>
          <p:cNvPr id="33" name="TextBox 32"/>
          <p:cNvSpPr txBox="1"/>
          <p:nvPr/>
        </p:nvSpPr>
        <p:spPr>
          <a:xfrm>
            <a:off x="11313871" y="6455664"/>
            <a:ext cx="548640" cy="274320"/>
          </a:xfrm>
          <a:prstGeom prst="rect">
            <a:avLst/>
          </a:prstGeom>
          <a:noFill/>
        </p:spPr>
        <p:txBody>
          <a:bodyPr wrap="square" lIns="0" rIns="0" tIns="0" bIns="0" anchor="t">
            <a:spAutoFit/>
          </a:bodyPr>
          <a:lstStyle/>
          <a:p>
            <a:pPr algn="r">
              <a:lnSpc>
                <a:spcPct val="100000"/>
              </a:lnSpc>
              <a:spcAft>
                <a:spcPts val="0"/>
              </a:spcAft>
            </a:pPr>
            <a:r>
              <a:rPr sz="1100" b="1">
                <a:solidFill>
                  <a:srgbClr val="42569F"/>
                </a:solidFill>
                <a:latin typeface="Segoe U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6858000"/>
          </a:xfrm>
          <a:prstGeom prst="rect">
            <a:avLst/>
          </a:prstGeom>
          <a:solidFill>
            <a:srgbClr val="0E13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0" y="0"/>
            <a:ext cx="109728" cy="6858000"/>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457200"/>
            <a:ext cx="10881360" cy="274320"/>
          </a:xfrm>
          <a:prstGeom prst="rect">
            <a:avLst/>
          </a:prstGeom>
          <a:noFill/>
        </p:spPr>
        <p:txBody>
          <a:bodyPr wrap="square" lIns="0" rIns="0" tIns="0" bIns="0" anchor="t">
            <a:spAutoFit/>
          </a:bodyPr>
          <a:lstStyle/>
          <a:p>
            <a:pPr algn="l">
              <a:lnSpc>
                <a:spcPct val="100000"/>
              </a:lnSpc>
              <a:spcAft>
                <a:spcPts val="0"/>
              </a:spcAft>
            </a:pPr>
            <a:r>
              <a:rPr sz="1000" b="1">
                <a:solidFill>
                  <a:srgbClr val="E07A3F"/>
                </a:solidFill>
                <a:latin typeface="Segoe UI"/>
              </a:rPr>
              <a:t>IN ONE SENTENCE</a:t>
            </a:r>
          </a:p>
        </p:txBody>
      </p:sp>
      <p:sp>
        <p:nvSpPr>
          <p:cNvPr id="6" name="TextBox 5"/>
          <p:cNvSpPr txBox="1"/>
          <p:nvPr/>
        </p:nvSpPr>
        <p:spPr>
          <a:xfrm>
            <a:off x="658368" y="786384"/>
            <a:ext cx="10881360" cy="822960"/>
          </a:xfrm>
          <a:prstGeom prst="rect">
            <a:avLst/>
          </a:prstGeom>
          <a:noFill/>
        </p:spPr>
        <p:txBody>
          <a:bodyPr wrap="square" lIns="0" rIns="0" tIns="0" bIns="0" anchor="t">
            <a:spAutoFit/>
          </a:bodyPr>
          <a:lstStyle/>
          <a:p>
            <a:pPr algn="l">
              <a:lnSpc>
                <a:spcPct val="116000"/>
              </a:lnSpc>
              <a:spcAft>
                <a:spcPts val="0"/>
              </a:spcAft>
            </a:pPr>
            <a:r>
              <a:rPr sz="2500" b="1">
                <a:solidFill>
                  <a:srgbClr val="FFFFFF"/>
                </a:solidFill>
                <a:latin typeface="Segoe UI"/>
              </a:rPr>
              <a:t>A group itinerary planner where a constraint solver decides,</a:t>
            </a:r>
          </a:p>
          <a:p>
            <a:pPr algn="l">
              <a:lnSpc>
                <a:spcPct val="116000"/>
              </a:lnSpc>
              <a:spcAft>
                <a:spcPts val="0"/>
              </a:spcAft>
            </a:pPr>
            <a:r>
              <a:rPr sz="2500" b="1">
                <a:solidFill>
                  <a:srgbClr val="FFFFFF"/>
                </a:solidFill>
                <a:latin typeface="Segoe UI"/>
              </a:rPr>
              <a:t>a validator gates, and the language model only ever narrates.</a:t>
            </a:r>
          </a:p>
        </p:txBody>
      </p:sp>
      <p:sp>
        <p:nvSpPr>
          <p:cNvPr id="7" name="Rectangle 6"/>
          <p:cNvSpPr/>
          <p:nvPr/>
        </p:nvSpPr>
        <p:spPr>
          <a:xfrm>
            <a:off x="658368" y="1847088"/>
            <a:ext cx="1371600" cy="36576"/>
          </a:xfrm>
          <a:prstGeom prst="rect">
            <a:avLst/>
          </a:prstGeom>
          <a:solidFill>
            <a:srgbClr val="E0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2121408"/>
            <a:ext cx="5212080" cy="274320"/>
          </a:xfrm>
          <a:prstGeom prst="rect">
            <a:avLst/>
          </a:prstGeom>
          <a:solidFill>
            <a:srgbClr val="141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171700"/>
            <a:ext cx="5029200" cy="201167"/>
          </a:xfrm>
          <a:prstGeom prst="rect">
            <a:avLst/>
          </a:prstGeom>
          <a:noFill/>
        </p:spPr>
        <p:txBody>
          <a:bodyPr wrap="square" lIns="0" rIns="0" tIns="0" bIns="0" anchor="t">
            <a:spAutoFit/>
          </a:bodyPr>
          <a:lstStyle/>
          <a:p>
            <a:pPr algn="l">
              <a:lnSpc>
                <a:spcPct val="100000"/>
              </a:lnSpc>
              <a:spcAft>
                <a:spcPts val="0"/>
              </a:spcAft>
            </a:pPr>
            <a:r>
              <a:rPr sz="900" b="1">
                <a:solidFill>
                  <a:srgbClr val="E07A3F"/>
                </a:solidFill>
                <a:latin typeface="Segoe UI"/>
              </a:rPr>
              <a:t>EVERYTHING MEASURED, IN ONE PLACE</a:t>
            </a:r>
          </a:p>
        </p:txBody>
      </p:sp>
      <p:sp>
        <p:nvSpPr>
          <p:cNvPr id="10" name="TextBox 9"/>
          <p:cNvSpPr txBox="1"/>
          <p:nvPr/>
        </p:nvSpPr>
        <p:spPr>
          <a:xfrm>
            <a:off x="731520" y="2487168"/>
            <a:ext cx="3840480" cy="219456"/>
          </a:xfrm>
          <a:prstGeom prst="rect">
            <a:avLst/>
          </a:prstGeom>
          <a:noFill/>
        </p:spPr>
        <p:txBody>
          <a:bodyPr wrap="square" lIns="0" rIns="0" tIns="0" bIns="0" anchor="t">
            <a:spAutoFit/>
          </a:bodyPr>
          <a:lstStyle/>
          <a:p>
            <a:pPr algn="l">
              <a:lnSpc>
                <a:spcPct val="100000"/>
              </a:lnSpc>
              <a:spcAft>
                <a:spcPts val="0"/>
              </a:spcAft>
            </a:pPr>
            <a:r>
              <a:rPr sz="840" b="0">
                <a:solidFill>
                  <a:srgbClr val="B8BFD4"/>
                </a:solidFill>
                <a:latin typeface="Segoe UI"/>
              </a:rPr>
              <a:t>Travel distance vs greedy baseline</a:t>
            </a:r>
          </a:p>
        </p:txBody>
      </p:sp>
      <p:sp>
        <p:nvSpPr>
          <p:cNvPr id="11" name="TextBox 10"/>
          <p:cNvSpPr txBox="1"/>
          <p:nvPr/>
        </p:nvSpPr>
        <p:spPr>
          <a:xfrm>
            <a:off x="4617720" y="2487168"/>
            <a:ext cx="1188720" cy="219456"/>
          </a:xfrm>
          <a:prstGeom prst="rect">
            <a:avLst/>
          </a:prstGeom>
          <a:noFill/>
        </p:spPr>
        <p:txBody>
          <a:bodyPr wrap="square" lIns="0" rIns="0" tIns="0" bIns="0" anchor="t">
            <a:spAutoFit/>
          </a:bodyPr>
          <a:lstStyle/>
          <a:p>
            <a:pPr algn="r">
              <a:lnSpc>
                <a:spcPct val="100000"/>
              </a:lnSpc>
              <a:spcAft>
                <a:spcPts val="0"/>
              </a:spcAft>
            </a:pPr>
            <a:r>
              <a:rPr sz="900" b="1">
                <a:solidFill>
                  <a:srgbClr val="0F7B6C"/>
                </a:solidFill>
                <a:latin typeface="Segoe UI"/>
              </a:rPr>
              <a:t>−57%</a:t>
            </a:r>
          </a:p>
        </p:txBody>
      </p:sp>
      <p:sp>
        <p:nvSpPr>
          <p:cNvPr id="12" name="Rectangle 11"/>
          <p:cNvSpPr/>
          <p:nvPr/>
        </p:nvSpPr>
        <p:spPr>
          <a:xfrm>
            <a:off x="731520" y="2729484"/>
            <a:ext cx="5074920" cy="7315"/>
          </a:xfrm>
          <a:prstGeom prst="rect">
            <a:avLst/>
          </a:prstGeom>
          <a:solidFill>
            <a:srgbClr val="25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31520" y="2784348"/>
            <a:ext cx="3840480" cy="219456"/>
          </a:xfrm>
          <a:prstGeom prst="rect">
            <a:avLst/>
          </a:prstGeom>
          <a:noFill/>
        </p:spPr>
        <p:txBody>
          <a:bodyPr wrap="square" lIns="0" rIns="0" tIns="0" bIns="0" anchor="t">
            <a:spAutoFit/>
          </a:bodyPr>
          <a:lstStyle/>
          <a:p>
            <a:pPr algn="l">
              <a:lnSpc>
                <a:spcPct val="100000"/>
              </a:lnSpc>
              <a:spcAft>
                <a:spcPts val="0"/>
              </a:spcAft>
            </a:pPr>
            <a:r>
              <a:rPr sz="840" b="0">
                <a:solidFill>
                  <a:srgbClr val="B8BFD4"/>
                </a:solidFill>
                <a:latin typeface="Segoe UI"/>
              </a:rPr>
              <a:t>Least-satisfied member vs simple average</a:t>
            </a:r>
          </a:p>
        </p:txBody>
      </p:sp>
      <p:sp>
        <p:nvSpPr>
          <p:cNvPr id="14" name="TextBox 13"/>
          <p:cNvSpPr txBox="1"/>
          <p:nvPr/>
        </p:nvSpPr>
        <p:spPr>
          <a:xfrm>
            <a:off x="4617720" y="2784348"/>
            <a:ext cx="1188720" cy="219456"/>
          </a:xfrm>
          <a:prstGeom prst="rect">
            <a:avLst/>
          </a:prstGeom>
          <a:noFill/>
        </p:spPr>
        <p:txBody>
          <a:bodyPr wrap="square" lIns="0" rIns="0" tIns="0" bIns="0" anchor="t">
            <a:spAutoFit/>
          </a:bodyPr>
          <a:lstStyle/>
          <a:p>
            <a:pPr algn="r">
              <a:lnSpc>
                <a:spcPct val="100000"/>
              </a:lnSpc>
              <a:spcAft>
                <a:spcPts val="0"/>
              </a:spcAft>
            </a:pPr>
            <a:r>
              <a:rPr sz="900" b="1">
                <a:solidFill>
                  <a:srgbClr val="0F7B6C"/>
                </a:solidFill>
                <a:latin typeface="Segoe UI"/>
              </a:rPr>
              <a:t>+8.5%</a:t>
            </a:r>
          </a:p>
        </p:txBody>
      </p:sp>
      <p:sp>
        <p:nvSpPr>
          <p:cNvPr id="15" name="Rectangle 14"/>
          <p:cNvSpPr/>
          <p:nvPr/>
        </p:nvSpPr>
        <p:spPr>
          <a:xfrm>
            <a:off x="731520" y="3026664"/>
            <a:ext cx="5074920" cy="7315"/>
          </a:xfrm>
          <a:prstGeom prst="rect">
            <a:avLst/>
          </a:prstGeom>
          <a:solidFill>
            <a:srgbClr val="25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3081528"/>
            <a:ext cx="3840480" cy="219456"/>
          </a:xfrm>
          <a:prstGeom prst="rect">
            <a:avLst/>
          </a:prstGeom>
          <a:noFill/>
        </p:spPr>
        <p:txBody>
          <a:bodyPr wrap="square" lIns="0" rIns="0" tIns="0" bIns="0" anchor="t">
            <a:spAutoFit/>
          </a:bodyPr>
          <a:lstStyle/>
          <a:p>
            <a:pPr algn="l">
              <a:lnSpc>
                <a:spcPct val="100000"/>
              </a:lnSpc>
              <a:spcAft>
                <a:spcPts val="0"/>
              </a:spcAft>
            </a:pPr>
            <a:r>
              <a:rPr sz="840" b="0">
                <a:solidFill>
                  <a:srgbClr val="B8BFD4"/>
                </a:solidFill>
                <a:latin typeface="Segoe UI"/>
              </a:rPr>
              <a:t>RAG abstention accuracy / citation correctness</a:t>
            </a:r>
          </a:p>
        </p:txBody>
      </p:sp>
      <p:sp>
        <p:nvSpPr>
          <p:cNvPr id="17" name="TextBox 16"/>
          <p:cNvSpPr txBox="1"/>
          <p:nvPr/>
        </p:nvSpPr>
        <p:spPr>
          <a:xfrm>
            <a:off x="4617720" y="3081528"/>
            <a:ext cx="1188720" cy="219456"/>
          </a:xfrm>
          <a:prstGeom prst="rect">
            <a:avLst/>
          </a:prstGeom>
          <a:noFill/>
        </p:spPr>
        <p:txBody>
          <a:bodyPr wrap="square" lIns="0" rIns="0" tIns="0" bIns="0" anchor="t">
            <a:spAutoFit/>
          </a:bodyPr>
          <a:lstStyle/>
          <a:p>
            <a:pPr algn="r">
              <a:lnSpc>
                <a:spcPct val="100000"/>
              </a:lnSpc>
              <a:spcAft>
                <a:spcPts val="0"/>
              </a:spcAft>
            </a:pPr>
            <a:r>
              <a:rPr sz="900" b="1">
                <a:solidFill>
                  <a:srgbClr val="0F7B6C"/>
                </a:solidFill>
                <a:latin typeface="Segoe UI"/>
              </a:rPr>
              <a:t>1.000 / 1.000</a:t>
            </a:r>
          </a:p>
        </p:txBody>
      </p:sp>
      <p:sp>
        <p:nvSpPr>
          <p:cNvPr id="18" name="Rectangle 17"/>
          <p:cNvSpPr/>
          <p:nvPr/>
        </p:nvSpPr>
        <p:spPr>
          <a:xfrm>
            <a:off x="731520" y="3323844"/>
            <a:ext cx="5074920" cy="7315"/>
          </a:xfrm>
          <a:prstGeom prst="rect">
            <a:avLst/>
          </a:prstGeom>
          <a:solidFill>
            <a:srgbClr val="25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1520" y="3378708"/>
            <a:ext cx="3840480" cy="219456"/>
          </a:xfrm>
          <a:prstGeom prst="rect">
            <a:avLst/>
          </a:prstGeom>
          <a:noFill/>
        </p:spPr>
        <p:txBody>
          <a:bodyPr wrap="square" lIns="0" rIns="0" tIns="0" bIns="0" anchor="t">
            <a:spAutoFit/>
          </a:bodyPr>
          <a:lstStyle/>
          <a:p>
            <a:pPr algn="l">
              <a:lnSpc>
                <a:spcPct val="100000"/>
              </a:lnSpc>
              <a:spcAft>
                <a:spcPts val="0"/>
              </a:spcAft>
            </a:pPr>
            <a:r>
              <a:rPr sz="840" b="0">
                <a:solidFill>
                  <a:srgbClr val="B8BFD4"/>
                </a:solidFill>
                <a:latin typeface="Segoe UI"/>
              </a:rPr>
              <a:t>Retrieval top-1 · MRR (no hint)</a:t>
            </a:r>
          </a:p>
        </p:txBody>
      </p:sp>
      <p:sp>
        <p:nvSpPr>
          <p:cNvPr id="20" name="TextBox 19"/>
          <p:cNvSpPr txBox="1"/>
          <p:nvPr/>
        </p:nvSpPr>
        <p:spPr>
          <a:xfrm>
            <a:off x="4617720" y="3378708"/>
            <a:ext cx="1188720" cy="219456"/>
          </a:xfrm>
          <a:prstGeom prst="rect">
            <a:avLst/>
          </a:prstGeom>
          <a:noFill/>
        </p:spPr>
        <p:txBody>
          <a:bodyPr wrap="square" lIns="0" rIns="0" tIns="0" bIns="0" anchor="t">
            <a:spAutoFit/>
          </a:bodyPr>
          <a:lstStyle/>
          <a:p>
            <a:pPr algn="r">
              <a:lnSpc>
                <a:spcPct val="100000"/>
              </a:lnSpc>
              <a:spcAft>
                <a:spcPts val="0"/>
              </a:spcAft>
            </a:pPr>
            <a:r>
              <a:rPr sz="900" b="1">
                <a:solidFill>
                  <a:srgbClr val="FFFFFF"/>
                </a:solidFill>
                <a:latin typeface="Segoe UI"/>
              </a:rPr>
              <a:t>0.903 · 0.952</a:t>
            </a:r>
          </a:p>
        </p:txBody>
      </p:sp>
      <p:sp>
        <p:nvSpPr>
          <p:cNvPr id="21" name="Rectangle 20"/>
          <p:cNvSpPr/>
          <p:nvPr/>
        </p:nvSpPr>
        <p:spPr>
          <a:xfrm>
            <a:off x="731520" y="3621024"/>
            <a:ext cx="5074920" cy="7315"/>
          </a:xfrm>
          <a:prstGeom prst="rect">
            <a:avLst/>
          </a:prstGeom>
          <a:solidFill>
            <a:srgbClr val="25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31520" y="3675888"/>
            <a:ext cx="3840480" cy="219456"/>
          </a:xfrm>
          <a:prstGeom prst="rect">
            <a:avLst/>
          </a:prstGeom>
          <a:noFill/>
        </p:spPr>
        <p:txBody>
          <a:bodyPr wrap="square" lIns="0" rIns="0" tIns="0" bIns="0" anchor="t">
            <a:spAutoFit/>
          </a:bodyPr>
          <a:lstStyle/>
          <a:p>
            <a:pPr algn="l">
              <a:lnSpc>
                <a:spcPct val="100000"/>
              </a:lnSpc>
              <a:spcAft>
                <a:spcPts val="0"/>
              </a:spcAft>
            </a:pPr>
            <a:r>
              <a:rPr sz="840" b="0">
                <a:solidFill>
                  <a:srgbClr val="B8BFD4"/>
                </a:solidFill>
                <a:latin typeface="Segoe UI"/>
              </a:rPr>
              <a:t>Reranking contribution to top-1</a:t>
            </a:r>
          </a:p>
        </p:txBody>
      </p:sp>
      <p:sp>
        <p:nvSpPr>
          <p:cNvPr id="23" name="TextBox 22"/>
          <p:cNvSpPr txBox="1"/>
          <p:nvPr/>
        </p:nvSpPr>
        <p:spPr>
          <a:xfrm>
            <a:off x="4617720" y="3675888"/>
            <a:ext cx="1188720" cy="219456"/>
          </a:xfrm>
          <a:prstGeom prst="rect">
            <a:avLst/>
          </a:prstGeom>
          <a:noFill/>
        </p:spPr>
        <p:txBody>
          <a:bodyPr wrap="square" lIns="0" rIns="0" tIns="0" bIns="0" anchor="t">
            <a:spAutoFit/>
          </a:bodyPr>
          <a:lstStyle/>
          <a:p>
            <a:pPr algn="r">
              <a:lnSpc>
                <a:spcPct val="100000"/>
              </a:lnSpc>
              <a:spcAft>
                <a:spcPts val="0"/>
              </a:spcAft>
            </a:pPr>
            <a:r>
              <a:rPr sz="900" b="1">
                <a:solidFill>
                  <a:srgbClr val="0F7B6C"/>
                </a:solidFill>
                <a:latin typeface="Segoe UI"/>
              </a:rPr>
              <a:t>+12.9 pp</a:t>
            </a:r>
          </a:p>
        </p:txBody>
      </p:sp>
      <p:sp>
        <p:nvSpPr>
          <p:cNvPr id="24" name="Rectangle 23"/>
          <p:cNvSpPr/>
          <p:nvPr/>
        </p:nvSpPr>
        <p:spPr>
          <a:xfrm>
            <a:off x="731520" y="3918204"/>
            <a:ext cx="5074920" cy="7315"/>
          </a:xfrm>
          <a:prstGeom prst="rect">
            <a:avLst/>
          </a:prstGeom>
          <a:solidFill>
            <a:srgbClr val="25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1520" y="3973068"/>
            <a:ext cx="3840480" cy="219456"/>
          </a:xfrm>
          <a:prstGeom prst="rect">
            <a:avLst/>
          </a:prstGeom>
          <a:noFill/>
        </p:spPr>
        <p:txBody>
          <a:bodyPr wrap="square" lIns="0" rIns="0" tIns="0" bIns="0" anchor="t">
            <a:spAutoFit/>
          </a:bodyPr>
          <a:lstStyle/>
          <a:p>
            <a:pPr algn="l">
              <a:lnSpc>
                <a:spcPct val="100000"/>
              </a:lnSpc>
              <a:spcAft>
                <a:spcPts val="0"/>
              </a:spcAft>
            </a:pPr>
            <a:r>
              <a:rPr sz="840" b="0">
                <a:solidFill>
                  <a:srgbClr val="B8BFD4"/>
                </a:solidFill>
                <a:latin typeface="Segoe UI"/>
              </a:rPr>
              <a:t>Median CP-SAT solve per day</a:t>
            </a:r>
          </a:p>
        </p:txBody>
      </p:sp>
      <p:sp>
        <p:nvSpPr>
          <p:cNvPr id="26" name="TextBox 25"/>
          <p:cNvSpPr txBox="1"/>
          <p:nvPr/>
        </p:nvSpPr>
        <p:spPr>
          <a:xfrm>
            <a:off x="4617720" y="3973068"/>
            <a:ext cx="1188720" cy="219456"/>
          </a:xfrm>
          <a:prstGeom prst="rect">
            <a:avLst/>
          </a:prstGeom>
          <a:noFill/>
        </p:spPr>
        <p:txBody>
          <a:bodyPr wrap="square" lIns="0" rIns="0" tIns="0" bIns="0" anchor="t">
            <a:spAutoFit/>
          </a:bodyPr>
          <a:lstStyle/>
          <a:p>
            <a:pPr algn="r">
              <a:lnSpc>
                <a:spcPct val="100000"/>
              </a:lnSpc>
              <a:spcAft>
                <a:spcPts val="0"/>
              </a:spcAft>
            </a:pPr>
            <a:r>
              <a:rPr sz="900" b="1">
                <a:solidFill>
                  <a:srgbClr val="FFFFFF"/>
                </a:solidFill>
                <a:latin typeface="Segoe UI"/>
              </a:rPr>
              <a:t>48.2 ms</a:t>
            </a:r>
          </a:p>
        </p:txBody>
      </p:sp>
      <p:sp>
        <p:nvSpPr>
          <p:cNvPr id="27" name="Rectangle 26"/>
          <p:cNvSpPr/>
          <p:nvPr/>
        </p:nvSpPr>
        <p:spPr>
          <a:xfrm>
            <a:off x="731520" y="4215384"/>
            <a:ext cx="5074920" cy="7315"/>
          </a:xfrm>
          <a:prstGeom prst="rect">
            <a:avLst/>
          </a:prstGeom>
          <a:solidFill>
            <a:srgbClr val="25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1520" y="4270248"/>
            <a:ext cx="3840480" cy="219456"/>
          </a:xfrm>
          <a:prstGeom prst="rect">
            <a:avLst/>
          </a:prstGeom>
          <a:noFill/>
        </p:spPr>
        <p:txBody>
          <a:bodyPr wrap="square" lIns="0" rIns="0" tIns="0" bIns="0" anchor="t">
            <a:spAutoFit/>
          </a:bodyPr>
          <a:lstStyle/>
          <a:p>
            <a:pPr algn="l">
              <a:lnSpc>
                <a:spcPct val="100000"/>
              </a:lnSpc>
              <a:spcAft>
                <a:spcPts val="0"/>
              </a:spcAft>
            </a:pPr>
            <a:r>
              <a:rPr sz="840" b="0">
                <a:solidFill>
                  <a:srgbClr val="B8BFD4"/>
                </a:solidFill>
                <a:latin typeface="Segoe UI"/>
              </a:rPr>
              <a:t>Automated tests (295 Python + 43 frontend)</a:t>
            </a:r>
          </a:p>
        </p:txBody>
      </p:sp>
      <p:sp>
        <p:nvSpPr>
          <p:cNvPr id="29" name="TextBox 28"/>
          <p:cNvSpPr txBox="1"/>
          <p:nvPr/>
        </p:nvSpPr>
        <p:spPr>
          <a:xfrm>
            <a:off x="4617720" y="4270248"/>
            <a:ext cx="1188720" cy="219456"/>
          </a:xfrm>
          <a:prstGeom prst="rect">
            <a:avLst/>
          </a:prstGeom>
          <a:noFill/>
        </p:spPr>
        <p:txBody>
          <a:bodyPr wrap="square" lIns="0" rIns="0" tIns="0" bIns="0" anchor="t">
            <a:spAutoFit/>
          </a:bodyPr>
          <a:lstStyle/>
          <a:p>
            <a:pPr algn="r">
              <a:lnSpc>
                <a:spcPct val="100000"/>
              </a:lnSpc>
              <a:spcAft>
                <a:spcPts val="0"/>
              </a:spcAft>
            </a:pPr>
            <a:r>
              <a:rPr sz="900" b="1">
                <a:solidFill>
                  <a:srgbClr val="FFFFFF"/>
                </a:solidFill>
                <a:latin typeface="Segoe UI"/>
              </a:rPr>
              <a:t>338</a:t>
            </a:r>
          </a:p>
        </p:txBody>
      </p:sp>
      <p:sp>
        <p:nvSpPr>
          <p:cNvPr id="30" name="Rectangle 29"/>
          <p:cNvSpPr/>
          <p:nvPr/>
        </p:nvSpPr>
        <p:spPr>
          <a:xfrm>
            <a:off x="731520" y="4512564"/>
            <a:ext cx="5074920" cy="7315"/>
          </a:xfrm>
          <a:prstGeom prst="rect">
            <a:avLst/>
          </a:prstGeom>
          <a:solidFill>
            <a:srgbClr val="25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20" y="4567428"/>
            <a:ext cx="3840480" cy="219456"/>
          </a:xfrm>
          <a:prstGeom prst="rect">
            <a:avLst/>
          </a:prstGeom>
          <a:noFill/>
        </p:spPr>
        <p:txBody>
          <a:bodyPr wrap="square" lIns="0" rIns="0" tIns="0" bIns="0" anchor="t">
            <a:spAutoFit/>
          </a:bodyPr>
          <a:lstStyle/>
          <a:p>
            <a:pPr algn="l">
              <a:lnSpc>
                <a:spcPct val="100000"/>
              </a:lnSpc>
              <a:spcAft>
                <a:spcPts val="0"/>
              </a:spcAft>
            </a:pPr>
            <a:r>
              <a:rPr sz="840" b="0">
                <a:solidFill>
                  <a:srgbClr val="B8BFD4"/>
                </a:solidFill>
                <a:latin typeface="Segoe UI"/>
              </a:rPr>
              <a:t>Post-deployment verification checks</a:t>
            </a:r>
          </a:p>
        </p:txBody>
      </p:sp>
      <p:sp>
        <p:nvSpPr>
          <p:cNvPr id="32" name="TextBox 31"/>
          <p:cNvSpPr txBox="1"/>
          <p:nvPr/>
        </p:nvSpPr>
        <p:spPr>
          <a:xfrm>
            <a:off x="4617720" y="4567428"/>
            <a:ext cx="1188720" cy="219456"/>
          </a:xfrm>
          <a:prstGeom prst="rect">
            <a:avLst/>
          </a:prstGeom>
          <a:noFill/>
        </p:spPr>
        <p:txBody>
          <a:bodyPr wrap="square" lIns="0" rIns="0" tIns="0" bIns="0" anchor="t">
            <a:spAutoFit/>
          </a:bodyPr>
          <a:lstStyle/>
          <a:p>
            <a:pPr algn="r">
              <a:lnSpc>
                <a:spcPct val="100000"/>
              </a:lnSpc>
              <a:spcAft>
                <a:spcPts val="0"/>
              </a:spcAft>
            </a:pPr>
            <a:r>
              <a:rPr sz="900" b="1">
                <a:solidFill>
                  <a:srgbClr val="0F7B6C"/>
                </a:solidFill>
                <a:latin typeface="Segoe UI"/>
              </a:rPr>
              <a:t>10 / 10</a:t>
            </a:r>
          </a:p>
        </p:txBody>
      </p:sp>
      <p:sp>
        <p:nvSpPr>
          <p:cNvPr id="33" name="Rectangle 32"/>
          <p:cNvSpPr/>
          <p:nvPr/>
        </p:nvSpPr>
        <p:spPr>
          <a:xfrm>
            <a:off x="731520" y="4809744"/>
            <a:ext cx="5074920" cy="7315"/>
          </a:xfrm>
          <a:prstGeom prst="rect">
            <a:avLst/>
          </a:prstGeom>
          <a:solidFill>
            <a:srgbClr val="25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31520" y="4864608"/>
            <a:ext cx="3840480" cy="219456"/>
          </a:xfrm>
          <a:prstGeom prst="rect">
            <a:avLst/>
          </a:prstGeom>
          <a:noFill/>
        </p:spPr>
        <p:txBody>
          <a:bodyPr wrap="square" lIns="0" rIns="0" tIns="0" bIns="0" anchor="t">
            <a:spAutoFit/>
          </a:bodyPr>
          <a:lstStyle/>
          <a:p>
            <a:pPr algn="l">
              <a:lnSpc>
                <a:spcPct val="100000"/>
              </a:lnSpc>
              <a:spcAft>
                <a:spcPts val="0"/>
              </a:spcAft>
            </a:pPr>
            <a:r>
              <a:rPr sz="840" b="0">
                <a:solidFill>
                  <a:srgbClr val="B8BFD4"/>
                </a:solidFill>
                <a:latin typeface="Segoe UI"/>
              </a:rPr>
              <a:t>LLM calls required to produce an itinerary</a:t>
            </a:r>
          </a:p>
        </p:txBody>
      </p:sp>
      <p:sp>
        <p:nvSpPr>
          <p:cNvPr id="35" name="TextBox 34"/>
          <p:cNvSpPr txBox="1"/>
          <p:nvPr/>
        </p:nvSpPr>
        <p:spPr>
          <a:xfrm>
            <a:off x="4617720" y="4864608"/>
            <a:ext cx="1188720" cy="219456"/>
          </a:xfrm>
          <a:prstGeom prst="rect">
            <a:avLst/>
          </a:prstGeom>
          <a:noFill/>
        </p:spPr>
        <p:txBody>
          <a:bodyPr wrap="square" lIns="0" rIns="0" tIns="0" bIns="0" anchor="t">
            <a:spAutoFit/>
          </a:bodyPr>
          <a:lstStyle/>
          <a:p>
            <a:pPr algn="r">
              <a:lnSpc>
                <a:spcPct val="100000"/>
              </a:lnSpc>
              <a:spcAft>
                <a:spcPts val="0"/>
              </a:spcAft>
            </a:pPr>
            <a:r>
              <a:rPr sz="900" b="1">
                <a:solidFill>
                  <a:srgbClr val="E07A3F"/>
                </a:solidFill>
                <a:latin typeface="Segoe UI"/>
              </a:rPr>
              <a:t>0</a:t>
            </a:r>
          </a:p>
        </p:txBody>
      </p:sp>
      <p:sp>
        <p:nvSpPr>
          <p:cNvPr id="36" name="Rectangle 35"/>
          <p:cNvSpPr/>
          <p:nvPr/>
        </p:nvSpPr>
        <p:spPr>
          <a:xfrm>
            <a:off x="731520" y="5106924"/>
            <a:ext cx="5074920" cy="7315"/>
          </a:xfrm>
          <a:prstGeom prst="rect">
            <a:avLst/>
          </a:prstGeom>
          <a:solidFill>
            <a:srgbClr val="25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6144768" y="2121408"/>
            <a:ext cx="5394960" cy="274320"/>
          </a:xfrm>
          <a:prstGeom prst="rect">
            <a:avLst/>
          </a:prstGeom>
          <a:solidFill>
            <a:srgbClr val="141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236207" y="2171700"/>
            <a:ext cx="5212080" cy="201167"/>
          </a:xfrm>
          <a:prstGeom prst="rect">
            <a:avLst/>
          </a:prstGeom>
          <a:noFill/>
        </p:spPr>
        <p:txBody>
          <a:bodyPr wrap="square" lIns="0" rIns="0" tIns="0" bIns="0" anchor="t">
            <a:spAutoFit/>
          </a:bodyPr>
          <a:lstStyle/>
          <a:p>
            <a:pPr algn="l">
              <a:lnSpc>
                <a:spcPct val="100000"/>
              </a:lnSpc>
              <a:spcAft>
                <a:spcPts val="0"/>
              </a:spcAft>
            </a:pPr>
            <a:r>
              <a:rPr sz="900" b="1">
                <a:solidFill>
                  <a:srgbClr val="E07A3F"/>
                </a:solidFill>
                <a:latin typeface="Segoe UI"/>
              </a:rPr>
              <a:t>STATED LIMITATIONS — LEAD WITH THESE, DO NOT BE CAUGHT BY THEM</a:t>
            </a:r>
          </a:p>
        </p:txBody>
      </p:sp>
      <p:sp>
        <p:nvSpPr>
          <p:cNvPr id="39" name="TextBox 38"/>
          <p:cNvSpPr txBox="1"/>
          <p:nvPr/>
        </p:nvSpPr>
        <p:spPr>
          <a:xfrm>
            <a:off x="6217920" y="2505456"/>
            <a:ext cx="5257800" cy="1737360"/>
          </a:xfrm>
          <a:prstGeom prst="rect">
            <a:avLst/>
          </a:prstGeom>
          <a:noFill/>
        </p:spPr>
        <p:txBody>
          <a:bodyPr wrap="square" lIns="0" rIns="0" tIns="0" bIns="0" anchor="t">
            <a:spAutoFit/>
          </a:bodyPr>
          <a:lstStyle/>
          <a:p>
            <a:pPr algn="l">
              <a:lnSpc>
                <a:spcPct val="120000"/>
              </a:lnSpc>
              <a:spcAft>
                <a:spcPts val="400"/>
              </a:spcAft>
            </a:pPr>
            <a:r>
              <a:rPr sz="819" b="1">
                <a:solidFill>
                  <a:srgbClr val="FFFFFF"/>
                </a:solidFill>
                <a:latin typeface="Segoe UI"/>
              </a:rPr>
              <a:t>Default embeddings are not neural.  </a:t>
            </a:r>
            <a:r>
              <a:rPr sz="819" b="0">
                <a:solidFill>
                  <a:srgbClr val="B8BFD4"/>
                </a:solidFill>
                <a:latin typeface="Segoe UI"/>
              </a:rPr>
              <a:t>A 384-dim signed hashing projection. sentence-transformers is a one-env-var swap.</a:t>
            </a:r>
          </a:p>
          <a:p>
            <a:pPr algn="l">
              <a:lnSpc>
                <a:spcPct val="120000"/>
              </a:lnSpc>
              <a:spcAft>
                <a:spcPts val="400"/>
              </a:spcAft>
            </a:pPr>
            <a:r>
              <a:rPr sz="819" b="1">
                <a:solidFill>
                  <a:srgbClr val="FFFFFF"/>
                </a:solidFill>
                <a:latin typeface="Segoe UI"/>
              </a:rPr>
              <a:t>ML models were not promoted.  </a:t>
            </a:r>
            <a:r>
              <a:rPr sz="819" b="0">
                <a:solidFill>
                  <a:srgbClr val="B8BFD4"/>
                </a:solidFill>
                <a:latin typeface="Segoe UI"/>
              </a:rPr>
              <a:t>Trained on synthetic labels. The trees lost (0.6404) to the hand-weighted rule (0.6676); the one learner that edged it was inside a bootstrap CI of [−0.010, +0.017].</a:t>
            </a:r>
          </a:p>
          <a:p>
            <a:pPr algn="l">
              <a:lnSpc>
                <a:spcPct val="120000"/>
              </a:lnSpc>
              <a:spcAft>
                <a:spcPts val="400"/>
              </a:spcAft>
            </a:pPr>
            <a:r>
              <a:rPr sz="819" b="1">
                <a:solidFill>
                  <a:srgbClr val="FFFFFF"/>
                </a:solidFill>
                <a:latin typeface="Segoe UI"/>
              </a:rPr>
              <a:t>The benchmark is mine.  </a:t>
            </a:r>
            <a:r>
              <a:rPr sz="819" b="0">
                <a:solidFill>
                  <a:srgbClr val="B8BFD4"/>
                </a:solidFill>
                <a:latin typeface="Segoe UI"/>
              </a:rPr>
              <a:t>34 hand-written questions, not collected from users. Small, and labelled as such.</a:t>
            </a:r>
          </a:p>
          <a:p>
            <a:pPr algn="l">
              <a:lnSpc>
                <a:spcPct val="120000"/>
              </a:lnSpc>
              <a:spcAft>
                <a:spcPts val="400"/>
              </a:spcAft>
            </a:pPr>
            <a:r>
              <a:rPr sz="819" b="1">
                <a:solidFill>
                  <a:srgbClr val="FFFFFF"/>
                </a:solidFill>
                <a:latin typeface="Segoe UI"/>
              </a:rPr>
              <a:t>Ten destinations, not all of India.  </a:t>
            </a:r>
            <a:r>
              <a:rPr sz="819" b="0">
                <a:solidFill>
                  <a:srgbClr val="B8BFD4"/>
                </a:solidFill>
                <a:latin typeface="Segoe UI"/>
              </a:rPr>
              <a:t>Depth over breadth — a new cluster is a data change, not a code change.</a:t>
            </a:r>
          </a:p>
          <a:p>
            <a:pPr algn="l">
              <a:lnSpc>
                <a:spcPct val="120000"/>
              </a:lnSpc>
              <a:spcAft>
                <a:spcPts val="400"/>
              </a:spcAft>
            </a:pPr>
            <a:r>
              <a:rPr sz="819" b="1">
                <a:solidFill>
                  <a:srgbClr val="FFFFFF"/>
                </a:solidFill>
                <a:latin typeface="Segoe UI"/>
              </a:rPr>
              <a:t>Rate limiting is per-process; no refresh tokens.  </a:t>
            </a:r>
            <a:r>
              <a:rPr sz="819" b="0">
                <a:solidFill>
                  <a:srgbClr val="B8BFD4"/>
                </a:solidFill>
                <a:latin typeface="Segoe UI"/>
              </a:rPr>
              <a:t>Documented in docs/security.md under "known gaps".</a:t>
            </a:r>
          </a:p>
        </p:txBody>
      </p:sp>
      <p:sp>
        <p:nvSpPr>
          <p:cNvPr id="40" name="Rectangle 39"/>
          <p:cNvSpPr/>
          <p:nvPr/>
        </p:nvSpPr>
        <p:spPr>
          <a:xfrm>
            <a:off x="6144768" y="4443984"/>
            <a:ext cx="5394960" cy="274320"/>
          </a:xfrm>
          <a:prstGeom prst="rect">
            <a:avLst/>
          </a:prstGeom>
          <a:solidFill>
            <a:srgbClr val="141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236207" y="4494276"/>
            <a:ext cx="5212080" cy="201167"/>
          </a:xfrm>
          <a:prstGeom prst="rect">
            <a:avLst/>
          </a:prstGeom>
          <a:noFill/>
        </p:spPr>
        <p:txBody>
          <a:bodyPr wrap="square" lIns="0" rIns="0" tIns="0" bIns="0" anchor="t">
            <a:spAutoFit/>
          </a:bodyPr>
          <a:lstStyle/>
          <a:p>
            <a:pPr algn="l">
              <a:lnSpc>
                <a:spcPct val="100000"/>
              </a:lnSpc>
              <a:spcAft>
                <a:spcPts val="0"/>
              </a:spcAft>
            </a:pPr>
            <a:r>
              <a:rPr sz="900" b="1">
                <a:solidFill>
                  <a:srgbClr val="E07A3F"/>
                </a:solidFill>
                <a:latin typeface="Segoe UI"/>
              </a:rPr>
              <a:t>FOUR LINES TO SAY OUT LOUD</a:t>
            </a:r>
          </a:p>
        </p:txBody>
      </p:sp>
      <p:sp>
        <p:nvSpPr>
          <p:cNvPr id="42" name="TextBox 41"/>
          <p:cNvSpPr txBox="1"/>
          <p:nvPr/>
        </p:nvSpPr>
        <p:spPr>
          <a:xfrm>
            <a:off x="6217920" y="4828032"/>
            <a:ext cx="5257800" cy="1371600"/>
          </a:xfrm>
          <a:prstGeom prst="rect">
            <a:avLst/>
          </a:prstGeom>
          <a:noFill/>
        </p:spPr>
        <p:txBody>
          <a:bodyPr wrap="square" lIns="0" rIns="0" tIns="0" bIns="0" anchor="t">
            <a:spAutoFit/>
          </a:bodyPr>
          <a:lstStyle/>
          <a:p>
            <a:pPr algn="l">
              <a:lnSpc>
                <a:spcPct val="120000"/>
              </a:lnSpc>
              <a:spcAft>
                <a:spcPts val="500"/>
              </a:spcAft>
            </a:pPr>
            <a:r>
              <a:rPr sz="840" b="0">
                <a:solidFill>
                  <a:srgbClr val="D8DDEC"/>
                </a:solidFill>
                <a:latin typeface="Segoe UI"/>
              </a:rPr>
              <a:t>"It is a retrieval and constraint-optimisation system, not a chatbot. The LLM runs last and changes nothing — the default config never calls it."</a:t>
            </a:r>
          </a:p>
          <a:p>
            <a:pPr algn="l">
              <a:lnSpc>
                <a:spcPct val="120000"/>
              </a:lnSpc>
              <a:spcAft>
                <a:spcPts val="500"/>
              </a:spcAft>
            </a:pPr>
            <a:r>
              <a:rPr sz="840" b="0">
                <a:solidFill>
                  <a:srgbClr val="D8DDEC"/>
                </a:solidFill>
                <a:latin typeface="Segoe UI"/>
              </a:rPr>
              <a:t>"I measured five aggregation rules. The one with the best mean had the worst floor."</a:t>
            </a:r>
          </a:p>
          <a:p>
            <a:pPr algn="l">
              <a:lnSpc>
                <a:spcPct val="120000"/>
              </a:lnSpc>
              <a:spcAft>
                <a:spcPts val="500"/>
              </a:spcAft>
            </a:pPr>
            <a:r>
              <a:rPr sz="840" b="0">
                <a:solidFill>
                  <a:srgbClr val="D8DDEC"/>
                </a:solidFill>
                <a:latin typeface="Segoe UI"/>
              </a:rPr>
              <a:t>"Every interesting bug was found by an experiment, not by reading code."</a:t>
            </a:r>
          </a:p>
          <a:p>
            <a:pPr algn="l">
              <a:lnSpc>
                <a:spcPct val="120000"/>
              </a:lnSpc>
              <a:spcAft>
                <a:spcPts val="500"/>
              </a:spcAft>
            </a:pPr>
            <a:r>
              <a:rPr sz="840" b="0">
                <a:solidFill>
                  <a:srgbClr val="D8DDEC"/>
                </a:solidFill>
                <a:latin typeface="Segoe UI"/>
              </a:rPr>
              <a:t>"No opening hour or fee in this dataset claims to be verified — the build fails if one does."</a:t>
            </a:r>
          </a:p>
        </p:txBody>
      </p:sp>
      <p:sp>
        <p:nvSpPr>
          <p:cNvPr id="43" name="Rectangle 42"/>
          <p:cNvSpPr/>
          <p:nvPr/>
        </p:nvSpPr>
        <p:spPr>
          <a:xfrm>
            <a:off x="658368" y="5870448"/>
            <a:ext cx="5212080" cy="566928"/>
          </a:xfrm>
          <a:prstGeom prst="rect">
            <a:avLst/>
          </a:prstGeom>
          <a:solidFill>
            <a:srgbClr val="141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786384" y="5980176"/>
            <a:ext cx="4983480" cy="402336"/>
          </a:xfrm>
          <a:prstGeom prst="rect">
            <a:avLst/>
          </a:prstGeom>
          <a:noFill/>
        </p:spPr>
        <p:txBody>
          <a:bodyPr wrap="square" lIns="0" rIns="0" tIns="0" bIns="0" anchor="t">
            <a:spAutoFit/>
          </a:bodyPr>
          <a:lstStyle/>
          <a:p>
            <a:pPr algn="l">
              <a:lnSpc>
                <a:spcPct val="115000"/>
              </a:lnSpc>
              <a:spcAft>
                <a:spcPts val="0"/>
              </a:spcAft>
            </a:pPr>
            <a:r>
              <a:rPr sz="840" b="1">
                <a:solidFill>
                  <a:srgbClr val="E07A3F"/>
                </a:solidFill>
                <a:latin typeface="Segoe UI"/>
              </a:rPr>
              <a:t>Reproduce everything:  </a:t>
            </a:r>
            <a:r>
              <a:rPr sz="819" b="0">
                <a:solidFill>
                  <a:srgbClr val="FFFFFF"/>
                </a:solidFill>
                <a:latin typeface="Consolas"/>
              </a:rPr>
              <a:t>make experiments  ·  python evaluation/run_rag_eval.py  ·  pytest</a:t>
            </a:r>
          </a:p>
        </p:txBody>
      </p:sp>
      <p:sp>
        <p:nvSpPr>
          <p:cNvPr id="45" name="TextBox 44"/>
          <p:cNvSpPr txBox="1"/>
          <p:nvPr/>
        </p:nvSpPr>
        <p:spPr>
          <a:xfrm>
            <a:off x="658368" y="6473952"/>
            <a:ext cx="10881360" cy="274320"/>
          </a:xfrm>
          <a:prstGeom prst="rect">
            <a:avLst/>
          </a:prstGeom>
          <a:noFill/>
        </p:spPr>
        <p:txBody>
          <a:bodyPr wrap="square" lIns="0" rIns="0" tIns="0" bIns="0" anchor="t">
            <a:spAutoFit/>
          </a:bodyPr>
          <a:lstStyle/>
          <a:p>
            <a:pPr algn="l">
              <a:lnSpc>
                <a:spcPct val="100000"/>
              </a:lnSpc>
              <a:spcAft>
                <a:spcPts val="0"/>
              </a:spcAft>
            </a:pPr>
            <a:r>
              <a:rPr sz="750" b="0">
                <a:solidFill>
                  <a:srgbClr val="6B7492"/>
                </a:solidFill>
                <a:latin typeface="Segoe UI"/>
              </a:rPr>
              <a:t>338 tests passing · 10/10 deployment checks · ruff, mypy, tsc and eslint clean · every figure above regenerated from a script in the repository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